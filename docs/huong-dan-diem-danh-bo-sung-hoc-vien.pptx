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d2414092-2da7-be69-2d19-e79502af7a6b}">
          <p14:sldIdLst>
            <p14:sldId id="256"/>
          </p14:sldIdLst>
        </p14:section>
        <p14:section name="Các bước" id="{a300b51f-e848-46dd-eebe-4ee0361447ac}">
          <p14:sldIdLst>
            <p14:sldId id="257"/>
            <p14:sldId id="258"/>
            <p14:sldId id="259"/>
            <p14:sldId id="260"/>
          </p14:sldIdLst>
        </p14:section>
        <p14:section name="Phòng tránh" id="{ebb241fa-fa03-54e0-d578-ce3d0b6e5eb4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Bộ hướng dẫn 3 bước: kiểm tra trạng thái, chuẩn bị minh chứng, gửi cho người hỗ trợ.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EU_D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Bồi dưỡng năng lực số · HCMUE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260604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I_DUNG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Bồi dưỡng năng lực số · HCMUE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T_THUC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Bồi dưỡng năng lực số · HCMUE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HƯỚNG DẪN DÀNH CHO HỌC VIÊN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Điểm danh bổ sung</a:t>
            </a:r>
            <a:endParaRPr lang="en-US" sz="4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548640" y="260604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Khi Thầy/Cô đã tham gia buổi học nhưng bị ghi vắng hoặc chưa có kết quả điểm danh</a:t>
            </a:r>
            <a:endParaRPr lang="en-US" sz="1800" dirty="0"/>
          </a:p>
        </p:txBody>
      </p:sp>
      <p:sp>
        <p:nvSpPr>
          <p:cNvPr id="5" name="Nhan Có mặt"/>
          <p:cNvSpPr/>
          <p:nvPr/>
        </p:nvSpPr>
        <p:spPr>
          <a:xfrm>
            <a:off x="548640" y="379476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37947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Có mặt</a:t>
            </a:r>
            <a:endParaRPr lang="en-US" sz="1400" dirty="0"/>
          </a:p>
        </p:txBody>
      </p:sp>
      <p:sp>
        <p:nvSpPr>
          <p:cNvPr id="7" name="Nhan Vắng có phép"/>
          <p:cNvSpPr/>
          <p:nvPr/>
        </p:nvSpPr>
        <p:spPr>
          <a:xfrm>
            <a:off x="2148840" y="379476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48840" y="37947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Vắng có phép</a:t>
            </a:r>
            <a:endParaRPr lang="en-US" sz="1400" dirty="0"/>
          </a:p>
        </p:txBody>
      </p:sp>
      <p:sp>
        <p:nvSpPr>
          <p:cNvPr id="9" name="Nhan Vắng"/>
          <p:cNvSpPr/>
          <p:nvPr/>
        </p:nvSpPr>
        <p:spPr>
          <a:xfrm>
            <a:off x="3749040" y="379476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37947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Vắng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Bước 1 – Kiểm tra trạng thái từng buổi</a:t>
            </a:r>
            <a:endParaRPr lang="en-US" sz="2800" dirty="0"/>
          </a:p>
        </p:txBody>
      </p:sp>
      <p:sp>
        <p:nvSpPr>
          <p:cNvPr id="3" name="So 1"/>
          <p:cNvSpPr/>
          <p:nvPr/>
        </p:nvSpPr>
        <p:spPr>
          <a:xfrm>
            <a:off x="457200" y="118872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152144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Đăng nhập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cổng học viên</a:t>
            </a:r>
            <a:endParaRPr lang="en-US" sz="1500" dirty="0"/>
          </a:p>
        </p:txBody>
      </p:sp>
      <p:sp>
        <p:nvSpPr>
          <p:cNvPr id="6" name="So 2"/>
          <p:cNvSpPr/>
          <p:nvPr/>
        </p:nvSpPr>
        <p:spPr>
          <a:xfrm>
            <a:off x="457200" y="184708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810512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Mở mục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Thông tin lớp học</a:t>
            </a:r>
            <a:endParaRPr lang="en-US" sz="1500" dirty="0"/>
          </a:p>
        </p:txBody>
      </p:sp>
      <p:sp>
        <p:nvSpPr>
          <p:cNvPr id="9" name="So 3"/>
          <p:cNvSpPr/>
          <p:nvPr/>
        </p:nvSpPr>
        <p:spPr>
          <a:xfrm>
            <a:off x="457200" y="250545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505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468880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Xem nhãn dưới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từng buổi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đã học</a:t>
            </a:r>
            <a:endParaRPr lang="en-US" sz="1500" dirty="0"/>
          </a:p>
        </p:txBody>
      </p:sp>
      <p:sp>
        <p:nvSpPr>
          <p:cNvPr id="12" name="So 4"/>
          <p:cNvSpPr/>
          <p:nvPr/>
        </p:nvSpPr>
        <p:spPr>
          <a:xfrm>
            <a:off x="457200" y="316382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163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127248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Buổi bị sai → làm tiếp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Bước 2</a:t>
            </a:r>
            <a:endParaRPr lang="en-US" sz="1500" dirty="0"/>
          </a:p>
        </p:txBody>
      </p:sp>
      <p:sp>
        <p:nvSpPr>
          <p:cNvPr id="15" name="Bang nhan"/>
          <p:cNvSpPr/>
          <p:nvPr/>
        </p:nvSpPr>
        <p:spPr>
          <a:xfrm>
            <a:off x="4663440" y="1097280"/>
            <a:ext cx="40233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1207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Ý nghĩa nhãn</a:t>
            </a:r>
            <a:endParaRPr lang="en-US" sz="1600" dirty="0"/>
          </a:p>
        </p:txBody>
      </p:sp>
      <p:sp>
        <p:nvSpPr>
          <p:cNvPr id="17" name="Nhan Có mặt"/>
          <p:cNvSpPr/>
          <p:nvPr/>
        </p:nvSpPr>
        <p:spPr>
          <a:xfrm>
            <a:off x="4846320" y="1691640"/>
            <a:ext cx="132588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2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0" y="169164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Có mặt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600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Đã được ghi nhận – không cần làm gì</a:t>
            </a:r>
            <a:endParaRPr lang="en-US" sz="1300" dirty="0"/>
          </a:p>
        </p:txBody>
      </p:sp>
      <p:sp>
        <p:nvSpPr>
          <p:cNvPr id="20" name="Nhan Vắng có phép"/>
          <p:cNvSpPr/>
          <p:nvPr/>
        </p:nvSpPr>
        <p:spPr>
          <a:xfrm>
            <a:off x="4846320" y="2377440"/>
            <a:ext cx="1325880" cy="310896"/>
          </a:xfrm>
          <a:prstGeom prst="roundRect">
            <a:avLst>
              <a:gd name="adj" fmla="val 50000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237744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Vắng có phép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22860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Vắng có lý do đã được chấp nhận</a:t>
            </a:r>
            <a:endParaRPr lang="en-US" sz="1300" dirty="0"/>
          </a:p>
        </p:txBody>
      </p:sp>
      <p:sp>
        <p:nvSpPr>
          <p:cNvPr id="23" name="Nhan Vắng"/>
          <p:cNvSpPr/>
          <p:nvPr/>
        </p:nvSpPr>
        <p:spPr>
          <a:xfrm>
            <a:off x="4846320" y="3063240"/>
            <a:ext cx="132588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22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46320" y="306324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Vắng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Đã học thực tế → đề nghị bổ sung</a:t>
            </a:r>
            <a:endParaRPr lang="en-US" sz="1300" dirty="0"/>
          </a:p>
        </p:txBody>
      </p:sp>
      <p:sp>
        <p:nvSpPr>
          <p:cNvPr id="26" name="Nhan (không nhãn)"/>
          <p:cNvSpPr/>
          <p:nvPr/>
        </p:nvSpPr>
        <p:spPr>
          <a:xfrm>
            <a:off x="4846320" y="3749040"/>
            <a:ext cx="1325880" cy="310896"/>
          </a:xfrm>
          <a:prstGeom prst="roundRect">
            <a:avLst>
              <a:gd name="adj" fmla="val 50000"/>
            </a:avLst>
          </a:prstGeom>
          <a:solidFill>
            <a:schemeClr val="accent5">
              <a:alpha val="2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46320" y="374904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(không nhãn)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309360" y="36576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Chưa có kết quả – buổi chưa được nhập điểm danh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Khi nào nên đề nghị điểm danh bổ sung?</a:t>
            </a:r>
            <a:endParaRPr lang="en-US" sz="2800" dirty="0"/>
          </a:p>
        </p:txBody>
      </p:sp>
      <p:sp>
        <p:nvSpPr>
          <p:cNvPr id="3" name="✓  Được xem xét"/>
          <p:cNvSpPr/>
          <p:nvPr/>
        </p:nvSpPr>
        <p:spPr>
          <a:xfrm>
            <a:off x="457200" y="1097280"/>
            <a:ext cx="39776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07008"/>
            <a:ext cx="3703320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  Được xem xét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Đã học Zoom nhưng quên bấm “Điểm danh &amp; vào Zoom”, hoặc bấm sau giờ đóng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Vào Zoom bằng link khác, hoặc ở lại phòng từ buổi trước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Lớp trực tiếp: ký tên thiếu hoặc ký muộn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Vắng có lý do chính đáng → đề nghị “Vắng có phép”</a:t>
            </a:r>
            <a:endParaRPr lang="en-US" sz="1600" dirty="0"/>
          </a:p>
        </p:txBody>
      </p:sp>
      <p:sp>
        <p:nvSpPr>
          <p:cNvPr id="5" name="✕  Không cần / không được"/>
          <p:cNvSpPr/>
          <p:nvPr/>
        </p:nvSpPr>
        <p:spPr>
          <a:xfrm>
            <a:off x="4709160" y="1097280"/>
            <a:ext cx="39776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46320" y="1207008"/>
            <a:ext cx="3703320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✕  Không cần / không được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Buổi đã hiện “Có mặt” (kể cả đã có mặt ở lớp cũ)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Buổi chưa diễn ra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Không có minh chứng đã tham gia hoặc lý do vắng</a:t>
            </a:r>
            <a:endParaRPr lang="en-US" sz="1600" dirty="0"/>
          </a:p>
        </p:txBody>
      </p:sp>
      <p:sp>
        <p:nvSpPr>
          <p:cNvPr id="7" name="Goi y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37947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Chưa chắc buổi của mình thuộc trường hợp nào?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Cứ hỏi người hỗ trợ lớp/cụm – họ tra được từng buổi.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Bước 2 – Chuẩn bị thông tin và minh chứng</a:t>
            </a:r>
            <a:endParaRPr lang="en-US" sz="2800" dirty="0"/>
          </a:p>
        </p:txBody>
      </p:sp>
      <p:sp>
        <p:nvSpPr>
          <p:cNvPr id="3" name="Thông tin buổi học"/>
          <p:cNvSpPr/>
          <p:nvPr/>
        </p:nvSpPr>
        <p:spPr>
          <a:xfrm>
            <a:off x="457200" y="1097280"/>
            <a:ext cx="39776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07008"/>
            <a:ext cx="370332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Thông tin buổi học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Họ tên, mã MOET, trường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Lớp · giai đoạn · buổi số · ngày học</a:t>
            </a:r>
            <a:endParaRPr lang="en-US" sz="1600" dirty="0"/>
          </a:p>
        </p:txBody>
      </p:sp>
      <p:sp>
        <p:nvSpPr>
          <p:cNvPr id="5" name="Minh chứng (ảnh)"/>
          <p:cNvSpPr/>
          <p:nvPr/>
        </p:nvSpPr>
        <p:spPr>
          <a:xfrm>
            <a:off x="457200" y="2788920"/>
            <a:ext cx="397764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2898648"/>
            <a:ext cx="370332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Minh chứng (ảnh)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Ảnh màn hình Zoom thấy tên + giờ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Ảnh danh sách ký tên / xác nhận của giảng viên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Giấy tờ lý do (nếu xin vắng có phép)</a:t>
            </a:r>
            <a:endParaRPr lang="en-US" sz="1600" dirty="0"/>
          </a:p>
        </p:txBody>
      </p:sp>
      <p:sp>
        <p:nvSpPr>
          <p:cNvPr id="7" name="Tin nhan mau"/>
          <p:cNvSpPr/>
          <p:nvPr/>
        </p:nvSpPr>
        <p:spPr>
          <a:xfrm>
            <a:off x="4709160" y="1097280"/>
            <a:ext cx="3977640" cy="3383280"/>
          </a:xfrm>
          <a:prstGeom prst="roundRect">
            <a:avLst>
              <a:gd name="adj" fmla="val 2162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207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Tin nhắn mẫu gửi người hỗ trợ</a:t>
            </a:r>
            <a:endParaRPr lang="en-US" sz="1400" dirty="0"/>
          </a:p>
        </p:txBody>
      </p:sp>
      <p:sp>
        <p:nvSpPr>
          <p:cNvPr id="9" name="Bong bong tin nhan"/>
          <p:cNvSpPr/>
          <p:nvPr/>
        </p:nvSpPr>
        <p:spPr>
          <a:xfrm>
            <a:off x="4892040" y="1645920"/>
            <a:ext cx="3611880" cy="265176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74920" y="178308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Em là Nguyễn Văn A, mã MOET 79xxxxxx, trường THCS …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Lớp … – GĐ 2 – Buổi 3 – ngày 15/10.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Em đã tham gia nhưng bị ghi vắng, nhờ Thầy/Cô điểm danh bổ sung.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Minh chứng: ảnh Zoom đính kèm.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Bước 3 – Gửi cho người hỗ trợ và theo dõi</a:t>
            </a:r>
            <a:endParaRPr lang="en-US" sz="2800" dirty="0"/>
          </a:p>
        </p:txBody>
      </p:sp>
      <p:sp>
        <p:nvSpPr>
          <p:cNvPr id="3" name="Buoc 1"/>
          <p:cNvSpPr/>
          <p:nvPr/>
        </p:nvSpPr>
        <p:spPr>
          <a:xfrm>
            <a:off x="457200" y="1188720"/>
            <a:ext cx="1920240" cy="23317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So 1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28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Gửi qua Zalo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286000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Nhóm lớp/cụm hoặc người hỗ trợ – gửi kèm ảnh</a:t>
            </a:r>
            <a:endParaRPr lang="en-US" sz="1300" dirty="0"/>
          </a:p>
        </p:txBody>
      </p:sp>
      <p:sp>
        <p:nvSpPr>
          <p:cNvPr id="8" name="Buoc 2"/>
          <p:cNvSpPr/>
          <p:nvPr/>
        </p:nvSpPr>
        <p:spPr>
          <a:xfrm>
            <a:off x="2560320" y="1188720"/>
            <a:ext cx="1920240" cy="23317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9" name="So 2"/>
          <p:cNvSpPr/>
          <p:nvPr/>
        </p:nvSpPr>
        <p:spPr>
          <a:xfrm>
            <a:off x="2697480" y="13258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9748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1828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Hoặc trên cổng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286000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Mục Hỗ trợ → “Vấn đề khác”; mô tả rõ buổi (mục này không đính kèm ảnh)</a:t>
            </a:r>
            <a:endParaRPr lang="en-US" sz="1300" dirty="0"/>
          </a:p>
        </p:txBody>
      </p:sp>
      <p:sp>
        <p:nvSpPr>
          <p:cNvPr id="13" name="Buoc 3"/>
          <p:cNvSpPr/>
          <p:nvPr/>
        </p:nvSpPr>
        <p:spPr>
          <a:xfrm>
            <a:off x="4663440" y="1188720"/>
            <a:ext cx="1920240" cy="23317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4" name="So 3"/>
          <p:cNvSpPr/>
          <p:nvPr/>
        </p:nvSpPr>
        <p:spPr>
          <a:xfrm>
            <a:off x="4800600" y="13258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828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Hỗ trợ kiểm tra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2286000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Đối chiếu minh chứng, cập nhật “Có mặt” hoặc “Vắng có phép”</a:t>
            </a:r>
            <a:endParaRPr lang="en-US" sz="1300" dirty="0"/>
          </a:p>
        </p:txBody>
      </p:sp>
      <p:sp>
        <p:nvSpPr>
          <p:cNvPr id="18" name="Buoc 4"/>
          <p:cNvSpPr/>
          <p:nvPr/>
        </p:nvSpPr>
        <p:spPr>
          <a:xfrm>
            <a:off x="6766560" y="1188720"/>
            <a:ext cx="1920240" cy="233172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9" name="So 4"/>
          <p:cNvSpPr/>
          <p:nvPr/>
        </p:nvSpPr>
        <p:spPr>
          <a:xfrm>
            <a:off x="6903720" y="132588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037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1828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Xem lại kết quả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286000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Mở Thông tin lớp học – nhãn của buổi đã đổi</a:t>
            </a:r>
            <a:endParaRPr lang="en-US" sz="1300" dirty="0"/>
          </a:p>
        </p:txBody>
      </p:sp>
      <p:sp>
        <p:nvSpPr>
          <p:cNvPr id="23" name="Luu y thoi gian"/>
          <p:cNvSpPr/>
          <p:nvPr/>
        </p:nvSpPr>
        <p:spPr>
          <a:xfrm>
            <a:off x="457200" y="374904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Không giới hạn thời gian đề nghị,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nhưng nên gửi sớm (trong tuần học) để người hỗ trợ dễ đối chiếu với giảng viên.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Để không phải bổ sung lần sau</a:t>
            </a:r>
            <a:endParaRPr lang="en-US" sz="2800" dirty="0"/>
          </a:p>
        </p:txBody>
      </p:sp>
      <p:sp>
        <p:nvSpPr>
          <p:cNvPr id="3" name="So 1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7043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Bấm đúng nút, đúng buổi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6002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Mỗi buổi Zoom bấm “Điểm danh &amp; vào Zoom” của chính buổi đó, trong khung giờ mở điểm danh</a:t>
            </a:r>
            <a:endParaRPr lang="en-US" sz="1400" dirty="0"/>
          </a:p>
        </p:txBody>
      </p:sp>
      <p:sp>
        <p:nvSpPr>
          <p:cNvPr id="7" name="So 2"/>
          <p:cNvSpPr/>
          <p:nvPr/>
        </p:nvSpPr>
        <p:spPr>
          <a:xfrm>
            <a:off x="4663440" y="118872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6344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17043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Không dùng link khác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6002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Vào bằng link khác hoặc ở lại phòng từ buổi trước sẽ không được ghi nhận</a:t>
            </a:r>
            <a:endParaRPr lang="en-US" sz="1400" dirty="0"/>
          </a:p>
        </p:txBody>
      </p:sp>
      <p:sp>
        <p:nvSpPr>
          <p:cNvPr id="11" name="So 3"/>
          <p:cNvSpPr/>
          <p:nvPr/>
        </p:nvSpPr>
        <p:spPr>
          <a:xfrm>
            <a:off x="457200" y="288036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86207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Lớp trực tiếp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Ký tên đầy đủ vào danh sách khi đến lớp</a:t>
            </a:r>
            <a:endParaRPr lang="en-US" sz="1400" dirty="0"/>
          </a:p>
        </p:txBody>
      </p:sp>
      <p:sp>
        <p:nvSpPr>
          <p:cNvPr id="15" name="So 4"/>
          <p:cNvSpPr/>
          <p:nvPr/>
        </p:nvSpPr>
        <p:spPr>
          <a:xfrm>
            <a:off x="4663440" y="288036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6344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86207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Biết trước sẽ vắng?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2918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Báo người hỗ trợ trước buổi học, hoặc đề nghị đổi buổi nếu khóa có mở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em danh bo sung">
  <a:themeElements>
    <a:clrScheme name="Diem danh bo sung">
      <a:dk1>
        <a:srgbClr val="1B2A2F"/>
      </a:dk1>
      <a:lt1>
        <a:srgbClr val="FFFFFF"/>
      </a:lt1>
      <a:dk2>
        <a:srgbClr val="0F4C5C"/>
      </a:dk2>
      <a:lt2>
        <a:srgbClr val="EAF3F3"/>
      </a:lt2>
      <a:accent1>
        <a:srgbClr val="1F8A70"/>
      </a:accent1>
      <a:accent2>
        <a:srgbClr val="D9922E"/>
      </a:accent2>
      <a:accent3>
        <a:srgbClr val="C8473C"/>
      </a:accent3>
      <a:accent4>
        <a:srgbClr val="0F4C5C"/>
      </a:accent4>
      <a:accent5>
        <a:srgbClr val="5B7C85"/>
      </a:accent5>
      <a:accent6>
        <a:srgbClr val="9DC9C0"/>
      </a:accent6>
      <a:hlink>
        <a:srgbClr val="1F6F8B"/>
      </a:hlink>
      <a:folHlink>
        <a:srgbClr val="5B7C85"/>
      </a:folHlink>
    </a:clrScheme>
    <a:fontScheme name="Diem danh bo su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Điểm danh bổ sung – Hướng dẫn học viên</dc:title>
  <dc:subject>PptxGenJS Presentation</dc:subject>
  <dc:creator>HCMUE</dc:creator>
  <cp:lastModifiedBy>HCMUE</cp:lastModifiedBy>
  <cp:revision>1</cp:revision>
  <dcterms:created xsi:type="dcterms:W3CDTF">2026-10-19T07:02:55Z</dcterms:created>
  <dcterms:modified xsi:type="dcterms:W3CDTF">2026-10-19T07:02:55Z</dcterms:modified>
</cp:coreProperties>
</file>