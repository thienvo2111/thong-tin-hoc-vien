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55928b9-579a-6a03-3cfb-96287cff8bbf}">
          <p14:sldIdLst>
            <p14:sldId id="256"/>
          </p14:sldIdLst>
        </p14:section>
        <p14:section name="Kiểm tra" id="{05e6acf1-97f6-a52a-1432-22e24c61f39d}">
          <p14:sldIdLst>
            <p14:sldId id="257"/>
            <p14:sldId id="258"/>
          </p14:sldIdLst>
        </p14:section>
        <p14:section name="Gửi minh chứng" id="{b846cd29-05b0-4941-620c-b285ee32f0cc}">
          <p14:sldIdLst>
            <p14:sldId id="259"/>
            <p14:sldId id="260"/>
            <p14:sldId id="261"/>
            <p14:sldId id="262"/>
          </p14:sldIdLst>
        </p14:section>
        <p14:section name="Kết quả" id="{9fcd1b88-f1c6-456d-6484-9cc8e26eb97f}">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bước: kiểm tra trạng thái, chuẩn bị minh chứng, gửi cho người hỗ trợ (Zalo hoặc mục Hỗ trợ kèm link Google Drive), xem lại kết quả. Ảnh minh họa dùng dữ liệu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EU_DE">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Bồi dưỡng năng lực số · HCMUE</a:t>
            </a:r>
            <a:endParaRPr lang="en-US" sz="1100" dirty="0"/>
          </a:p>
        </p:txBody>
      </p:sp>
      <p:sp>
        <p:nvSpPr>
          <p:cNvPr id="3" name="Text 1"/>
          <p:cNvSpPr/>
          <p:nvPr>
            <p:ph idx="101" type="body" hasCustomPrompt="1"/>
          </p:nvPr>
        </p:nvSpPr>
        <p:spPr>
          <a:xfrm>
            <a:off x="548640" y="1097280"/>
            <a:ext cx="8046720" cy="36576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4" name="Text 1"/>
          <p:cNvSpPr/>
          <p:nvPr>
            <p:ph idx="102" type="title" hasCustomPrompt="1"/>
          </p:nvPr>
        </p:nvSpPr>
        <p:spPr>
          <a:xfrm>
            <a:off x="548640" y="1508760"/>
            <a:ext cx="804672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1"/>
          <p:cNvSpPr/>
          <p:nvPr>
            <p:ph idx="103" type="body" hasCustomPrompt="1"/>
          </p:nvPr>
        </p:nvSpPr>
        <p:spPr>
          <a:xfrm>
            <a:off x="548640" y="2606040"/>
            <a:ext cx="694944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_DUNG">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Bồi dưỡng năng lực số · HCMUE</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T_THUC">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Bồi dưỡng năng lực số · HCMUE</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1097280"/>
            <a:ext cx="8046720" cy="365760"/>
          </a:xfrm>
          <a:prstGeom prst="rect">
            <a:avLst/>
          </a:prstGeom>
          <a:noFill/>
          <a:ln/>
        </p:spPr>
        <p:txBody>
          <a:bodyPr wrap="square" lIns="0" tIns="0" rIns="0" bIns="0" rtlCol="0"/>
          <a:lstStyle/>
          <a:p>
            <a:pPr indent="0" marL="0">
              <a:buNone/>
            </a:pPr>
            <a:r>
              <a:rPr lang="en-US" sz="1400" b="1" dirty="0">
                <a:solidFill>
                  <a:schemeClr val="accent6"/>
                </a:solidFill>
              </a:rPr>
              <a:t>HƯỚNG DẪN DÀNH CHO HỌC VIÊN</a:t>
            </a:r>
            <a:endParaRPr lang="en-US" sz="1400" dirty="0"/>
          </a:p>
        </p:txBody>
      </p:sp>
      <p:sp>
        <p:nvSpPr>
          <p:cNvPr id="3" name="Text 1"/>
          <p:cNvSpPr/>
          <p:nvPr>
            <p:ph idx="102" type="title" hasCustomPrompt="1"/>
          </p:nvPr>
        </p:nvSpPr>
        <p:spPr>
          <a:xfrm>
            <a:off x="548640" y="1508760"/>
            <a:ext cx="8046720" cy="1005840"/>
          </a:xfrm>
          <a:prstGeom prst="rect">
            <a:avLst/>
          </a:prstGeom>
          <a:noFill/>
          <a:ln/>
        </p:spPr>
        <p:txBody>
          <a:bodyPr wrap="square" lIns="0" tIns="0" rIns="0" bIns="0" rtlCol="0" anchor="t"/>
          <a:lstStyle/>
          <a:p>
            <a:pPr algn="l" indent="0" marL="0">
              <a:buNone/>
            </a:pPr>
            <a:r>
              <a:rPr lang="en-US" sz="4400" b="1" dirty="0">
                <a:solidFill>
                  <a:schemeClr val="bg1"/>
                </a:solidFill>
              </a:rPr>
              <a:t>Điểm danh bổ sung</a:t>
            </a:r>
            <a:endParaRPr lang="en-US" sz="4400" dirty="0"/>
          </a:p>
        </p:txBody>
      </p:sp>
      <p:sp>
        <p:nvSpPr>
          <p:cNvPr id="4" name="Text 1"/>
          <p:cNvSpPr/>
          <p:nvPr>
            <p:ph idx="103" type="body" hasCustomPrompt="1"/>
          </p:nvPr>
        </p:nvSpPr>
        <p:spPr>
          <a:xfrm>
            <a:off x="548640" y="2606040"/>
            <a:ext cx="6949440" cy="914400"/>
          </a:xfrm>
          <a:prstGeom prst="rect">
            <a:avLst/>
          </a:prstGeom>
          <a:noFill/>
          <a:ln/>
        </p:spPr>
        <p:txBody>
          <a:bodyPr wrap="square" lIns="0" tIns="0" rIns="0" bIns="0" rtlCol="0" anchor="t"/>
          <a:lstStyle/>
          <a:p>
            <a:pPr indent="0" marL="0">
              <a:buNone/>
            </a:pPr>
            <a:r>
              <a:rPr lang="en-US" sz="1800" dirty="0">
                <a:solidFill>
                  <a:schemeClr val="bg2"/>
                </a:solidFill>
              </a:rPr>
              <a:t>Khi Thầy/Cô đã tham gia buổi học nhưng bị ghi vắng hoặc chưa có kết quả điểm danh</a:t>
            </a:r>
            <a:endParaRPr lang="en-US" sz="1800" dirty="0"/>
          </a:p>
        </p:txBody>
      </p:sp>
      <p:sp>
        <p:nvSpPr>
          <p:cNvPr id="5" name="Nhan Có mặt"/>
          <p:cNvSpPr/>
          <p:nvPr/>
        </p:nvSpPr>
        <p:spPr>
          <a:xfrm>
            <a:off x="548640" y="3794760"/>
            <a:ext cx="1463040" cy="384048"/>
          </a:xfrm>
          <a:prstGeom prst="roundRect">
            <a:avLst>
              <a:gd name="adj" fmla="val 50000"/>
            </a:avLst>
          </a:prstGeom>
          <a:solidFill>
            <a:schemeClr val="accent1"/>
          </a:solidFill>
          <a:ln/>
        </p:spPr>
      </p:sp>
      <p:sp>
        <p:nvSpPr>
          <p:cNvPr id="6" name="Text 4"/>
          <p:cNvSpPr txBox="1"/>
          <p:nvPr/>
        </p:nvSpPr>
        <p:spPr>
          <a:xfrm>
            <a:off x="548640" y="3794760"/>
            <a:ext cx="1463040" cy="384048"/>
          </a:xfrm>
          <a:prstGeom prst="rect">
            <a:avLst/>
          </a:prstGeom>
          <a:noFill/>
          <a:ln/>
        </p:spPr>
        <p:txBody>
          <a:bodyPr wrap="square" lIns="0" tIns="0" rIns="0" bIns="0" rtlCol="0" anchor="ctr"/>
          <a:lstStyle/>
          <a:p>
            <a:pPr algn="ctr" indent="0" marL="0">
              <a:buNone/>
            </a:pPr>
            <a:r>
              <a:rPr lang="en-US" sz="1400" b="1" dirty="0">
                <a:solidFill>
                  <a:schemeClr val="bg1"/>
                </a:solidFill>
              </a:rPr>
              <a:t>Có mặt</a:t>
            </a:r>
            <a:endParaRPr lang="en-US" sz="1400" dirty="0"/>
          </a:p>
        </p:txBody>
      </p:sp>
      <p:sp>
        <p:nvSpPr>
          <p:cNvPr id="7" name="Nhan Vắng có phép"/>
          <p:cNvSpPr/>
          <p:nvPr/>
        </p:nvSpPr>
        <p:spPr>
          <a:xfrm>
            <a:off x="2148840" y="3794760"/>
            <a:ext cx="1463040" cy="384048"/>
          </a:xfrm>
          <a:prstGeom prst="roundRect">
            <a:avLst>
              <a:gd name="adj" fmla="val 50000"/>
            </a:avLst>
          </a:prstGeom>
          <a:solidFill>
            <a:schemeClr val="accent2"/>
          </a:solidFill>
          <a:ln/>
        </p:spPr>
      </p:sp>
      <p:sp>
        <p:nvSpPr>
          <p:cNvPr id="8" name="Text 6"/>
          <p:cNvSpPr txBox="1"/>
          <p:nvPr/>
        </p:nvSpPr>
        <p:spPr>
          <a:xfrm>
            <a:off x="2148840" y="3794760"/>
            <a:ext cx="1463040" cy="384048"/>
          </a:xfrm>
          <a:prstGeom prst="rect">
            <a:avLst/>
          </a:prstGeom>
          <a:noFill/>
          <a:ln/>
        </p:spPr>
        <p:txBody>
          <a:bodyPr wrap="square" lIns="0" tIns="0" rIns="0" bIns="0" rtlCol="0" anchor="ctr"/>
          <a:lstStyle/>
          <a:p>
            <a:pPr algn="ctr" indent="0" marL="0">
              <a:buNone/>
            </a:pPr>
            <a:r>
              <a:rPr lang="en-US" sz="1400" b="1" dirty="0">
                <a:solidFill>
                  <a:schemeClr val="bg1"/>
                </a:solidFill>
              </a:rPr>
              <a:t>Vắng có phép</a:t>
            </a:r>
            <a:endParaRPr lang="en-US" sz="1400" dirty="0"/>
          </a:p>
        </p:txBody>
      </p:sp>
      <p:sp>
        <p:nvSpPr>
          <p:cNvPr id="9" name="Nhan Vắng"/>
          <p:cNvSpPr/>
          <p:nvPr/>
        </p:nvSpPr>
        <p:spPr>
          <a:xfrm>
            <a:off x="3749040" y="3794760"/>
            <a:ext cx="1463040" cy="384048"/>
          </a:xfrm>
          <a:prstGeom prst="roundRect">
            <a:avLst>
              <a:gd name="adj" fmla="val 50000"/>
            </a:avLst>
          </a:prstGeom>
          <a:solidFill>
            <a:schemeClr val="accent3"/>
          </a:solidFill>
          <a:ln/>
        </p:spPr>
      </p:sp>
      <p:sp>
        <p:nvSpPr>
          <p:cNvPr id="10" name="Text 8"/>
          <p:cNvSpPr txBox="1"/>
          <p:nvPr/>
        </p:nvSpPr>
        <p:spPr>
          <a:xfrm>
            <a:off x="3749040" y="3794760"/>
            <a:ext cx="1463040" cy="384048"/>
          </a:xfrm>
          <a:prstGeom prst="rect">
            <a:avLst/>
          </a:prstGeom>
          <a:noFill/>
          <a:ln/>
        </p:spPr>
        <p:txBody>
          <a:bodyPr wrap="square" lIns="0" tIns="0" rIns="0" bIns="0" rtlCol="0" anchor="ctr"/>
          <a:lstStyle/>
          <a:p>
            <a:pPr algn="ctr" indent="0" marL="0">
              <a:buNone/>
            </a:pPr>
            <a:r>
              <a:rPr lang="en-US" sz="1400" b="1" dirty="0">
                <a:solidFill>
                  <a:schemeClr val="bg1"/>
                </a:solidFill>
              </a:rPr>
              <a:t>Vắng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Bước 1 – Kiểm tra trạng thái từng buổi</a:t>
            </a:r>
            <a:endParaRPr lang="en-US" sz="2800" dirty="0"/>
          </a:p>
        </p:txBody>
      </p:sp>
      <p:sp>
        <p:nvSpPr>
          <p:cNvPr id="3" name="So 1"/>
          <p:cNvSpPr/>
          <p:nvPr/>
        </p:nvSpPr>
        <p:spPr>
          <a:xfrm>
            <a:off x="457200" y="1143000"/>
            <a:ext cx="365760" cy="365760"/>
          </a:xfrm>
          <a:prstGeom prst="ellipse">
            <a:avLst/>
          </a:prstGeom>
          <a:solidFill>
            <a:schemeClr val="tx2"/>
          </a:solidFill>
          <a:ln/>
        </p:spPr>
      </p:sp>
      <p:sp>
        <p:nvSpPr>
          <p:cNvPr id="4" name="Text 2"/>
          <p:cNvSpPr txBox="1"/>
          <p:nvPr/>
        </p:nvSpPr>
        <p:spPr>
          <a:xfrm>
            <a:off x="457200" y="114300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960120" y="1106424"/>
            <a:ext cx="3520440" cy="475488"/>
          </a:xfrm>
          <a:prstGeom prst="rect">
            <a:avLst/>
          </a:prstGeom>
          <a:noFill/>
          <a:ln/>
        </p:spPr>
        <p:txBody>
          <a:bodyPr wrap="square" lIns="0" tIns="0" rIns="0" bIns="0" rtlCol="0" anchor="t"/>
          <a:lstStyle/>
          <a:p>
            <a:pPr indent="0" marL="0">
              <a:buNone/>
            </a:pPr>
            <a:r>
              <a:rPr lang="en-US" sz="1400" dirty="0">
                <a:solidFill>
                  <a:schemeClr val="tx1"/>
                </a:solidFill>
              </a:rPr>
              <a:t>Bấm menu </a:t>
            </a:r>
            <a:pPr indent="0" marL="0">
              <a:buNone/>
            </a:pPr>
            <a:r>
              <a:rPr lang="en-US" sz="1400" b="1" dirty="0">
                <a:solidFill>
                  <a:schemeClr val="tx1"/>
                </a:solidFill>
              </a:rPr>
              <a:t>☰</a:t>
            </a:r>
            <a:pPr indent="0" marL="0">
              <a:buNone/>
            </a:pPr>
            <a:r>
              <a:rPr lang="en-US" sz="1400" dirty="0">
                <a:solidFill>
                  <a:schemeClr val="tx1"/>
                </a:solidFill>
              </a:rPr>
              <a:t> (góc phải trên) → </a:t>
            </a:r>
            <a:pPr indent="0" marL="0">
              <a:buNone/>
            </a:pPr>
            <a:r>
              <a:rPr lang="en-US" sz="1400" b="1" dirty="0">
                <a:solidFill>
                  <a:schemeClr val="tx1"/>
                </a:solidFill>
              </a:rPr>
              <a:t>Lớp học</a:t>
            </a:r>
            <a:endParaRPr lang="en-US" sz="1400" dirty="0"/>
          </a:p>
        </p:txBody>
      </p:sp>
      <p:sp>
        <p:nvSpPr>
          <p:cNvPr id="6" name="So 2"/>
          <p:cNvSpPr/>
          <p:nvPr/>
        </p:nvSpPr>
        <p:spPr>
          <a:xfrm>
            <a:off x="457200" y="1673352"/>
            <a:ext cx="365760" cy="365760"/>
          </a:xfrm>
          <a:prstGeom prst="ellipse">
            <a:avLst/>
          </a:prstGeom>
          <a:solidFill>
            <a:schemeClr val="tx2"/>
          </a:solidFill>
          <a:ln/>
        </p:spPr>
      </p:sp>
      <p:sp>
        <p:nvSpPr>
          <p:cNvPr id="7" name="Text 5"/>
          <p:cNvSpPr txBox="1"/>
          <p:nvPr/>
        </p:nvSpPr>
        <p:spPr>
          <a:xfrm>
            <a:off x="457200" y="1673352"/>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960120" y="1636776"/>
            <a:ext cx="3520440" cy="475488"/>
          </a:xfrm>
          <a:prstGeom prst="rect">
            <a:avLst/>
          </a:prstGeom>
          <a:noFill/>
          <a:ln/>
        </p:spPr>
        <p:txBody>
          <a:bodyPr wrap="square" lIns="0" tIns="0" rIns="0" bIns="0" rtlCol="0" anchor="t"/>
          <a:lstStyle/>
          <a:p>
            <a:pPr indent="0" marL="0">
              <a:buNone/>
            </a:pPr>
            <a:r>
              <a:rPr lang="en-US" sz="1400" dirty="0">
                <a:solidFill>
                  <a:schemeClr val="tx1"/>
                </a:solidFill>
              </a:rPr>
              <a:t>Cuộn tới </a:t>
            </a:r>
            <a:pPr indent="0" marL="0">
              <a:buNone/>
            </a:pPr>
            <a:r>
              <a:rPr lang="en-US" sz="1400" b="1" dirty="0">
                <a:solidFill>
                  <a:schemeClr val="tx1"/>
                </a:solidFill>
              </a:rPr>
              <a:t>giai đoạn đang học</a:t>
            </a:r>
            <a:endParaRPr lang="en-US" sz="1400" dirty="0"/>
          </a:p>
        </p:txBody>
      </p:sp>
      <p:sp>
        <p:nvSpPr>
          <p:cNvPr id="9" name="So 3"/>
          <p:cNvSpPr/>
          <p:nvPr/>
        </p:nvSpPr>
        <p:spPr>
          <a:xfrm>
            <a:off x="457200" y="2203704"/>
            <a:ext cx="365760" cy="365760"/>
          </a:xfrm>
          <a:prstGeom prst="ellipse">
            <a:avLst/>
          </a:prstGeom>
          <a:solidFill>
            <a:schemeClr val="tx2"/>
          </a:solidFill>
          <a:ln/>
        </p:spPr>
      </p:sp>
      <p:sp>
        <p:nvSpPr>
          <p:cNvPr id="10" name="Text 8"/>
          <p:cNvSpPr txBox="1"/>
          <p:nvPr/>
        </p:nvSpPr>
        <p:spPr>
          <a:xfrm>
            <a:off x="457200" y="2203704"/>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960120" y="2167128"/>
            <a:ext cx="3520440" cy="475488"/>
          </a:xfrm>
          <a:prstGeom prst="rect">
            <a:avLst/>
          </a:prstGeom>
          <a:noFill/>
          <a:ln/>
        </p:spPr>
        <p:txBody>
          <a:bodyPr wrap="square" lIns="0" tIns="0" rIns="0" bIns="0" rtlCol="0" anchor="t"/>
          <a:lstStyle/>
          <a:p>
            <a:pPr indent="0" marL="0">
              <a:buNone/>
            </a:pPr>
            <a:r>
              <a:rPr lang="en-US" sz="1400" dirty="0">
                <a:solidFill>
                  <a:schemeClr val="tx1"/>
                </a:solidFill>
              </a:rPr>
              <a:t>Xem </a:t>
            </a:r>
            <a:pPr indent="0" marL="0">
              <a:buNone/>
            </a:pPr>
            <a:r>
              <a:rPr lang="en-US" sz="1400" b="1" dirty="0">
                <a:solidFill>
                  <a:schemeClr val="tx1"/>
                </a:solidFill>
              </a:rPr>
              <a:t>nhãn cạnh số buổi</a:t>
            </a:r>
            <a:endParaRPr lang="en-US" sz="1400" dirty="0"/>
          </a:p>
        </p:txBody>
      </p:sp>
      <p:sp>
        <p:nvSpPr>
          <p:cNvPr id="12" name="Nhan Có mặt"/>
          <p:cNvSpPr/>
          <p:nvPr/>
        </p:nvSpPr>
        <p:spPr>
          <a:xfrm>
            <a:off x="457200" y="2880360"/>
            <a:ext cx="1234440" cy="292608"/>
          </a:xfrm>
          <a:prstGeom prst="roundRect">
            <a:avLst>
              <a:gd name="adj" fmla="val 50000"/>
            </a:avLst>
          </a:prstGeom>
          <a:solidFill>
            <a:schemeClr val="accent1">
              <a:alpha val="22000"/>
            </a:schemeClr>
          </a:solidFill>
          <a:ln w="12700">
            <a:solidFill>
              <a:schemeClr val="accent1"/>
            </a:solidFill>
            <a:prstDash val="solid"/>
          </a:ln>
        </p:spPr>
      </p:sp>
      <p:sp>
        <p:nvSpPr>
          <p:cNvPr id="13" name="Text 11"/>
          <p:cNvSpPr txBox="1"/>
          <p:nvPr/>
        </p:nvSpPr>
        <p:spPr>
          <a:xfrm>
            <a:off x="457200" y="2880360"/>
            <a:ext cx="1234440" cy="292608"/>
          </a:xfrm>
          <a:prstGeom prst="rect">
            <a:avLst/>
          </a:prstGeom>
          <a:noFill/>
          <a:ln/>
        </p:spPr>
        <p:txBody>
          <a:bodyPr wrap="square" lIns="0" tIns="0" rIns="0" bIns="0" rtlCol="0" anchor="ctr"/>
          <a:lstStyle/>
          <a:p>
            <a:pPr algn="ctr" indent="0" marL="0">
              <a:buNone/>
            </a:pPr>
            <a:r>
              <a:rPr lang="en-US" sz="1200" b="1" dirty="0">
                <a:solidFill>
                  <a:schemeClr val="accent1"/>
                </a:solidFill>
              </a:rPr>
              <a:t>Có mặt</a:t>
            </a:r>
            <a:endParaRPr lang="en-US" sz="1200" dirty="0"/>
          </a:p>
        </p:txBody>
      </p:sp>
      <p:sp>
        <p:nvSpPr>
          <p:cNvPr id="14" name="Text 12"/>
          <p:cNvSpPr txBox="1"/>
          <p:nvPr/>
        </p:nvSpPr>
        <p:spPr>
          <a:xfrm>
            <a:off x="1828800" y="2843784"/>
            <a:ext cx="2651760" cy="365760"/>
          </a:xfrm>
          <a:prstGeom prst="rect">
            <a:avLst/>
          </a:prstGeom>
          <a:noFill/>
          <a:ln/>
        </p:spPr>
        <p:txBody>
          <a:bodyPr wrap="square" lIns="0" tIns="0" rIns="0" bIns="0" rtlCol="0" anchor="ctr"/>
          <a:lstStyle/>
          <a:p>
            <a:pPr indent="0" marL="0">
              <a:buNone/>
            </a:pPr>
            <a:r>
              <a:rPr lang="en-US" sz="1300" dirty="0">
                <a:solidFill>
                  <a:schemeClr val="tx1"/>
                </a:solidFill>
              </a:rPr>
              <a:t>Đã ghi nhận</a:t>
            </a:r>
            <a:endParaRPr lang="en-US" sz="1300" dirty="0"/>
          </a:p>
        </p:txBody>
      </p:sp>
      <p:sp>
        <p:nvSpPr>
          <p:cNvPr id="15" name="Nhan Vắng"/>
          <p:cNvSpPr/>
          <p:nvPr/>
        </p:nvSpPr>
        <p:spPr>
          <a:xfrm>
            <a:off x="457200" y="3291840"/>
            <a:ext cx="1234440" cy="292608"/>
          </a:xfrm>
          <a:prstGeom prst="roundRect">
            <a:avLst>
              <a:gd name="adj" fmla="val 50000"/>
            </a:avLst>
          </a:prstGeom>
          <a:solidFill>
            <a:schemeClr val="accent3">
              <a:alpha val="22000"/>
            </a:schemeClr>
          </a:solidFill>
          <a:ln w="12700">
            <a:solidFill>
              <a:schemeClr val="accent3"/>
            </a:solidFill>
            <a:prstDash val="solid"/>
          </a:ln>
        </p:spPr>
      </p:sp>
      <p:sp>
        <p:nvSpPr>
          <p:cNvPr id="16" name="Text 14"/>
          <p:cNvSpPr txBox="1"/>
          <p:nvPr/>
        </p:nvSpPr>
        <p:spPr>
          <a:xfrm>
            <a:off x="457200" y="3291840"/>
            <a:ext cx="1234440" cy="292608"/>
          </a:xfrm>
          <a:prstGeom prst="rect">
            <a:avLst/>
          </a:prstGeom>
          <a:noFill/>
          <a:ln/>
        </p:spPr>
        <p:txBody>
          <a:bodyPr wrap="square" lIns="0" tIns="0" rIns="0" bIns="0" rtlCol="0" anchor="ctr"/>
          <a:lstStyle/>
          <a:p>
            <a:pPr algn="ctr" indent="0" marL="0">
              <a:buNone/>
            </a:pPr>
            <a:r>
              <a:rPr lang="en-US" sz="1200" b="1" dirty="0">
                <a:solidFill>
                  <a:schemeClr val="accent3"/>
                </a:solidFill>
              </a:rPr>
              <a:t>Vắng</a:t>
            </a:r>
            <a:endParaRPr lang="en-US" sz="1200" dirty="0"/>
          </a:p>
        </p:txBody>
      </p:sp>
      <p:sp>
        <p:nvSpPr>
          <p:cNvPr id="17" name="Text 15"/>
          <p:cNvSpPr txBox="1"/>
          <p:nvPr/>
        </p:nvSpPr>
        <p:spPr>
          <a:xfrm>
            <a:off x="1828800" y="3255264"/>
            <a:ext cx="2651760" cy="365760"/>
          </a:xfrm>
          <a:prstGeom prst="rect">
            <a:avLst/>
          </a:prstGeom>
          <a:noFill/>
          <a:ln/>
        </p:spPr>
        <p:txBody>
          <a:bodyPr wrap="square" lIns="0" tIns="0" rIns="0" bIns="0" rtlCol="0" anchor="ctr"/>
          <a:lstStyle/>
          <a:p>
            <a:pPr indent="0" marL="0">
              <a:buNone/>
            </a:pPr>
            <a:r>
              <a:rPr lang="en-US" sz="1300" dirty="0">
                <a:solidFill>
                  <a:schemeClr val="tx1"/>
                </a:solidFill>
              </a:rPr>
              <a:t>Đã học thật → đề nghị bổ sung</a:t>
            </a:r>
            <a:endParaRPr lang="en-US" sz="1300" dirty="0"/>
          </a:p>
        </p:txBody>
      </p:sp>
      <p:sp>
        <p:nvSpPr>
          <p:cNvPr id="18" name="Nhan Vắng có phép"/>
          <p:cNvSpPr/>
          <p:nvPr/>
        </p:nvSpPr>
        <p:spPr>
          <a:xfrm>
            <a:off x="457200" y="3703320"/>
            <a:ext cx="1234440" cy="292608"/>
          </a:xfrm>
          <a:prstGeom prst="roundRect">
            <a:avLst>
              <a:gd name="adj" fmla="val 50000"/>
            </a:avLst>
          </a:prstGeom>
          <a:solidFill>
            <a:schemeClr val="accent2">
              <a:alpha val="22000"/>
            </a:schemeClr>
          </a:solidFill>
          <a:ln w="12700">
            <a:solidFill>
              <a:schemeClr val="accent2"/>
            </a:solidFill>
            <a:prstDash val="solid"/>
          </a:ln>
        </p:spPr>
      </p:sp>
      <p:sp>
        <p:nvSpPr>
          <p:cNvPr id="19" name="Text 17"/>
          <p:cNvSpPr txBox="1"/>
          <p:nvPr/>
        </p:nvSpPr>
        <p:spPr>
          <a:xfrm>
            <a:off x="457200" y="3703320"/>
            <a:ext cx="1234440" cy="292608"/>
          </a:xfrm>
          <a:prstGeom prst="rect">
            <a:avLst/>
          </a:prstGeom>
          <a:noFill/>
          <a:ln/>
        </p:spPr>
        <p:txBody>
          <a:bodyPr wrap="square" lIns="0" tIns="0" rIns="0" bIns="0" rtlCol="0" anchor="ctr"/>
          <a:lstStyle/>
          <a:p>
            <a:pPr algn="ctr" indent="0" marL="0">
              <a:buNone/>
            </a:pPr>
            <a:r>
              <a:rPr lang="en-US" sz="1200" b="1" dirty="0">
                <a:solidFill>
                  <a:schemeClr val="accent2"/>
                </a:solidFill>
              </a:rPr>
              <a:t>Vắng có phép</a:t>
            </a:r>
            <a:endParaRPr lang="en-US" sz="1200" dirty="0"/>
          </a:p>
        </p:txBody>
      </p:sp>
      <p:sp>
        <p:nvSpPr>
          <p:cNvPr id="20" name="Text 18"/>
          <p:cNvSpPr txBox="1"/>
          <p:nvPr/>
        </p:nvSpPr>
        <p:spPr>
          <a:xfrm>
            <a:off x="1828800" y="3666744"/>
            <a:ext cx="2651760" cy="365760"/>
          </a:xfrm>
          <a:prstGeom prst="rect">
            <a:avLst/>
          </a:prstGeom>
          <a:noFill/>
          <a:ln/>
        </p:spPr>
        <p:txBody>
          <a:bodyPr wrap="square" lIns="0" tIns="0" rIns="0" bIns="0" rtlCol="0" anchor="ctr"/>
          <a:lstStyle/>
          <a:p>
            <a:pPr indent="0" marL="0">
              <a:buNone/>
            </a:pPr>
            <a:r>
              <a:rPr lang="en-US" sz="1300" dirty="0">
                <a:solidFill>
                  <a:schemeClr val="tx1"/>
                </a:solidFill>
              </a:rPr>
              <a:t>Lý do vắng đã được chấp nhận</a:t>
            </a:r>
            <a:endParaRPr lang="en-US" sz="1300" dirty="0"/>
          </a:p>
        </p:txBody>
      </p:sp>
      <p:sp>
        <p:nvSpPr>
          <p:cNvPr id="21" name="Nhan Không nhãn"/>
          <p:cNvSpPr/>
          <p:nvPr/>
        </p:nvSpPr>
        <p:spPr>
          <a:xfrm>
            <a:off x="457200" y="4114800"/>
            <a:ext cx="1234440" cy="292608"/>
          </a:xfrm>
          <a:prstGeom prst="roundRect">
            <a:avLst>
              <a:gd name="adj" fmla="val 50000"/>
            </a:avLst>
          </a:prstGeom>
          <a:solidFill>
            <a:schemeClr val="accent5">
              <a:alpha val="22000"/>
            </a:schemeClr>
          </a:solidFill>
          <a:ln w="12700">
            <a:solidFill>
              <a:schemeClr val="accent5"/>
            </a:solidFill>
            <a:prstDash val="solid"/>
          </a:ln>
        </p:spPr>
      </p:sp>
      <p:sp>
        <p:nvSpPr>
          <p:cNvPr id="22" name="Text 20"/>
          <p:cNvSpPr txBox="1"/>
          <p:nvPr/>
        </p:nvSpPr>
        <p:spPr>
          <a:xfrm>
            <a:off x="457200" y="4114800"/>
            <a:ext cx="1234440" cy="292608"/>
          </a:xfrm>
          <a:prstGeom prst="rect">
            <a:avLst/>
          </a:prstGeom>
          <a:noFill/>
          <a:ln/>
        </p:spPr>
        <p:txBody>
          <a:bodyPr wrap="square" lIns="0" tIns="0" rIns="0" bIns="0" rtlCol="0" anchor="ctr"/>
          <a:lstStyle/>
          <a:p>
            <a:pPr algn="ctr" indent="0" marL="0">
              <a:buNone/>
            </a:pPr>
            <a:r>
              <a:rPr lang="en-US" sz="1200" b="1" dirty="0">
                <a:solidFill>
                  <a:schemeClr val="accent5"/>
                </a:solidFill>
              </a:rPr>
              <a:t>Không nhãn</a:t>
            </a:r>
            <a:endParaRPr lang="en-US" sz="1200" dirty="0"/>
          </a:p>
        </p:txBody>
      </p:sp>
      <p:sp>
        <p:nvSpPr>
          <p:cNvPr id="23" name="Text 21"/>
          <p:cNvSpPr txBox="1"/>
          <p:nvPr/>
        </p:nvSpPr>
        <p:spPr>
          <a:xfrm>
            <a:off x="1828800" y="4078224"/>
            <a:ext cx="2651760" cy="365760"/>
          </a:xfrm>
          <a:prstGeom prst="rect">
            <a:avLst/>
          </a:prstGeom>
          <a:noFill/>
          <a:ln/>
        </p:spPr>
        <p:txBody>
          <a:bodyPr wrap="square" lIns="0" tIns="0" rIns="0" bIns="0" rtlCol="0" anchor="ctr"/>
          <a:lstStyle/>
          <a:p>
            <a:pPr indent="0" marL="0">
              <a:buNone/>
            </a:pPr>
            <a:r>
              <a:rPr lang="en-US" sz="1300" dirty="0">
                <a:solidFill>
                  <a:schemeClr val="tx1"/>
                </a:solidFill>
              </a:rPr>
              <a:t>Chưa có kết quả điểm danh</a:t>
            </a:r>
            <a:endParaRPr lang="en-US" sz="1300" dirty="0"/>
          </a:p>
        </p:txBody>
      </p:sp>
      <p:sp>
        <p:nvSpPr>
          <p:cNvPr id="24" name="Khung hv-menu"/>
          <p:cNvSpPr/>
          <p:nvPr/>
        </p:nvSpPr>
        <p:spPr>
          <a:xfrm>
            <a:off x="4736592" y="1078992"/>
            <a:ext cx="1728216" cy="2302647"/>
          </a:xfrm>
          <a:prstGeom prst="roundRect">
            <a:avLst>
              <a:gd name="adj" fmla="val 6349"/>
            </a:avLst>
          </a:prstGeom>
          <a:solidFill>
            <a:schemeClr val="tx1"/>
          </a:solidFill>
          <a:ln/>
          <a:effectLst>
            <a:outerShdw sx="100000" sy="100000" kx="0" ky="0" algn="bl" rotWithShape="0" blurRad="76200" dist="25400" dir="5400000">
              <a:srgbClr val="1B2A2F">
                <a:alpha val="25000"/>
              </a:srgbClr>
            </a:outerShdw>
          </a:effectLst>
        </p:spPr>
      </p:sp>
      <p:pic>
        <p:nvPicPr>
          <p:cNvPr id="25" name="Anh hv-menu" descr="Menu cổng học viên, mục Lớp học">    </p:cNvPr>
          <p:cNvPicPr>
            <a:picLocks noChangeAspect="1"/>
          </p:cNvPicPr>
          <p:nvPr/>
        </p:nvPicPr>
        <p:blipFill>
          <a:blip r:embed="rId1"/>
          <a:stretch>
            <a:fillRect/>
          </a:stretch>
        </p:blipFill>
        <p:spPr>
          <a:xfrm>
            <a:off x="4800600" y="1143000"/>
            <a:ext cx="1600200" cy="2174631"/>
          </a:xfrm>
          <a:prstGeom prst="rect">
            <a:avLst/>
          </a:prstGeom>
        </p:spPr>
      </p:pic>
      <p:sp>
        <p:nvSpPr>
          <p:cNvPr id="26" name="So 1"/>
          <p:cNvSpPr/>
          <p:nvPr/>
        </p:nvSpPr>
        <p:spPr>
          <a:xfrm>
            <a:off x="4379976" y="1779563"/>
            <a:ext cx="292608" cy="292608"/>
          </a:xfrm>
          <a:prstGeom prst="ellipse">
            <a:avLst/>
          </a:prstGeom>
          <a:solidFill>
            <a:schemeClr val="accent2"/>
          </a:solidFill>
          <a:ln/>
        </p:spPr>
      </p:sp>
      <p:sp>
        <p:nvSpPr>
          <p:cNvPr id="27" name="Text 24"/>
          <p:cNvSpPr txBox="1"/>
          <p:nvPr/>
        </p:nvSpPr>
        <p:spPr>
          <a:xfrm>
            <a:off x="4379976" y="1779563"/>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8" name="Mui ten"/>
          <p:cNvSpPr/>
          <p:nvPr/>
        </p:nvSpPr>
        <p:spPr>
          <a:xfrm>
            <a:off x="6510528" y="2103120"/>
            <a:ext cx="320040" cy="274320"/>
          </a:xfrm>
          <a:prstGeom prst="rightArrow">
            <a:avLst/>
          </a:prstGeom>
          <a:solidFill>
            <a:schemeClr val="accent6"/>
          </a:solidFill>
          <a:ln/>
        </p:spPr>
      </p:sp>
      <p:sp>
        <p:nvSpPr>
          <p:cNvPr id="29" name="Khung hv-lop-hoc"/>
          <p:cNvSpPr/>
          <p:nvPr/>
        </p:nvSpPr>
        <p:spPr>
          <a:xfrm>
            <a:off x="6885432" y="987552"/>
            <a:ext cx="1682496" cy="2772952"/>
          </a:xfrm>
          <a:prstGeom prst="roundRect">
            <a:avLst>
              <a:gd name="adj" fmla="val 6522"/>
            </a:avLst>
          </a:prstGeom>
          <a:solidFill>
            <a:schemeClr val="tx1"/>
          </a:solidFill>
          <a:ln/>
          <a:effectLst>
            <a:outerShdw sx="100000" sy="100000" kx="0" ky="0" algn="bl" rotWithShape="0" blurRad="76200" dist="25400" dir="5400000">
              <a:srgbClr val="1B2A2F">
                <a:alpha val="25000"/>
              </a:srgbClr>
            </a:outerShdw>
          </a:effectLst>
        </p:spPr>
      </p:sp>
      <p:pic>
        <p:nvPicPr>
          <p:cNvPr id="30" name="Anh hv-lop-hoc" descr="Trang Lớp học: Buổi 1 có mặt, Buổi 2 vắng, Buổi 3 chưa có nhãn">    </p:cNvPr>
          <p:cNvPicPr>
            <a:picLocks noChangeAspect="1"/>
          </p:cNvPicPr>
          <p:nvPr/>
        </p:nvPicPr>
        <p:blipFill>
          <a:blip r:embed="rId2"/>
          <a:stretch>
            <a:fillRect/>
          </a:stretch>
        </p:blipFill>
        <p:spPr>
          <a:xfrm>
            <a:off x="6949440" y="1051560"/>
            <a:ext cx="1554480" cy="2644936"/>
          </a:xfrm>
          <a:prstGeom prst="rect">
            <a:avLst/>
          </a:prstGeom>
        </p:spPr>
      </p:pic>
      <p:sp>
        <p:nvSpPr>
          <p:cNvPr id="31" name="So 3"/>
          <p:cNvSpPr/>
          <p:nvPr/>
        </p:nvSpPr>
        <p:spPr>
          <a:xfrm>
            <a:off x="8631936" y="1883882"/>
            <a:ext cx="292608" cy="292608"/>
          </a:xfrm>
          <a:prstGeom prst="ellipse">
            <a:avLst/>
          </a:prstGeom>
          <a:solidFill>
            <a:schemeClr val="accent2"/>
          </a:solidFill>
          <a:ln/>
        </p:spPr>
      </p:sp>
      <p:sp>
        <p:nvSpPr>
          <p:cNvPr id="32" name="Text 28"/>
          <p:cNvSpPr txBox="1"/>
          <p:nvPr/>
        </p:nvSpPr>
        <p:spPr>
          <a:xfrm>
            <a:off x="8631936" y="1883882"/>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Khi nào nên đề nghị điểm danh bổ sung?</a:t>
            </a:r>
            <a:endParaRPr lang="en-US" sz="2800" dirty="0"/>
          </a:p>
        </p:txBody>
      </p:sp>
      <p:sp>
        <p:nvSpPr>
          <p:cNvPr id="3" name="✓  Được xem xét"/>
          <p:cNvSpPr/>
          <p:nvPr/>
        </p:nvSpPr>
        <p:spPr>
          <a:xfrm>
            <a:off x="457200" y="1097280"/>
            <a:ext cx="3977640" cy="2514600"/>
          </a:xfrm>
          <a:prstGeom prst="roundRect">
            <a:avLst>
              <a:gd name="adj" fmla="val 2909"/>
            </a:avLst>
          </a:prstGeom>
          <a:solidFill>
            <a:schemeClr val="bg2"/>
          </a:solidFill>
          <a:ln/>
        </p:spPr>
      </p:sp>
      <p:sp>
        <p:nvSpPr>
          <p:cNvPr id="4" name="Text 2"/>
          <p:cNvSpPr txBox="1"/>
          <p:nvPr/>
        </p:nvSpPr>
        <p:spPr>
          <a:xfrm>
            <a:off x="594360" y="1207008"/>
            <a:ext cx="3703320" cy="2295144"/>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  Được xem xét</a:t>
            </a:r>
            <a:endParaRPr lang="en-US" sz="1600" dirty="0"/>
          </a:p>
          <a:p>
            <a:pPr marL="177800" indent="-177800">
              <a:spcAft>
                <a:spcPts val="400"/>
              </a:spcAft>
              <a:buSzPct val="100000"/>
              <a:buChar char="•"/>
            </a:pPr>
            <a:r>
              <a:rPr lang="en-US" sz="1400" dirty="0">
                <a:solidFill>
                  <a:schemeClr val="tx1"/>
                </a:solidFill>
              </a:rPr>
              <a:t>Đã học Zoom nhưng quên bấm “Điểm danh &amp; vào Zoom”, hoặc bấm sau giờ đóng</a:t>
            </a:r>
            <a:endParaRPr lang="en-US" sz="1600" dirty="0"/>
          </a:p>
          <a:p>
            <a:pPr marL="177800" indent="-177800">
              <a:spcAft>
                <a:spcPts val="400"/>
              </a:spcAft>
              <a:buSzPct val="100000"/>
              <a:buChar char="•"/>
            </a:pPr>
            <a:r>
              <a:rPr lang="en-US" sz="1400" dirty="0">
                <a:solidFill>
                  <a:schemeClr val="tx1"/>
                </a:solidFill>
              </a:rPr>
              <a:t>Vào Zoom bằng link khác, hoặc ở lại phòng từ buổi trước</a:t>
            </a:r>
            <a:endParaRPr lang="en-US" sz="1600" dirty="0"/>
          </a:p>
          <a:p>
            <a:pPr marL="177800" indent="-177800">
              <a:spcAft>
                <a:spcPts val="400"/>
              </a:spcAft>
              <a:buSzPct val="100000"/>
              <a:buChar char="•"/>
            </a:pPr>
            <a:r>
              <a:rPr lang="en-US" sz="1400" dirty="0">
                <a:solidFill>
                  <a:schemeClr val="tx1"/>
                </a:solidFill>
              </a:rPr>
              <a:t>Lớp trực tiếp: ký tên thiếu hoặc ký muộn</a:t>
            </a:r>
            <a:endParaRPr lang="en-US" sz="1600" dirty="0"/>
          </a:p>
          <a:p>
            <a:pPr marL="177800" indent="-177800">
              <a:spcAft>
                <a:spcPts val="400"/>
              </a:spcAft>
              <a:buSzPct val="100000"/>
              <a:buChar char="•"/>
            </a:pPr>
            <a:r>
              <a:rPr lang="en-US" sz="1400" dirty="0">
                <a:solidFill>
                  <a:schemeClr val="tx1"/>
                </a:solidFill>
              </a:rPr>
              <a:t>Vắng có lý do chính đáng → đề nghị “Vắng có phép”</a:t>
            </a:r>
            <a:endParaRPr lang="en-US" sz="1600" dirty="0"/>
          </a:p>
        </p:txBody>
      </p:sp>
      <p:sp>
        <p:nvSpPr>
          <p:cNvPr id="5" name="✕  Không cần / không được"/>
          <p:cNvSpPr/>
          <p:nvPr/>
        </p:nvSpPr>
        <p:spPr>
          <a:xfrm>
            <a:off x="4709160" y="1097280"/>
            <a:ext cx="3977640" cy="2514600"/>
          </a:xfrm>
          <a:prstGeom prst="roundRect">
            <a:avLst>
              <a:gd name="adj" fmla="val 2909"/>
            </a:avLst>
          </a:prstGeom>
          <a:solidFill>
            <a:schemeClr val="bg2"/>
          </a:solidFill>
          <a:ln/>
        </p:spPr>
      </p:sp>
      <p:sp>
        <p:nvSpPr>
          <p:cNvPr id="6" name="Text 4"/>
          <p:cNvSpPr txBox="1"/>
          <p:nvPr/>
        </p:nvSpPr>
        <p:spPr>
          <a:xfrm>
            <a:off x="4846320" y="1207008"/>
            <a:ext cx="3703320" cy="2295144"/>
          </a:xfrm>
          <a:prstGeom prst="rect">
            <a:avLst/>
          </a:prstGeom>
          <a:noFill/>
          <a:ln/>
        </p:spPr>
        <p:txBody>
          <a:bodyPr wrap="square" lIns="0" tIns="0" rIns="0" bIns="0" rtlCol="0" anchor="t"/>
          <a:lstStyle/>
          <a:p>
            <a:pPr indent="0" marL="0">
              <a:spcAft>
                <a:spcPts val="600"/>
              </a:spcAft>
              <a:buNone/>
            </a:pPr>
            <a:r>
              <a:rPr lang="en-US" sz="1600" b="1" dirty="0">
                <a:solidFill>
                  <a:schemeClr val="accent3"/>
                </a:solidFill>
              </a:rPr>
              <a:t>✕  Không cần / không được</a:t>
            </a:r>
            <a:endParaRPr lang="en-US" sz="1600" dirty="0"/>
          </a:p>
          <a:p>
            <a:pPr marL="177800" indent="-177800">
              <a:spcAft>
                <a:spcPts val="400"/>
              </a:spcAft>
              <a:buSzPct val="100000"/>
              <a:buChar char="•"/>
            </a:pPr>
            <a:r>
              <a:rPr lang="en-US" sz="1400" dirty="0">
                <a:solidFill>
                  <a:schemeClr val="tx1"/>
                </a:solidFill>
              </a:rPr>
              <a:t>Buổi đã hiện “Có mặt” (kể cả đã có mặt ở lớp cũ)</a:t>
            </a:r>
            <a:endParaRPr lang="en-US" sz="1600" dirty="0"/>
          </a:p>
          <a:p>
            <a:pPr marL="177800" indent="-177800">
              <a:spcAft>
                <a:spcPts val="400"/>
              </a:spcAft>
              <a:buSzPct val="100000"/>
              <a:buChar char="•"/>
            </a:pPr>
            <a:r>
              <a:rPr lang="en-US" sz="1400" dirty="0">
                <a:solidFill>
                  <a:schemeClr val="tx1"/>
                </a:solidFill>
              </a:rPr>
              <a:t>Buổi chưa diễn ra</a:t>
            </a:r>
            <a:endParaRPr lang="en-US" sz="1600" dirty="0"/>
          </a:p>
          <a:p>
            <a:pPr marL="177800" indent="-177800">
              <a:spcAft>
                <a:spcPts val="400"/>
              </a:spcAft>
              <a:buSzPct val="100000"/>
              <a:buChar char="•"/>
            </a:pPr>
            <a:r>
              <a:rPr lang="en-US" sz="1400" dirty="0">
                <a:solidFill>
                  <a:schemeClr val="tx1"/>
                </a:solidFill>
              </a:rPr>
              <a:t>Không có minh chứng đã tham gia hoặc lý do vắng</a:t>
            </a:r>
            <a:endParaRPr lang="en-US" sz="1600" dirty="0"/>
          </a:p>
        </p:txBody>
      </p:sp>
      <p:sp>
        <p:nvSpPr>
          <p:cNvPr id="7" name="Goi y"/>
          <p:cNvSpPr/>
          <p:nvPr/>
        </p:nvSpPr>
        <p:spPr>
          <a:xfrm>
            <a:off x="457200" y="3794760"/>
            <a:ext cx="8229600" cy="685800"/>
          </a:xfrm>
          <a:prstGeom prst="roundRect">
            <a:avLst>
              <a:gd name="adj" fmla="val 10667"/>
            </a:avLst>
          </a:prstGeom>
          <a:solidFill>
            <a:schemeClr val="tx2"/>
          </a:solidFill>
          <a:ln/>
        </p:spPr>
      </p:sp>
      <p:sp>
        <p:nvSpPr>
          <p:cNvPr id="8" name="Text 6"/>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400" b="1" dirty="0">
                <a:solidFill>
                  <a:schemeClr val="accent6"/>
                </a:solidFill>
              </a:rPr>
              <a:t>Chưa chắc buổi của mình thuộc trường hợp nào? </a:t>
            </a:r>
            <a:pPr indent="0" marL="0">
              <a:buNone/>
            </a:pPr>
            <a:r>
              <a:rPr lang="en-US" sz="1400" dirty="0">
                <a:solidFill>
                  <a:schemeClr val="bg1"/>
                </a:solidFill>
              </a:rPr>
              <a:t>Cứ hỏi người hỗ trợ lớp/cụm – họ tra được từng buổi.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Bước 2 – Chuẩn bị thông tin và minh chứng</a:t>
            </a:r>
            <a:endParaRPr lang="en-US" sz="2800" dirty="0"/>
          </a:p>
        </p:txBody>
      </p:sp>
      <p:sp>
        <p:nvSpPr>
          <p:cNvPr id="3" name="Thông tin buổi học"/>
          <p:cNvSpPr/>
          <p:nvPr/>
        </p:nvSpPr>
        <p:spPr>
          <a:xfrm>
            <a:off x="457200" y="1097280"/>
            <a:ext cx="3977640" cy="1508760"/>
          </a:xfrm>
          <a:prstGeom prst="roundRect">
            <a:avLst>
              <a:gd name="adj" fmla="val 4848"/>
            </a:avLst>
          </a:prstGeom>
          <a:solidFill>
            <a:schemeClr val="bg2"/>
          </a:solidFill>
          <a:ln/>
        </p:spPr>
      </p:sp>
      <p:sp>
        <p:nvSpPr>
          <p:cNvPr id="4" name="Text 2"/>
          <p:cNvSpPr txBox="1"/>
          <p:nvPr/>
        </p:nvSpPr>
        <p:spPr>
          <a:xfrm>
            <a:off x="594360" y="1207008"/>
            <a:ext cx="3703320" cy="1289304"/>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Thông tin buổi học</a:t>
            </a:r>
            <a:endParaRPr lang="en-US" sz="1600" dirty="0"/>
          </a:p>
          <a:p>
            <a:pPr marL="177800" indent="-177800">
              <a:spcAft>
                <a:spcPts val="400"/>
              </a:spcAft>
              <a:buSzPct val="100000"/>
              <a:buChar char="•"/>
            </a:pPr>
            <a:r>
              <a:rPr lang="en-US" sz="1400" dirty="0">
                <a:solidFill>
                  <a:schemeClr val="tx1"/>
                </a:solidFill>
              </a:rPr>
              <a:t>Họ tên, mã MOET, trường</a:t>
            </a:r>
            <a:endParaRPr lang="en-US" sz="1600" dirty="0"/>
          </a:p>
          <a:p>
            <a:pPr marL="177800" indent="-177800">
              <a:spcAft>
                <a:spcPts val="400"/>
              </a:spcAft>
              <a:buSzPct val="100000"/>
              <a:buChar char="•"/>
            </a:pPr>
            <a:r>
              <a:rPr lang="en-US" sz="1400" dirty="0">
                <a:solidFill>
                  <a:schemeClr val="tx1"/>
                </a:solidFill>
              </a:rPr>
              <a:t>Lớp · giai đoạn · buổi số · ngày học</a:t>
            </a:r>
            <a:endParaRPr lang="en-US" sz="1600" dirty="0"/>
          </a:p>
        </p:txBody>
      </p:sp>
      <p:sp>
        <p:nvSpPr>
          <p:cNvPr id="5" name="Minh chứng (ảnh)"/>
          <p:cNvSpPr/>
          <p:nvPr/>
        </p:nvSpPr>
        <p:spPr>
          <a:xfrm>
            <a:off x="457200" y="2788920"/>
            <a:ext cx="3977640" cy="1691640"/>
          </a:xfrm>
          <a:prstGeom prst="roundRect">
            <a:avLst>
              <a:gd name="adj" fmla="val 4324"/>
            </a:avLst>
          </a:prstGeom>
          <a:solidFill>
            <a:schemeClr val="bg2"/>
          </a:solidFill>
          <a:ln/>
        </p:spPr>
      </p:sp>
      <p:sp>
        <p:nvSpPr>
          <p:cNvPr id="6" name="Text 4"/>
          <p:cNvSpPr txBox="1"/>
          <p:nvPr/>
        </p:nvSpPr>
        <p:spPr>
          <a:xfrm>
            <a:off x="594360" y="2898648"/>
            <a:ext cx="3703320" cy="1472184"/>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Minh chứng (ảnh)</a:t>
            </a:r>
            <a:endParaRPr lang="en-US" sz="1600" dirty="0"/>
          </a:p>
          <a:p>
            <a:pPr marL="177800" indent="-177800">
              <a:spcAft>
                <a:spcPts val="400"/>
              </a:spcAft>
              <a:buSzPct val="100000"/>
              <a:buChar char="•"/>
            </a:pPr>
            <a:r>
              <a:rPr lang="en-US" sz="1400" dirty="0">
                <a:solidFill>
                  <a:schemeClr val="tx1"/>
                </a:solidFill>
              </a:rPr>
              <a:t>Ảnh màn hình Zoom thấy tên + giờ</a:t>
            </a:r>
            <a:endParaRPr lang="en-US" sz="1600" dirty="0"/>
          </a:p>
          <a:p>
            <a:pPr marL="177800" indent="-177800">
              <a:spcAft>
                <a:spcPts val="400"/>
              </a:spcAft>
              <a:buSzPct val="100000"/>
              <a:buChar char="•"/>
            </a:pPr>
            <a:r>
              <a:rPr lang="en-US" sz="1400" dirty="0">
                <a:solidFill>
                  <a:schemeClr val="tx1"/>
                </a:solidFill>
              </a:rPr>
              <a:t>Ảnh danh sách ký tên / xác nhận của giảng viên</a:t>
            </a:r>
            <a:endParaRPr lang="en-US" sz="1600" dirty="0"/>
          </a:p>
          <a:p>
            <a:pPr marL="177800" indent="-177800">
              <a:spcAft>
                <a:spcPts val="400"/>
              </a:spcAft>
              <a:buSzPct val="100000"/>
              <a:buChar char="•"/>
            </a:pPr>
            <a:r>
              <a:rPr lang="en-US" sz="1400" dirty="0">
                <a:solidFill>
                  <a:schemeClr val="tx1"/>
                </a:solidFill>
              </a:rPr>
              <a:t>Giấy tờ lý do (nếu xin vắng có phép)</a:t>
            </a:r>
            <a:endParaRPr lang="en-US" sz="1600" dirty="0"/>
          </a:p>
        </p:txBody>
      </p:sp>
      <p:sp>
        <p:nvSpPr>
          <p:cNvPr id="7" name="Tin nhan mau"/>
          <p:cNvSpPr/>
          <p:nvPr/>
        </p:nvSpPr>
        <p:spPr>
          <a:xfrm>
            <a:off x="4709160" y="1097280"/>
            <a:ext cx="3977640" cy="3383280"/>
          </a:xfrm>
          <a:prstGeom prst="roundRect">
            <a:avLst>
              <a:gd name="adj" fmla="val 2162"/>
            </a:avLst>
          </a:prstGeom>
          <a:solidFill>
            <a:schemeClr val="tx2"/>
          </a:solidFill>
          <a:ln/>
        </p:spPr>
      </p:sp>
      <p:sp>
        <p:nvSpPr>
          <p:cNvPr id="8" name="Text 6"/>
          <p:cNvSpPr txBox="1"/>
          <p:nvPr/>
        </p:nvSpPr>
        <p:spPr>
          <a:xfrm>
            <a:off x="4892040" y="1207008"/>
            <a:ext cx="3657600" cy="320040"/>
          </a:xfrm>
          <a:prstGeom prst="rect">
            <a:avLst/>
          </a:prstGeom>
          <a:noFill/>
          <a:ln/>
        </p:spPr>
        <p:txBody>
          <a:bodyPr wrap="square" lIns="0" tIns="0" rIns="0" bIns="0" rtlCol="0" anchor="ctr"/>
          <a:lstStyle/>
          <a:p>
            <a:pPr indent="0" marL="0">
              <a:buNone/>
            </a:pPr>
            <a:r>
              <a:rPr lang="en-US" sz="1400" b="1" dirty="0">
                <a:solidFill>
                  <a:schemeClr val="accent6"/>
                </a:solidFill>
              </a:rPr>
              <a:t>Tin nhắn mẫu gửi người hỗ trợ</a:t>
            </a:r>
            <a:endParaRPr lang="en-US" sz="1400" dirty="0"/>
          </a:p>
        </p:txBody>
      </p:sp>
      <p:sp>
        <p:nvSpPr>
          <p:cNvPr id="9" name="Bong bong tin nhan"/>
          <p:cNvSpPr/>
          <p:nvPr/>
        </p:nvSpPr>
        <p:spPr>
          <a:xfrm>
            <a:off x="4892040" y="1645920"/>
            <a:ext cx="3611880" cy="2651760"/>
          </a:xfrm>
          <a:prstGeom prst="roundRect">
            <a:avLst>
              <a:gd name="adj" fmla="val 4138"/>
            </a:avLst>
          </a:prstGeom>
          <a:solidFill>
            <a:schemeClr val="bg1"/>
          </a:solidFill>
          <a:ln/>
        </p:spPr>
      </p:sp>
      <p:sp>
        <p:nvSpPr>
          <p:cNvPr id="10" name="Text 8"/>
          <p:cNvSpPr txBox="1"/>
          <p:nvPr/>
        </p:nvSpPr>
        <p:spPr>
          <a:xfrm>
            <a:off x="5074920" y="1783080"/>
            <a:ext cx="3246120" cy="23774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Em là Nguyễn Văn An, mã MOET 79xxxxxx, trường THPT …</a:t>
            </a:r>
            <a:endParaRPr lang="en-US" sz="1400" dirty="0"/>
          </a:p>
          <a:p>
            <a:pPr indent="0" marL="0">
              <a:spcAft>
                <a:spcPts val="600"/>
              </a:spcAft>
              <a:buNone/>
            </a:pPr>
            <a:r>
              <a:rPr lang="en-US" sz="1400" dirty="0">
                <a:solidFill>
                  <a:schemeClr val="tx1"/>
                </a:solidFill>
              </a:rPr>
              <a:t>Lớp … – GĐ 2 – Buổi 2 – ngày 17/10.</a:t>
            </a:r>
            <a:endParaRPr lang="en-US" sz="1400" dirty="0"/>
          </a:p>
          <a:p>
            <a:pPr indent="0" marL="0">
              <a:spcAft>
                <a:spcPts val="600"/>
              </a:spcAft>
              <a:buNone/>
            </a:pPr>
            <a:r>
              <a:rPr lang="en-US" sz="1400" dirty="0">
                <a:solidFill>
                  <a:schemeClr val="tx1"/>
                </a:solidFill>
              </a:rPr>
              <a:t>Em đã tham gia nhưng bị ghi vắng, nhờ Thầy/Cô điểm danh bổ sung.</a:t>
            </a:r>
            <a:endParaRPr lang="en-US" sz="1400" dirty="0"/>
          </a:p>
          <a:p>
            <a:pPr indent="0" marL="0">
              <a:spcAft>
                <a:spcPts val="600"/>
              </a:spcAft>
              <a:buNone/>
            </a:pPr>
            <a:r>
              <a:rPr lang="en-US" sz="1400" i="1" dirty="0">
                <a:solidFill>
                  <a:schemeClr val="accent5"/>
                </a:solidFill>
              </a:rPr>
              <a:t>Minh chứng: ảnh Zoom đính kèm (hoặc link Drive).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Bước 3 – Gửi minh chứng: chọn 1 trong 2 cách</a:t>
            </a:r>
            <a:endParaRPr lang="en-US" sz="2800" dirty="0"/>
          </a:p>
        </p:txBody>
      </p:sp>
      <p:sp>
        <p:nvSpPr>
          <p:cNvPr id="3" name="Cách 1 · Zalo (nhanh nhất)"/>
          <p:cNvSpPr/>
          <p:nvPr/>
        </p:nvSpPr>
        <p:spPr>
          <a:xfrm>
            <a:off x="457200" y="1097280"/>
            <a:ext cx="3977640" cy="2103120"/>
          </a:xfrm>
          <a:prstGeom prst="roundRect">
            <a:avLst>
              <a:gd name="adj" fmla="val 3478"/>
            </a:avLst>
          </a:prstGeom>
          <a:solidFill>
            <a:schemeClr val="bg2"/>
          </a:solidFill>
          <a:ln/>
        </p:spPr>
      </p:sp>
      <p:sp>
        <p:nvSpPr>
          <p:cNvPr id="4" name="Text 2"/>
          <p:cNvSpPr txBox="1"/>
          <p:nvPr/>
        </p:nvSpPr>
        <p:spPr>
          <a:xfrm>
            <a:off x="594360" y="1207008"/>
            <a:ext cx="3703320" cy="1883664"/>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Cách 1 · Zalo (nhanh nhất)</a:t>
            </a:r>
            <a:endParaRPr lang="en-US" sz="1600" dirty="0"/>
          </a:p>
          <a:p>
            <a:pPr marL="177800" indent="-177800">
              <a:spcAft>
                <a:spcPts val="400"/>
              </a:spcAft>
              <a:buSzPct val="100000"/>
              <a:buChar char="•"/>
            </a:pPr>
            <a:r>
              <a:rPr lang="en-US" sz="1400" dirty="0">
                <a:solidFill>
                  <a:schemeClr val="tx1"/>
                </a:solidFill>
              </a:rPr>
              <a:t>Nhắn người hỗ trợ lớp/cụm theo tin nhắn mẫu</a:t>
            </a:r>
            <a:endParaRPr lang="en-US" sz="1600" dirty="0"/>
          </a:p>
          <a:p>
            <a:pPr marL="177800" indent="-177800">
              <a:spcAft>
                <a:spcPts val="400"/>
              </a:spcAft>
              <a:buSzPct val="100000"/>
              <a:buChar char="•"/>
            </a:pPr>
            <a:r>
              <a:rPr lang="en-US" sz="1400" dirty="0">
                <a:solidFill>
                  <a:schemeClr val="tx1"/>
                </a:solidFill>
              </a:rPr>
              <a:t>Gửi ảnh trực tiếp trong Zalo – không cần chia sẻ quyền</a:t>
            </a:r>
            <a:endParaRPr lang="en-US" sz="1600" dirty="0"/>
          </a:p>
          <a:p>
            <a:pPr marL="177800" indent="-177800">
              <a:spcAft>
                <a:spcPts val="400"/>
              </a:spcAft>
              <a:buSzPct val="100000"/>
              <a:buChar char="•"/>
            </a:pPr>
            <a:r>
              <a:rPr lang="en-US" sz="1400" dirty="0">
                <a:solidFill>
                  <a:schemeClr val="tx1"/>
                </a:solidFill>
              </a:rPr>
              <a:t>Người hỗ trợ trả lời ngay trên Zalo</a:t>
            </a:r>
            <a:endParaRPr lang="en-US" sz="1600" dirty="0"/>
          </a:p>
        </p:txBody>
      </p:sp>
      <p:sp>
        <p:nvSpPr>
          <p:cNvPr id="5" name="Cách 2 · Mục Hỗ trợ trên cổng"/>
          <p:cNvSpPr/>
          <p:nvPr/>
        </p:nvSpPr>
        <p:spPr>
          <a:xfrm>
            <a:off x="4709160" y="1097280"/>
            <a:ext cx="3977640" cy="2103120"/>
          </a:xfrm>
          <a:prstGeom prst="roundRect">
            <a:avLst>
              <a:gd name="adj" fmla="val 3478"/>
            </a:avLst>
          </a:prstGeom>
          <a:solidFill>
            <a:schemeClr val="bg2"/>
          </a:solidFill>
          <a:ln/>
        </p:spPr>
      </p:sp>
      <p:sp>
        <p:nvSpPr>
          <p:cNvPr id="6" name="Text 4"/>
          <p:cNvSpPr txBox="1"/>
          <p:nvPr/>
        </p:nvSpPr>
        <p:spPr>
          <a:xfrm>
            <a:off x="4846320" y="1207008"/>
            <a:ext cx="3703320" cy="1883664"/>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Cách 2 · Mục Hỗ trợ trên cổng</a:t>
            </a:r>
            <a:endParaRPr lang="en-US" sz="1600" dirty="0"/>
          </a:p>
          <a:p>
            <a:pPr marL="177800" indent="-177800">
              <a:spcAft>
                <a:spcPts val="400"/>
              </a:spcAft>
              <a:buSzPct val="100000"/>
              <a:buChar char="•"/>
            </a:pPr>
            <a:r>
              <a:rPr lang="en-US" sz="1400" dirty="0">
                <a:solidFill>
                  <a:schemeClr val="tx1"/>
                </a:solidFill>
              </a:rPr>
              <a:t>Ô nội dung chỉ nhận chữ – không đính kèm ảnh</a:t>
            </a:r>
            <a:endParaRPr lang="en-US" sz="1600" dirty="0"/>
          </a:p>
          <a:p>
            <a:pPr marL="177800" indent="-177800">
              <a:spcAft>
                <a:spcPts val="400"/>
              </a:spcAft>
              <a:buSzPct val="100000"/>
              <a:buChar char="•"/>
            </a:pPr>
            <a:r>
              <a:rPr lang="en-US" sz="1400" dirty="0">
                <a:solidFill>
                  <a:schemeClr val="tx1"/>
                </a:solidFill>
              </a:rPr>
              <a:t>Tải ảnh lên Google Drive, mở chia sẻ, dán link vào nội dung (trang sau)</a:t>
            </a:r>
            <a:endParaRPr lang="en-US" sz="1600" dirty="0"/>
          </a:p>
          <a:p>
            <a:pPr marL="177800" indent="-177800">
              <a:spcAft>
                <a:spcPts val="400"/>
              </a:spcAft>
              <a:buSzPct val="100000"/>
              <a:buChar char="•"/>
            </a:pPr>
            <a:r>
              <a:rPr lang="en-US" sz="1400" dirty="0">
                <a:solidFill>
                  <a:schemeClr val="tx1"/>
                </a:solidFill>
              </a:rPr>
              <a:t>Câu trả lời hiện ngay trong mục Hỗ trợ</a:t>
            </a:r>
            <a:endParaRPr lang="en-US" sz="1600" dirty="0"/>
          </a:p>
        </p:txBody>
      </p:sp>
      <p:sp>
        <p:nvSpPr>
          <p:cNvPr id="7" name="Canh bao giay to"/>
          <p:cNvSpPr/>
          <p:nvPr/>
        </p:nvSpPr>
        <p:spPr>
          <a:xfrm>
            <a:off x="457200" y="3429000"/>
            <a:ext cx="8229600" cy="685800"/>
          </a:xfrm>
          <a:prstGeom prst="roundRect">
            <a:avLst>
              <a:gd name="adj" fmla="val 10667"/>
            </a:avLst>
          </a:prstGeom>
          <a:solidFill>
            <a:schemeClr val="accent3">
              <a:alpha val="15000"/>
            </a:schemeClr>
          </a:solidFill>
          <a:ln/>
        </p:spPr>
      </p:sp>
      <p:sp>
        <p:nvSpPr>
          <p:cNvPr id="8" name="Text 6"/>
          <p:cNvSpPr txBox="1"/>
          <p:nvPr/>
        </p:nvSpPr>
        <p:spPr>
          <a:xfrm>
            <a:off x="640080" y="3429000"/>
            <a:ext cx="7863840" cy="685800"/>
          </a:xfrm>
          <a:prstGeom prst="rect">
            <a:avLst/>
          </a:prstGeom>
          <a:noFill/>
          <a:ln/>
        </p:spPr>
        <p:txBody>
          <a:bodyPr wrap="square" lIns="0" tIns="0" rIns="0" bIns="0" rtlCol="0" anchor="ctr"/>
          <a:lstStyle/>
          <a:p>
            <a:pPr indent="0" marL="0">
              <a:buNone/>
            </a:pPr>
            <a:r>
              <a:rPr lang="en-US" sz="1400" b="1" dirty="0">
                <a:solidFill>
                  <a:schemeClr val="accent3"/>
                </a:solidFill>
              </a:rPr>
              <a:t>Không gửi ảnh CCCD hay giấy tờ tùy thân. </a:t>
            </a:r>
            <a:pPr indent="0" marL="0">
              <a:buNone/>
            </a:pPr>
            <a:r>
              <a:rPr lang="en-US" sz="1400" dirty="0">
                <a:solidFill>
                  <a:schemeClr val="tx1"/>
                </a:solidFill>
              </a:rPr>
              <a:t>Chỉ cần ảnh chứng minh đã tham gia buổi học hoặc lý do vắng.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Lấy link Google Drive đúng cách</a:t>
            </a:r>
            <a:endParaRPr lang="en-US" sz="2800" dirty="0"/>
          </a:p>
        </p:txBody>
      </p:sp>
      <p:sp>
        <p:nvSpPr>
          <p:cNvPr id="3" name="So 1"/>
          <p:cNvSpPr/>
          <p:nvPr/>
        </p:nvSpPr>
        <p:spPr>
          <a:xfrm>
            <a:off x="457200" y="1143000"/>
            <a:ext cx="365760" cy="365760"/>
          </a:xfrm>
          <a:prstGeom prst="ellipse">
            <a:avLst/>
          </a:prstGeom>
          <a:solidFill>
            <a:schemeClr val="tx2"/>
          </a:solidFill>
          <a:ln/>
        </p:spPr>
      </p:sp>
      <p:sp>
        <p:nvSpPr>
          <p:cNvPr id="4" name="Text 2"/>
          <p:cNvSpPr txBox="1"/>
          <p:nvPr/>
        </p:nvSpPr>
        <p:spPr>
          <a:xfrm>
            <a:off x="457200" y="114300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960120" y="1106424"/>
            <a:ext cx="3611880" cy="548640"/>
          </a:xfrm>
          <a:prstGeom prst="rect">
            <a:avLst/>
          </a:prstGeom>
          <a:noFill/>
          <a:ln/>
        </p:spPr>
        <p:txBody>
          <a:bodyPr wrap="square" lIns="0" tIns="0" rIns="0" bIns="0" rtlCol="0" anchor="t"/>
          <a:lstStyle/>
          <a:p>
            <a:pPr indent="0" marL="0">
              <a:buNone/>
            </a:pPr>
            <a:r>
              <a:rPr lang="en-US" sz="1400" dirty="0">
                <a:solidFill>
                  <a:schemeClr val="tx1"/>
                </a:solidFill>
              </a:rPr>
              <a:t>Google Drive → </a:t>
            </a:r>
            <a:pPr indent="0" marL="0">
              <a:buNone/>
            </a:pPr>
            <a:r>
              <a:rPr lang="en-US" sz="1400" b="1" dirty="0">
                <a:solidFill>
                  <a:schemeClr val="tx1"/>
                </a:solidFill>
              </a:rPr>
              <a:t>+ Mới → Tải tệp lên</a:t>
            </a:r>
            <a:pPr indent="0" marL="0">
              <a:buNone/>
            </a:pPr>
            <a:r>
              <a:rPr lang="en-US" sz="1400" dirty="0">
                <a:solidFill>
                  <a:schemeClr val="tx1"/>
                </a:solidFill>
              </a:rPr>
              <a:t> → chọn ảnh</a:t>
            </a:r>
            <a:endParaRPr lang="en-US" sz="1400" dirty="0"/>
          </a:p>
        </p:txBody>
      </p:sp>
      <p:sp>
        <p:nvSpPr>
          <p:cNvPr id="6" name="So 2"/>
          <p:cNvSpPr/>
          <p:nvPr/>
        </p:nvSpPr>
        <p:spPr>
          <a:xfrm>
            <a:off x="457200" y="1746504"/>
            <a:ext cx="365760" cy="365760"/>
          </a:xfrm>
          <a:prstGeom prst="ellipse">
            <a:avLst/>
          </a:prstGeom>
          <a:solidFill>
            <a:schemeClr val="tx2"/>
          </a:solidFill>
          <a:ln/>
        </p:spPr>
      </p:sp>
      <p:sp>
        <p:nvSpPr>
          <p:cNvPr id="7" name="Text 5"/>
          <p:cNvSpPr txBox="1"/>
          <p:nvPr/>
        </p:nvSpPr>
        <p:spPr>
          <a:xfrm>
            <a:off x="457200" y="1746504"/>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960120" y="1709928"/>
            <a:ext cx="3611880" cy="548640"/>
          </a:xfrm>
          <a:prstGeom prst="rect">
            <a:avLst/>
          </a:prstGeom>
          <a:noFill/>
          <a:ln/>
        </p:spPr>
        <p:txBody>
          <a:bodyPr wrap="square" lIns="0" tIns="0" rIns="0" bIns="0" rtlCol="0" anchor="t"/>
          <a:lstStyle/>
          <a:p>
            <a:pPr indent="0" marL="0">
              <a:buNone/>
            </a:pPr>
            <a:r>
              <a:rPr lang="en-US" sz="1400" dirty="0">
                <a:solidFill>
                  <a:schemeClr val="tx1"/>
                </a:solidFill>
              </a:rPr>
              <a:t>Chạm </a:t>
            </a:r>
            <a:pPr indent="0" marL="0">
              <a:buNone/>
            </a:pPr>
            <a:r>
              <a:rPr lang="en-US" sz="1400" b="1" dirty="0">
                <a:solidFill>
                  <a:schemeClr val="tx1"/>
                </a:solidFill>
              </a:rPr>
              <a:t>⋮</a:t>
            </a:r>
            <a:pPr indent="0" marL="0">
              <a:buNone/>
            </a:pPr>
            <a:r>
              <a:rPr lang="en-US" sz="1400" dirty="0">
                <a:solidFill>
                  <a:schemeClr val="tx1"/>
                </a:solidFill>
              </a:rPr>
              <a:t> cạnh ảnh → </a:t>
            </a:r>
            <a:pPr indent="0" marL="0">
              <a:buNone/>
            </a:pPr>
            <a:r>
              <a:rPr lang="en-US" sz="1400" b="1" dirty="0">
                <a:solidFill>
                  <a:schemeClr val="tx1"/>
                </a:solidFill>
              </a:rPr>
              <a:t>Chia sẻ</a:t>
            </a:r>
            <a:endParaRPr lang="en-US" sz="1400" dirty="0"/>
          </a:p>
        </p:txBody>
      </p:sp>
      <p:sp>
        <p:nvSpPr>
          <p:cNvPr id="9" name="So 3"/>
          <p:cNvSpPr/>
          <p:nvPr/>
        </p:nvSpPr>
        <p:spPr>
          <a:xfrm>
            <a:off x="457200" y="2350008"/>
            <a:ext cx="365760" cy="365760"/>
          </a:xfrm>
          <a:prstGeom prst="ellipse">
            <a:avLst/>
          </a:prstGeom>
          <a:solidFill>
            <a:schemeClr val="tx2"/>
          </a:solidFill>
          <a:ln/>
        </p:spPr>
      </p:sp>
      <p:sp>
        <p:nvSpPr>
          <p:cNvPr id="10" name="Text 8"/>
          <p:cNvSpPr txBox="1"/>
          <p:nvPr/>
        </p:nvSpPr>
        <p:spPr>
          <a:xfrm>
            <a:off x="457200" y="235000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960120" y="2313432"/>
            <a:ext cx="3611880" cy="548640"/>
          </a:xfrm>
          <a:prstGeom prst="rect">
            <a:avLst/>
          </a:prstGeom>
          <a:noFill/>
          <a:ln/>
        </p:spPr>
        <p:txBody>
          <a:bodyPr wrap="square" lIns="0" tIns="0" rIns="0" bIns="0" rtlCol="0" anchor="t"/>
          <a:lstStyle/>
          <a:p>
            <a:pPr indent="0" marL="0">
              <a:buNone/>
            </a:pPr>
            <a:r>
              <a:rPr lang="en-US" sz="1400" dirty="0">
                <a:solidFill>
                  <a:schemeClr val="tx1"/>
                </a:solidFill>
              </a:rPr>
              <a:t>Mục </a:t>
            </a:r>
            <a:pPr indent="0" marL="0">
              <a:buNone/>
            </a:pPr>
            <a:r>
              <a:rPr lang="en-US" sz="1400" b="1" dirty="0">
                <a:solidFill>
                  <a:schemeClr val="tx1"/>
                </a:solidFill>
              </a:rPr>
              <a:t>Quyền truy cập chung</a:t>
            </a:r>
            <a:pPr indent="0" marL="0">
              <a:buNone/>
            </a:pPr>
            <a:r>
              <a:rPr lang="en-US" sz="1400" dirty="0">
                <a:solidFill>
                  <a:schemeClr val="tx1"/>
                </a:solidFill>
              </a:rPr>
              <a:t>: đổi “Bị hạn chế” thành </a:t>
            </a:r>
            <a:pPr indent="0" marL="0">
              <a:buNone/>
            </a:pPr>
            <a:r>
              <a:rPr lang="en-US" sz="1400" b="1" dirty="0">
                <a:solidFill>
                  <a:schemeClr val="tx1"/>
                </a:solidFill>
              </a:rPr>
              <a:t>“Bất kỳ ai có đường liên kết”</a:t>
            </a:r>
            <a:endParaRPr lang="en-US" sz="1400" dirty="0"/>
          </a:p>
        </p:txBody>
      </p:sp>
      <p:sp>
        <p:nvSpPr>
          <p:cNvPr id="12" name="So 4"/>
          <p:cNvSpPr/>
          <p:nvPr/>
        </p:nvSpPr>
        <p:spPr>
          <a:xfrm>
            <a:off x="457200" y="2953512"/>
            <a:ext cx="365760" cy="365760"/>
          </a:xfrm>
          <a:prstGeom prst="ellipse">
            <a:avLst/>
          </a:prstGeom>
          <a:solidFill>
            <a:schemeClr val="tx2"/>
          </a:solidFill>
          <a:ln/>
        </p:spPr>
      </p:sp>
      <p:sp>
        <p:nvSpPr>
          <p:cNvPr id="13" name="Text 11"/>
          <p:cNvSpPr txBox="1"/>
          <p:nvPr/>
        </p:nvSpPr>
        <p:spPr>
          <a:xfrm>
            <a:off x="457200" y="2953512"/>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960120" y="2916936"/>
            <a:ext cx="3611880" cy="548640"/>
          </a:xfrm>
          <a:prstGeom prst="rect">
            <a:avLst/>
          </a:prstGeom>
          <a:noFill/>
          <a:ln/>
        </p:spPr>
        <p:txBody>
          <a:bodyPr wrap="square" lIns="0" tIns="0" rIns="0" bIns="0" rtlCol="0" anchor="t"/>
          <a:lstStyle/>
          <a:p>
            <a:pPr indent="0" marL="0">
              <a:buNone/>
            </a:pPr>
            <a:r>
              <a:rPr lang="en-US" sz="1400" dirty="0">
                <a:solidFill>
                  <a:schemeClr val="tx1"/>
                </a:solidFill>
              </a:rPr>
              <a:t>Bấm </a:t>
            </a:r>
            <a:pPr indent="0" marL="0">
              <a:buNone/>
            </a:pPr>
            <a:r>
              <a:rPr lang="en-US" sz="1400" b="1" dirty="0">
                <a:solidFill>
                  <a:schemeClr val="tx1"/>
                </a:solidFill>
              </a:rPr>
              <a:t>Sao chép đường liên kết</a:t>
            </a:r>
            <a:pPr indent="0" marL="0">
              <a:buNone/>
            </a:pPr>
            <a:r>
              <a:rPr lang="en-US" sz="1400" dirty="0">
                <a:solidFill>
                  <a:schemeClr val="tx1"/>
                </a:solidFill>
              </a:rPr>
              <a:t> → Xong</a:t>
            </a:r>
            <a:endParaRPr lang="en-US" sz="1400" dirty="0"/>
          </a:p>
        </p:txBody>
      </p:sp>
      <p:sp>
        <p:nvSpPr>
          <p:cNvPr id="15" name="So 5"/>
          <p:cNvSpPr/>
          <p:nvPr/>
        </p:nvSpPr>
        <p:spPr>
          <a:xfrm>
            <a:off x="457200" y="3557016"/>
            <a:ext cx="365760" cy="365760"/>
          </a:xfrm>
          <a:prstGeom prst="ellipse">
            <a:avLst/>
          </a:prstGeom>
          <a:solidFill>
            <a:schemeClr val="tx2"/>
          </a:solidFill>
          <a:ln/>
        </p:spPr>
      </p:sp>
      <p:sp>
        <p:nvSpPr>
          <p:cNvPr id="16" name="Text 14"/>
          <p:cNvSpPr txBox="1"/>
          <p:nvPr/>
        </p:nvSpPr>
        <p:spPr>
          <a:xfrm>
            <a:off x="457200" y="3557016"/>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960120" y="3520440"/>
            <a:ext cx="3611880" cy="548640"/>
          </a:xfrm>
          <a:prstGeom prst="rect">
            <a:avLst/>
          </a:prstGeom>
          <a:noFill/>
          <a:ln/>
        </p:spPr>
        <p:txBody>
          <a:bodyPr wrap="square" lIns="0" tIns="0" rIns="0" bIns="0" rtlCol="0" anchor="t"/>
          <a:lstStyle/>
          <a:p>
            <a:pPr indent="0" marL="0">
              <a:buNone/>
            </a:pPr>
            <a:r>
              <a:rPr lang="en-US" sz="1400" dirty="0">
                <a:solidFill>
                  <a:schemeClr val="tx1"/>
                </a:solidFill>
              </a:rPr>
              <a:t>Dán link vào nội dung yêu cầu hỗ trợ</a:t>
            </a:r>
            <a:endParaRPr lang="en-US" sz="1400" dirty="0"/>
          </a:p>
        </p:txBody>
      </p:sp>
      <p:sp>
        <p:nvSpPr>
          <p:cNvPr id="18" name="Text 16"/>
          <p:cNvSpPr txBox="1"/>
          <p:nvPr/>
        </p:nvSpPr>
        <p:spPr>
          <a:xfrm>
            <a:off x="4846320" y="1097280"/>
            <a:ext cx="3840480" cy="274320"/>
          </a:xfrm>
          <a:prstGeom prst="rect">
            <a:avLst/>
          </a:prstGeom>
          <a:noFill/>
          <a:ln/>
        </p:spPr>
        <p:txBody>
          <a:bodyPr wrap="square" lIns="0" tIns="0" rIns="0" bIns="0" rtlCol="0" anchor="ctr"/>
          <a:lstStyle/>
          <a:p>
            <a:pPr indent="0" marL="0">
              <a:buNone/>
            </a:pPr>
            <a:r>
              <a:rPr lang="en-US" sz="1100" i="1" dirty="0">
                <a:solidFill>
                  <a:schemeClr val="accent5"/>
                </a:solidFill>
              </a:rPr>
              <a:t>Minh họa hộp thoại Chia sẻ của Google Drive</a:t>
            </a:r>
            <a:endParaRPr lang="en-US" sz="1100" dirty="0"/>
          </a:p>
        </p:txBody>
      </p:sp>
      <p:sp>
        <p:nvSpPr>
          <p:cNvPr id="19" name="Hop thoai chia se"/>
          <p:cNvSpPr/>
          <p:nvPr/>
        </p:nvSpPr>
        <p:spPr>
          <a:xfrm>
            <a:off x="4846320" y="1417320"/>
            <a:ext cx="3840480" cy="1965960"/>
          </a:xfrm>
          <a:prstGeom prst="roundRect">
            <a:avLst>
              <a:gd name="adj" fmla="val 4651"/>
            </a:avLst>
          </a:prstGeom>
          <a:solidFill>
            <a:schemeClr val="bg1"/>
          </a:solidFill>
          <a:ln w="12700">
            <a:solidFill>
              <a:schemeClr val="accent6"/>
            </a:solidFill>
            <a:prstDash val="solid"/>
          </a:ln>
          <a:effectLst>
            <a:outerShdw sx="100000" sy="100000" kx="0" ky="0" algn="bl" rotWithShape="0" blurRad="101600" dist="25400" dir="5400000">
              <a:srgbClr val="1B2A2F">
                <a:alpha val="20000"/>
              </a:srgbClr>
            </a:outerShdw>
          </a:effectLst>
        </p:spPr>
      </p:sp>
      <p:sp>
        <p:nvSpPr>
          <p:cNvPr id="20" name="Text 18"/>
          <p:cNvSpPr txBox="1"/>
          <p:nvPr/>
        </p:nvSpPr>
        <p:spPr>
          <a:xfrm>
            <a:off x="5029200" y="1527048"/>
            <a:ext cx="3474720" cy="320040"/>
          </a:xfrm>
          <a:prstGeom prst="rect">
            <a:avLst/>
          </a:prstGeom>
          <a:noFill/>
          <a:ln/>
        </p:spPr>
        <p:txBody>
          <a:bodyPr wrap="square" lIns="0" tIns="0" rIns="0" bIns="0" rtlCol="0" anchor="ctr"/>
          <a:lstStyle/>
          <a:p>
            <a:pPr indent="0" marL="0">
              <a:buNone/>
            </a:pPr>
            <a:r>
              <a:rPr lang="en-US" sz="1400" b="1" dirty="0">
                <a:solidFill>
                  <a:schemeClr val="tx1"/>
                </a:solidFill>
              </a:rPr>
              <a:t>Chia sẻ “anh-zoom-buoi2.jpg”</a:t>
            </a:r>
            <a:endParaRPr lang="en-US" sz="1400" dirty="0"/>
          </a:p>
        </p:txBody>
      </p:sp>
      <p:sp>
        <p:nvSpPr>
          <p:cNvPr id="21" name="Text 19"/>
          <p:cNvSpPr txBox="1"/>
          <p:nvPr/>
        </p:nvSpPr>
        <p:spPr>
          <a:xfrm>
            <a:off x="5029200" y="1920240"/>
            <a:ext cx="3474720" cy="228600"/>
          </a:xfrm>
          <a:prstGeom prst="rect">
            <a:avLst/>
          </a:prstGeom>
          <a:noFill/>
          <a:ln/>
        </p:spPr>
        <p:txBody>
          <a:bodyPr wrap="square" lIns="0" tIns="0" rIns="0" bIns="0" rtlCol="0" anchor="ctr"/>
          <a:lstStyle/>
          <a:p>
            <a:pPr indent="0" marL="0">
              <a:buNone/>
            </a:pPr>
            <a:r>
              <a:rPr lang="en-US" sz="1200" b="1" dirty="0">
                <a:solidFill>
                  <a:schemeClr val="tx1"/>
                </a:solidFill>
              </a:rPr>
              <a:t>Quyền truy cập chung</a:t>
            </a:r>
            <a:endParaRPr lang="en-US" sz="1200" dirty="0"/>
          </a:p>
        </p:txBody>
      </p:sp>
      <p:sp>
        <p:nvSpPr>
          <p:cNvPr id="22" name="Bieu tuong"/>
          <p:cNvSpPr/>
          <p:nvPr/>
        </p:nvSpPr>
        <p:spPr>
          <a:xfrm>
            <a:off x="5029200" y="2240280"/>
            <a:ext cx="329184" cy="329184"/>
          </a:xfrm>
          <a:prstGeom prst="ellipse">
            <a:avLst/>
          </a:prstGeom>
          <a:solidFill>
            <a:schemeClr val="accent1">
              <a:alpha val="30000"/>
            </a:schemeClr>
          </a:solidFill>
          <a:ln/>
        </p:spPr>
      </p:sp>
      <p:sp>
        <p:nvSpPr>
          <p:cNvPr id="23" name="Chon quyen"/>
          <p:cNvSpPr/>
          <p:nvPr/>
        </p:nvSpPr>
        <p:spPr>
          <a:xfrm>
            <a:off x="5449824" y="2212848"/>
            <a:ext cx="2331720" cy="329184"/>
          </a:xfrm>
          <a:prstGeom prst="roundRect">
            <a:avLst>
              <a:gd name="adj" fmla="val 13889"/>
            </a:avLst>
          </a:prstGeom>
          <a:solidFill>
            <a:schemeClr val="bg2"/>
          </a:solidFill>
          <a:ln w="25400">
            <a:solidFill>
              <a:schemeClr val="accent2"/>
            </a:solidFill>
            <a:prstDash val="solid"/>
          </a:ln>
        </p:spPr>
      </p:sp>
      <p:sp>
        <p:nvSpPr>
          <p:cNvPr id="24" name="Text 22"/>
          <p:cNvSpPr txBox="1"/>
          <p:nvPr/>
        </p:nvSpPr>
        <p:spPr>
          <a:xfrm>
            <a:off x="5504688" y="2212848"/>
            <a:ext cx="2240280" cy="329184"/>
          </a:xfrm>
          <a:prstGeom prst="rect">
            <a:avLst/>
          </a:prstGeom>
          <a:noFill/>
          <a:ln/>
        </p:spPr>
        <p:txBody>
          <a:bodyPr wrap="square" lIns="0" tIns="0" rIns="0" bIns="0" rtlCol="0" anchor="ctr"/>
          <a:lstStyle/>
          <a:p>
            <a:pPr indent="0" marL="0">
              <a:buNone/>
            </a:pPr>
            <a:r>
              <a:rPr lang="en-US" sz="1200" b="1" dirty="0">
                <a:solidFill>
                  <a:schemeClr val="tx1"/>
                </a:solidFill>
              </a:rPr>
              <a:t>Bất kỳ ai có đường liên kết ▾</a:t>
            </a:r>
            <a:endParaRPr lang="en-US" sz="1200" dirty="0"/>
          </a:p>
        </p:txBody>
      </p:sp>
      <p:sp>
        <p:nvSpPr>
          <p:cNvPr id="25" name="Text 23"/>
          <p:cNvSpPr txBox="1"/>
          <p:nvPr/>
        </p:nvSpPr>
        <p:spPr>
          <a:xfrm>
            <a:off x="7818120" y="2212848"/>
            <a:ext cx="822960" cy="329184"/>
          </a:xfrm>
          <a:prstGeom prst="rect">
            <a:avLst/>
          </a:prstGeom>
          <a:noFill/>
          <a:ln/>
        </p:spPr>
        <p:txBody>
          <a:bodyPr wrap="square" lIns="0" tIns="0" rIns="0" bIns="0" rtlCol="0" anchor="ctr"/>
          <a:lstStyle/>
          <a:p>
            <a:pPr indent="0" marL="0">
              <a:buNone/>
            </a:pPr>
            <a:r>
              <a:rPr lang="en-US" sz="1100" dirty="0">
                <a:solidFill>
                  <a:schemeClr val="tx1"/>
                </a:solidFill>
              </a:rPr>
              <a:t>Người xem ▾</a:t>
            </a:r>
            <a:endParaRPr lang="en-US" sz="1100" dirty="0"/>
          </a:p>
        </p:txBody>
      </p:sp>
      <p:sp>
        <p:nvSpPr>
          <p:cNvPr id="26" name="Text 24"/>
          <p:cNvSpPr txBox="1"/>
          <p:nvPr/>
        </p:nvSpPr>
        <p:spPr>
          <a:xfrm>
            <a:off x="5449824" y="2560320"/>
            <a:ext cx="3108960" cy="228600"/>
          </a:xfrm>
          <a:prstGeom prst="rect">
            <a:avLst/>
          </a:prstGeom>
          <a:noFill/>
          <a:ln/>
        </p:spPr>
        <p:txBody>
          <a:bodyPr wrap="square" lIns="0" tIns="0" rIns="0" bIns="0" rtlCol="0" anchor="ctr"/>
          <a:lstStyle/>
          <a:p>
            <a:pPr indent="0" marL="0">
              <a:buNone/>
            </a:pPr>
            <a:r>
              <a:rPr lang="en-US" sz="1000" dirty="0">
                <a:solidFill>
                  <a:schemeClr val="accent5"/>
                </a:solidFill>
              </a:rPr>
              <a:t>Bất kỳ ai có đường liên kết đều có thể xem</a:t>
            </a:r>
            <a:endParaRPr lang="en-US" sz="1000" dirty="0"/>
          </a:p>
        </p:txBody>
      </p:sp>
      <p:sp>
        <p:nvSpPr>
          <p:cNvPr id="27" name="Nut sao chep"/>
          <p:cNvSpPr/>
          <p:nvPr/>
        </p:nvSpPr>
        <p:spPr>
          <a:xfrm>
            <a:off x="5029200" y="2926080"/>
            <a:ext cx="1920240" cy="329184"/>
          </a:xfrm>
          <a:prstGeom prst="roundRect">
            <a:avLst>
              <a:gd name="adj" fmla="val 50000"/>
            </a:avLst>
          </a:prstGeom>
          <a:solidFill>
            <a:schemeClr val="bg1"/>
          </a:solidFill>
          <a:ln w="25400">
            <a:solidFill>
              <a:schemeClr val="accent2"/>
            </a:solidFill>
            <a:prstDash val="solid"/>
          </a:ln>
        </p:spPr>
      </p:sp>
      <p:sp>
        <p:nvSpPr>
          <p:cNvPr id="28" name="Text 26"/>
          <p:cNvSpPr txBox="1"/>
          <p:nvPr/>
        </p:nvSpPr>
        <p:spPr>
          <a:xfrm>
            <a:off x="5029200" y="2926080"/>
            <a:ext cx="1920240" cy="329184"/>
          </a:xfrm>
          <a:prstGeom prst="rect">
            <a:avLst/>
          </a:prstGeom>
          <a:noFill/>
          <a:ln/>
        </p:spPr>
        <p:txBody>
          <a:bodyPr wrap="square" lIns="0" tIns="0" rIns="0" bIns="0" rtlCol="0" anchor="ctr"/>
          <a:lstStyle/>
          <a:p>
            <a:pPr algn="ctr" indent="0" marL="0">
              <a:buNone/>
            </a:pPr>
            <a:r>
              <a:rPr lang="en-US" sz="1100" b="1" dirty="0">
                <a:solidFill>
                  <a:schemeClr val="tx2"/>
                </a:solidFill>
              </a:rPr>
              <a:t>Sao chép đường liên kết</a:t>
            </a:r>
            <a:endParaRPr lang="en-US" sz="1100" dirty="0"/>
          </a:p>
        </p:txBody>
      </p:sp>
      <p:sp>
        <p:nvSpPr>
          <p:cNvPr id="29" name="Nut xong"/>
          <p:cNvSpPr/>
          <p:nvPr/>
        </p:nvSpPr>
        <p:spPr>
          <a:xfrm>
            <a:off x="7772400" y="2926080"/>
            <a:ext cx="731520" cy="329184"/>
          </a:xfrm>
          <a:prstGeom prst="roundRect">
            <a:avLst>
              <a:gd name="adj" fmla="val 50000"/>
            </a:avLst>
          </a:prstGeom>
          <a:solidFill>
            <a:schemeClr val="tx2"/>
          </a:solidFill>
          <a:ln/>
        </p:spPr>
      </p:sp>
      <p:sp>
        <p:nvSpPr>
          <p:cNvPr id="30" name="Text 28"/>
          <p:cNvSpPr txBox="1"/>
          <p:nvPr/>
        </p:nvSpPr>
        <p:spPr>
          <a:xfrm>
            <a:off x="7772400" y="2926080"/>
            <a:ext cx="731520" cy="329184"/>
          </a:xfrm>
          <a:prstGeom prst="rect">
            <a:avLst/>
          </a:prstGeom>
          <a:noFill/>
          <a:ln/>
        </p:spPr>
        <p:txBody>
          <a:bodyPr wrap="square" lIns="0" tIns="0" rIns="0" bIns="0" rtlCol="0" anchor="ctr"/>
          <a:lstStyle/>
          <a:p>
            <a:pPr algn="ctr" indent="0" marL="0">
              <a:buNone/>
            </a:pPr>
            <a:r>
              <a:rPr lang="en-US" sz="1100" b="1" dirty="0">
                <a:solidFill>
                  <a:schemeClr val="bg1"/>
                </a:solidFill>
              </a:rPr>
              <a:t>Xong</a:t>
            </a:r>
            <a:endParaRPr lang="en-US" sz="1100" dirty="0"/>
          </a:p>
        </p:txBody>
      </p:sp>
      <p:sp>
        <p:nvSpPr>
          <p:cNvPr id="31" name="Luu y chia se"/>
          <p:cNvSpPr/>
          <p:nvPr/>
        </p:nvSpPr>
        <p:spPr>
          <a:xfrm>
            <a:off x="4846320" y="3566160"/>
            <a:ext cx="3840480" cy="960120"/>
          </a:xfrm>
          <a:prstGeom prst="roundRect">
            <a:avLst>
              <a:gd name="adj" fmla="val 7619"/>
            </a:avLst>
          </a:prstGeom>
          <a:solidFill>
            <a:schemeClr val="accent2">
              <a:alpha val="18000"/>
            </a:schemeClr>
          </a:solidFill>
          <a:ln/>
        </p:spPr>
      </p:sp>
      <p:sp>
        <p:nvSpPr>
          <p:cNvPr id="32" name="Text 30"/>
          <p:cNvSpPr txBox="1"/>
          <p:nvPr/>
        </p:nvSpPr>
        <p:spPr>
          <a:xfrm>
            <a:off x="4983480" y="3566160"/>
            <a:ext cx="3566160" cy="960120"/>
          </a:xfrm>
          <a:prstGeom prst="rect">
            <a:avLst/>
          </a:prstGeom>
          <a:noFill/>
          <a:ln/>
        </p:spPr>
        <p:txBody>
          <a:bodyPr wrap="square" lIns="0" tIns="0" rIns="0" bIns="0" rtlCol="0" anchor="ctr"/>
          <a:lstStyle/>
          <a:p>
            <a:pPr indent="0" marL="0">
              <a:buNone/>
            </a:pPr>
            <a:r>
              <a:rPr lang="en-US" sz="1200" b="1" dirty="0">
                <a:solidFill>
                  <a:schemeClr val="tx1"/>
                </a:solidFill>
              </a:rPr>
              <a:t>Để “Bị hạn chế” thì người hỗ trợ không mở được ảnh.</a:t>
            </a:r>
            <a:endParaRPr lang="en-US" sz="1200" dirty="0"/>
          </a:p>
          <a:p>
            <a:pPr indent="0" marL="0">
              <a:buNone/>
            </a:pPr>
            <a:r>
              <a:rPr lang="en-US" sz="1200" dirty="0">
                <a:solidFill>
                  <a:schemeClr val="tx1"/>
                </a:solidFill>
              </a:rPr>
              <a:t>Tự kiểm tra: mở link trong tab ẩn danh. Xử lý xong có thể đổi lại “Bị hạn chế”.</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Cách 2 – Gửi trên cổng, mục Hỗ trợ</a:t>
            </a:r>
            <a:endParaRPr lang="en-US" sz="2800" dirty="0"/>
          </a:p>
        </p:txBody>
      </p:sp>
      <p:sp>
        <p:nvSpPr>
          <p:cNvPr id="3" name="So 1"/>
          <p:cNvSpPr/>
          <p:nvPr/>
        </p:nvSpPr>
        <p:spPr>
          <a:xfrm>
            <a:off x="457200" y="1143000"/>
            <a:ext cx="365760" cy="365760"/>
          </a:xfrm>
          <a:prstGeom prst="ellipse">
            <a:avLst/>
          </a:prstGeom>
          <a:solidFill>
            <a:schemeClr val="tx2"/>
          </a:solidFill>
          <a:ln/>
        </p:spPr>
      </p:sp>
      <p:sp>
        <p:nvSpPr>
          <p:cNvPr id="4" name="Text 2"/>
          <p:cNvSpPr txBox="1"/>
          <p:nvPr/>
        </p:nvSpPr>
        <p:spPr>
          <a:xfrm>
            <a:off x="457200" y="114300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960120" y="1106424"/>
            <a:ext cx="4343400" cy="658368"/>
          </a:xfrm>
          <a:prstGeom prst="rect">
            <a:avLst/>
          </a:prstGeom>
          <a:noFill/>
          <a:ln/>
        </p:spPr>
        <p:txBody>
          <a:bodyPr wrap="square" lIns="0" tIns="0" rIns="0" bIns="0" rtlCol="0" anchor="t"/>
          <a:lstStyle/>
          <a:p>
            <a:pPr indent="0" marL="0">
              <a:buNone/>
            </a:pPr>
            <a:r>
              <a:rPr lang="en-US" sz="1400" dirty="0">
                <a:solidFill>
                  <a:schemeClr val="tx1"/>
                </a:solidFill>
              </a:rPr>
              <a:t>Bấm menu </a:t>
            </a:r>
            <a:pPr indent="0" marL="0">
              <a:buNone/>
            </a:pPr>
            <a:r>
              <a:rPr lang="en-US" sz="1400" b="1" dirty="0">
                <a:solidFill>
                  <a:schemeClr val="tx1"/>
                </a:solidFill>
              </a:rPr>
              <a:t>☰</a:t>
            </a:r>
            <a:pPr indent="0" marL="0">
              <a:buNone/>
            </a:pPr>
            <a:r>
              <a:rPr lang="en-US" sz="1400" dirty="0">
                <a:solidFill>
                  <a:schemeClr val="tx1"/>
                </a:solidFill>
              </a:rPr>
              <a:t> → </a:t>
            </a:r>
            <a:pPr indent="0" marL="0">
              <a:buNone/>
            </a:pPr>
            <a:r>
              <a:rPr lang="en-US" sz="1400" b="1" dirty="0">
                <a:solidFill>
                  <a:schemeClr val="tx1"/>
                </a:solidFill>
              </a:rPr>
              <a:t>Hỗ trợ</a:t>
            </a:r>
            <a:endParaRPr lang="en-US" sz="1400" dirty="0"/>
          </a:p>
        </p:txBody>
      </p:sp>
      <p:sp>
        <p:nvSpPr>
          <p:cNvPr id="6" name="So 2"/>
          <p:cNvSpPr/>
          <p:nvPr/>
        </p:nvSpPr>
        <p:spPr>
          <a:xfrm>
            <a:off x="457200" y="1856232"/>
            <a:ext cx="365760" cy="365760"/>
          </a:xfrm>
          <a:prstGeom prst="ellipse">
            <a:avLst/>
          </a:prstGeom>
          <a:solidFill>
            <a:schemeClr val="tx2"/>
          </a:solidFill>
          <a:ln/>
        </p:spPr>
      </p:sp>
      <p:sp>
        <p:nvSpPr>
          <p:cNvPr id="7" name="Text 5"/>
          <p:cNvSpPr txBox="1"/>
          <p:nvPr/>
        </p:nvSpPr>
        <p:spPr>
          <a:xfrm>
            <a:off x="457200" y="1856232"/>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960120" y="1819656"/>
            <a:ext cx="4343400" cy="658368"/>
          </a:xfrm>
          <a:prstGeom prst="rect">
            <a:avLst/>
          </a:prstGeom>
          <a:noFill/>
          <a:ln/>
        </p:spPr>
        <p:txBody>
          <a:bodyPr wrap="square" lIns="0" tIns="0" rIns="0" bIns="0" rtlCol="0" anchor="t"/>
          <a:lstStyle/>
          <a:p>
            <a:pPr indent="0" marL="0">
              <a:buNone/>
            </a:pPr>
            <a:r>
              <a:rPr lang="en-US" sz="1400" dirty="0">
                <a:solidFill>
                  <a:schemeClr val="tx1"/>
                </a:solidFill>
              </a:rPr>
              <a:t>Ô “Vấn đề Thầy/Cô đang gặp”: gõ </a:t>
            </a:r>
            <a:pPr indent="0" marL="0">
              <a:buNone/>
            </a:pPr>
            <a:r>
              <a:rPr lang="en-US" sz="1400" b="1" dirty="0">
                <a:solidFill>
                  <a:schemeClr val="tx1"/>
                </a:solidFill>
              </a:rPr>
              <a:t>khác</a:t>
            </a:r>
            <a:pPr indent="0" marL="0">
              <a:buNone/>
            </a:pPr>
            <a:r>
              <a:rPr lang="en-US" sz="1400" dirty="0">
                <a:solidFill>
                  <a:schemeClr val="tx1"/>
                </a:solidFill>
              </a:rPr>
              <a:t> → chọn </a:t>
            </a:r>
            <a:pPr indent="0" marL="0">
              <a:buNone/>
            </a:pPr>
            <a:r>
              <a:rPr lang="en-US" sz="1400" b="1" dirty="0">
                <a:solidFill>
                  <a:schemeClr val="tx1"/>
                </a:solidFill>
              </a:rPr>
              <a:t>Vấn đề khác</a:t>
            </a:r>
            <a:endParaRPr lang="en-US" sz="1400" dirty="0"/>
          </a:p>
        </p:txBody>
      </p:sp>
      <p:sp>
        <p:nvSpPr>
          <p:cNvPr id="9" name="So 3"/>
          <p:cNvSpPr/>
          <p:nvPr/>
        </p:nvSpPr>
        <p:spPr>
          <a:xfrm>
            <a:off x="457200" y="2569464"/>
            <a:ext cx="365760" cy="365760"/>
          </a:xfrm>
          <a:prstGeom prst="ellipse">
            <a:avLst/>
          </a:prstGeom>
          <a:solidFill>
            <a:schemeClr val="tx2"/>
          </a:solidFill>
          <a:ln/>
        </p:spPr>
      </p:sp>
      <p:sp>
        <p:nvSpPr>
          <p:cNvPr id="10" name="Text 8"/>
          <p:cNvSpPr txBox="1"/>
          <p:nvPr/>
        </p:nvSpPr>
        <p:spPr>
          <a:xfrm>
            <a:off x="457200" y="2569464"/>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960120" y="2532888"/>
            <a:ext cx="4343400" cy="658368"/>
          </a:xfrm>
          <a:prstGeom prst="rect">
            <a:avLst/>
          </a:prstGeom>
          <a:noFill/>
          <a:ln/>
        </p:spPr>
        <p:txBody>
          <a:bodyPr wrap="square" lIns="0" tIns="0" rIns="0" bIns="0" rtlCol="0" anchor="t"/>
          <a:lstStyle/>
          <a:p>
            <a:pPr indent="0" marL="0">
              <a:buNone/>
            </a:pPr>
            <a:r>
              <a:rPr lang="en-US" sz="1400" dirty="0">
                <a:solidFill>
                  <a:schemeClr val="tx1"/>
                </a:solidFill>
              </a:rPr>
              <a:t>Ghi </a:t>
            </a:r>
            <a:pPr indent="0" marL="0">
              <a:buNone/>
            </a:pPr>
            <a:r>
              <a:rPr lang="en-US" sz="1400" b="1" dirty="0">
                <a:solidFill>
                  <a:schemeClr val="tx1"/>
                </a:solidFill>
              </a:rPr>
              <a:t>lớp – GĐ – buổi – ngày</a:t>
            </a:r>
            <a:pPr indent="0" marL="0">
              <a:buNone/>
            </a:pPr>
            <a:r>
              <a:rPr lang="en-US" sz="1400" dirty="0">
                <a:solidFill>
                  <a:schemeClr val="tx1"/>
                </a:solidFill>
              </a:rPr>
              <a:t>, việc đã xảy ra, rồi </a:t>
            </a:r>
            <a:pPr indent="0" marL="0">
              <a:buNone/>
            </a:pPr>
            <a:r>
              <a:rPr lang="en-US" sz="1400" b="1" dirty="0">
                <a:solidFill>
                  <a:schemeClr val="tx1"/>
                </a:solidFill>
              </a:rPr>
              <a:t>dán link Drive</a:t>
            </a:r>
            <a:endParaRPr lang="en-US" sz="1400" dirty="0"/>
          </a:p>
        </p:txBody>
      </p:sp>
      <p:sp>
        <p:nvSpPr>
          <p:cNvPr id="12" name="So 4"/>
          <p:cNvSpPr/>
          <p:nvPr/>
        </p:nvSpPr>
        <p:spPr>
          <a:xfrm>
            <a:off x="457200" y="3282696"/>
            <a:ext cx="365760" cy="365760"/>
          </a:xfrm>
          <a:prstGeom prst="ellipse">
            <a:avLst/>
          </a:prstGeom>
          <a:solidFill>
            <a:schemeClr val="tx2"/>
          </a:solidFill>
          <a:ln/>
        </p:spPr>
      </p:sp>
      <p:sp>
        <p:nvSpPr>
          <p:cNvPr id="13" name="Text 11"/>
          <p:cNvSpPr txBox="1"/>
          <p:nvPr/>
        </p:nvSpPr>
        <p:spPr>
          <a:xfrm>
            <a:off x="457200" y="3282696"/>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960120" y="3246120"/>
            <a:ext cx="4343400" cy="658368"/>
          </a:xfrm>
          <a:prstGeom prst="rect">
            <a:avLst/>
          </a:prstGeom>
          <a:noFill/>
          <a:ln/>
        </p:spPr>
        <p:txBody>
          <a:bodyPr wrap="square" lIns="0" tIns="0" rIns="0" bIns="0" rtlCol="0" anchor="t"/>
          <a:lstStyle/>
          <a:p>
            <a:pPr indent="0" marL="0">
              <a:buNone/>
            </a:pPr>
            <a:r>
              <a:rPr lang="en-US" sz="1400" dirty="0">
                <a:solidFill>
                  <a:schemeClr val="tx1"/>
                </a:solidFill>
              </a:rPr>
              <a:t>Bấm </a:t>
            </a:r>
            <a:pPr indent="0" marL="0">
              <a:buNone/>
            </a:pPr>
            <a:r>
              <a:rPr lang="en-US" sz="1400" b="1" dirty="0">
                <a:solidFill>
                  <a:schemeClr val="tx1"/>
                </a:solidFill>
              </a:rPr>
              <a:t>Gửi yêu cầu</a:t>
            </a:r>
            <a:pPr indent="0" marL="0">
              <a:buNone/>
            </a:pPr>
            <a:r>
              <a:rPr lang="en-US" sz="1400" dirty="0">
                <a:solidFill>
                  <a:schemeClr val="tx1"/>
                </a:solidFill>
              </a:rPr>
              <a:t> – câu trả lời hiện ngay dưới trang Hỗ trợ</a:t>
            </a:r>
            <a:endParaRPr lang="en-US" sz="1400" dirty="0"/>
          </a:p>
        </p:txBody>
      </p:sp>
      <p:sp>
        <p:nvSpPr>
          <p:cNvPr id="15" name="Khung hv-yeu-cau"/>
          <p:cNvSpPr/>
          <p:nvPr/>
        </p:nvSpPr>
        <p:spPr>
          <a:xfrm>
            <a:off x="6108192" y="1033272"/>
            <a:ext cx="2505456" cy="3358896"/>
          </a:xfrm>
          <a:prstGeom prst="roundRect">
            <a:avLst>
              <a:gd name="adj" fmla="val 4380"/>
            </a:avLst>
          </a:prstGeom>
          <a:solidFill>
            <a:schemeClr val="tx1"/>
          </a:solidFill>
          <a:ln/>
          <a:effectLst>
            <a:outerShdw sx="100000" sy="100000" kx="0" ky="0" algn="bl" rotWithShape="0" blurRad="76200" dist="25400" dir="5400000">
              <a:srgbClr val="1B2A2F">
                <a:alpha val="25000"/>
              </a:srgbClr>
            </a:outerShdw>
          </a:effectLst>
        </p:spPr>
      </p:sp>
      <p:pic>
        <p:nvPicPr>
          <p:cNvPr id="16" name="Anh hv-yeu-cau" descr="Trang Yêu cầu hỗ trợ đã chọn Vấn đề khác và dán link Google Drive">    </p:cNvPr>
          <p:cNvPicPr>
            <a:picLocks noChangeAspect="1"/>
          </p:cNvPicPr>
          <p:nvPr/>
        </p:nvPicPr>
        <p:blipFill>
          <a:blip r:embed="rId1"/>
          <a:stretch>
            <a:fillRect/>
          </a:stretch>
        </p:blipFill>
        <p:spPr>
          <a:xfrm>
            <a:off x="6172200" y="1097280"/>
            <a:ext cx="2377440" cy="3230880"/>
          </a:xfrm>
          <a:prstGeom prst="rect">
            <a:avLst/>
          </a:prstGeom>
        </p:spPr>
      </p:pic>
      <p:sp>
        <p:nvSpPr>
          <p:cNvPr id="17" name="So 2"/>
          <p:cNvSpPr/>
          <p:nvPr/>
        </p:nvSpPr>
        <p:spPr>
          <a:xfrm>
            <a:off x="5751576" y="2340254"/>
            <a:ext cx="292608" cy="292608"/>
          </a:xfrm>
          <a:prstGeom prst="ellipse">
            <a:avLst/>
          </a:prstGeom>
          <a:solidFill>
            <a:schemeClr val="accent2"/>
          </a:solidFill>
          <a:ln/>
        </p:spPr>
      </p:sp>
      <p:sp>
        <p:nvSpPr>
          <p:cNvPr id="18" name="Text 15"/>
          <p:cNvSpPr txBox="1"/>
          <p:nvPr/>
        </p:nvSpPr>
        <p:spPr>
          <a:xfrm>
            <a:off x="5751576" y="2340254"/>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So 3"/>
          <p:cNvSpPr/>
          <p:nvPr/>
        </p:nvSpPr>
        <p:spPr>
          <a:xfrm>
            <a:off x="5751576" y="3277210"/>
            <a:ext cx="292608" cy="292608"/>
          </a:xfrm>
          <a:prstGeom prst="ellipse">
            <a:avLst/>
          </a:prstGeom>
          <a:solidFill>
            <a:schemeClr val="accent2"/>
          </a:solidFill>
          <a:ln/>
        </p:spPr>
      </p:sp>
      <p:sp>
        <p:nvSpPr>
          <p:cNvPr id="20" name="Text 17"/>
          <p:cNvSpPr txBox="1"/>
          <p:nvPr/>
        </p:nvSpPr>
        <p:spPr>
          <a:xfrm>
            <a:off x="5751576" y="3277210"/>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So 4"/>
          <p:cNvSpPr/>
          <p:nvPr/>
        </p:nvSpPr>
        <p:spPr>
          <a:xfrm>
            <a:off x="5751576" y="3923386"/>
            <a:ext cx="292608" cy="292608"/>
          </a:xfrm>
          <a:prstGeom prst="ellipse">
            <a:avLst/>
          </a:prstGeom>
          <a:solidFill>
            <a:schemeClr val="accent2"/>
          </a:solidFill>
          <a:ln/>
        </p:spPr>
      </p:sp>
      <p:sp>
        <p:nvSpPr>
          <p:cNvPr id="22" name="Text 19"/>
          <p:cNvSpPr txBox="1"/>
          <p:nvPr/>
        </p:nvSpPr>
        <p:spPr>
          <a:xfrm>
            <a:off x="5751576" y="3923386"/>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Bước 4 – Xem lại kết quả trên trang Lớp học</a:t>
            </a:r>
            <a:endParaRPr lang="en-US" sz="2800" dirty="0"/>
          </a:p>
        </p:txBody>
      </p:sp>
      <p:sp>
        <p:nvSpPr>
          <p:cNvPr id="3" name="Text 1"/>
          <p:cNvSpPr txBox="1"/>
          <p:nvPr/>
        </p:nvSpPr>
        <p:spPr>
          <a:xfrm>
            <a:off x="457200" y="1143000"/>
            <a:ext cx="3566160" cy="320040"/>
          </a:xfrm>
          <a:prstGeom prst="rect">
            <a:avLst/>
          </a:prstGeom>
          <a:noFill/>
          <a:ln/>
        </p:spPr>
        <p:txBody>
          <a:bodyPr wrap="square" lIns="0" tIns="0" rIns="0" bIns="0" rtlCol="0" anchor="ctr"/>
          <a:lstStyle/>
          <a:p>
            <a:pPr indent="0" marL="0">
              <a:buNone/>
            </a:pPr>
            <a:r>
              <a:rPr lang="en-US" sz="1500" b="1" dirty="0">
                <a:solidFill>
                  <a:schemeClr val="accent3"/>
                </a:solidFill>
              </a:rPr>
              <a:t>Trước</a:t>
            </a:r>
            <a:endParaRPr lang="en-US" sz="1500" dirty="0"/>
          </a:p>
        </p:txBody>
      </p:sp>
      <p:sp>
        <p:nvSpPr>
          <p:cNvPr id="4" name="Khung hv-buoi2-truoc"/>
          <p:cNvSpPr/>
          <p:nvPr/>
        </p:nvSpPr>
        <p:spPr>
          <a:xfrm>
            <a:off x="466344" y="1517904"/>
            <a:ext cx="3547872" cy="1414272"/>
          </a:xfrm>
          <a:prstGeom prst="roundRect">
            <a:avLst>
              <a:gd name="adj" fmla="val 3879"/>
            </a:avLst>
          </a:prstGeom>
          <a:solidFill>
            <a:schemeClr val="bg1"/>
          </a:solidFill>
          <a:ln w="12700">
            <a:solidFill>
              <a:schemeClr val="accent6"/>
            </a:solidFill>
            <a:prstDash val="solid"/>
          </a:ln>
        </p:spPr>
      </p:sp>
      <p:pic>
        <p:nvPicPr>
          <p:cNvPr id="5" name="Anh hv-buoi2-truoc" descr="Buổi 2 hiện nhãn Vắng">    </p:cNvPr>
          <p:cNvPicPr>
            <a:picLocks noChangeAspect="1"/>
          </p:cNvPicPr>
          <p:nvPr/>
        </p:nvPicPr>
        <p:blipFill>
          <a:blip r:embed="rId1"/>
          <a:stretch>
            <a:fillRect/>
          </a:stretch>
        </p:blipFill>
        <p:spPr>
          <a:xfrm>
            <a:off x="502920" y="1554480"/>
            <a:ext cx="3474720" cy="1341120"/>
          </a:xfrm>
          <a:prstGeom prst="rect">
            <a:avLst/>
          </a:prstGeom>
        </p:spPr>
      </p:pic>
      <p:sp>
        <p:nvSpPr>
          <p:cNvPr id="6" name="Mui ten"/>
          <p:cNvSpPr/>
          <p:nvPr/>
        </p:nvSpPr>
        <p:spPr>
          <a:xfrm>
            <a:off x="4206240" y="2103120"/>
            <a:ext cx="640080" cy="274320"/>
          </a:xfrm>
          <a:prstGeom prst="rightArrow">
            <a:avLst/>
          </a:prstGeom>
          <a:solidFill>
            <a:schemeClr val="accent6"/>
          </a:solidFill>
          <a:ln/>
        </p:spPr>
      </p:sp>
      <p:sp>
        <p:nvSpPr>
          <p:cNvPr id="7" name="Text 4"/>
          <p:cNvSpPr txBox="1"/>
          <p:nvPr/>
        </p:nvSpPr>
        <p:spPr>
          <a:xfrm>
            <a:off x="5074920" y="1143000"/>
            <a:ext cx="3611880" cy="320040"/>
          </a:xfrm>
          <a:prstGeom prst="rect">
            <a:avLst/>
          </a:prstGeom>
          <a:noFill/>
          <a:ln/>
        </p:spPr>
        <p:txBody>
          <a:bodyPr wrap="square" lIns="0" tIns="0" rIns="0" bIns="0" rtlCol="0" anchor="ctr"/>
          <a:lstStyle/>
          <a:p>
            <a:pPr indent="0" marL="0">
              <a:buNone/>
            </a:pPr>
            <a:r>
              <a:rPr lang="en-US" sz="1500" b="1" dirty="0">
                <a:solidFill>
                  <a:schemeClr val="accent1"/>
                </a:solidFill>
              </a:rPr>
              <a:t>Sau khi người hỗ trợ bổ sung</a:t>
            </a:r>
            <a:endParaRPr lang="en-US" sz="1500" dirty="0"/>
          </a:p>
        </p:txBody>
      </p:sp>
      <p:sp>
        <p:nvSpPr>
          <p:cNvPr id="8" name="Khung hv-buoi2-sau"/>
          <p:cNvSpPr/>
          <p:nvPr/>
        </p:nvSpPr>
        <p:spPr>
          <a:xfrm>
            <a:off x="5084064" y="1517904"/>
            <a:ext cx="3593592" cy="1266521"/>
          </a:xfrm>
          <a:prstGeom prst="roundRect">
            <a:avLst>
              <a:gd name="adj" fmla="val 4332"/>
            </a:avLst>
          </a:prstGeom>
          <a:solidFill>
            <a:schemeClr val="bg1"/>
          </a:solidFill>
          <a:ln w="12700">
            <a:solidFill>
              <a:schemeClr val="accent6"/>
            </a:solidFill>
            <a:prstDash val="solid"/>
          </a:ln>
        </p:spPr>
      </p:sp>
      <p:pic>
        <p:nvPicPr>
          <p:cNvPr id="9" name="Anh hv-buoi2-sau" descr="Buổi 2 hiện nhãn Có mặt">    </p:cNvPr>
          <p:cNvPicPr>
            <a:picLocks noChangeAspect="1"/>
          </p:cNvPicPr>
          <p:nvPr/>
        </p:nvPicPr>
        <p:blipFill>
          <a:blip r:embed="rId2"/>
          <a:stretch>
            <a:fillRect/>
          </a:stretch>
        </p:blipFill>
        <p:spPr>
          <a:xfrm>
            <a:off x="5120640" y="1554480"/>
            <a:ext cx="3520440" cy="1193369"/>
          </a:xfrm>
          <a:prstGeom prst="rect">
            <a:avLst/>
          </a:prstGeom>
        </p:spPr>
      </p:pic>
      <p:sp>
        <p:nvSpPr>
          <p:cNvPr id="10" name="Luu y thoi gian"/>
          <p:cNvSpPr/>
          <p:nvPr/>
        </p:nvSpPr>
        <p:spPr>
          <a:xfrm>
            <a:off x="457200" y="3291840"/>
            <a:ext cx="8229600" cy="1188720"/>
          </a:xfrm>
          <a:prstGeom prst="roundRect">
            <a:avLst>
              <a:gd name="adj" fmla="val 6154"/>
            </a:avLst>
          </a:prstGeom>
          <a:solidFill>
            <a:schemeClr val="bg2"/>
          </a:solidFill>
          <a:ln/>
        </p:spPr>
      </p:sp>
      <p:sp>
        <p:nvSpPr>
          <p:cNvPr id="11" name="Text 7"/>
          <p:cNvSpPr txBox="1"/>
          <p:nvPr/>
        </p:nvSpPr>
        <p:spPr>
          <a:xfrm>
            <a:off x="640080" y="3291840"/>
            <a:ext cx="7863840" cy="1188720"/>
          </a:xfrm>
          <a:prstGeom prst="rect">
            <a:avLst/>
          </a:prstGeom>
          <a:noFill/>
          <a:ln/>
        </p:spPr>
        <p:txBody>
          <a:bodyPr wrap="square" lIns="0" tIns="0" rIns="0" bIns="0" rtlCol="0" anchor="ctr"/>
          <a:lstStyle/>
          <a:p>
            <a:pPr indent="0" marL="0">
              <a:spcAft>
                <a:spcPts val="600"/>
              </a:spcAft>
              <a:buNone/>
            </a:pPr>
            <a:r>
              <a:rPr lang="en-US" sz="1400" b="1" dirty="0">
                <a:solidFill>
                  <a:schemeClr val="tx1"/>
                </a:solidFill>
              </a:rPr>
              <a:t>Không giới hạn thời gian đề nghị, </a:t>
            </a:r>
            <a:pPr indent="0" marL="0">
              <a:spcAft>
                <a:spcPts val="600"/>
              </a:spcAft>
              <a:buNone/>
            </a:pPr>
            <a:r>
              <a:rPr lang="en-US" sz="1400" dirty="0">
                <a:solidFill>
                  <a:schemeClr val="tx1"/>
                </a:solidFill>
              </a:rPr>
              <a:t>nhưng nên gửi sớm (trong tuần học) để dễ đối chiếu với giảng viên.</a:t>
            </a:r>
            <a:endParaRPr lang="en-US" sz="1400" dirty="0"/>
          </a:p>
          <a:p>
            <a:pPr indent="0" marL="0">
              <a:spcAft>
                <a:spcPts val="600"/>
              </a:spcAft>
              <a:buNone/>
            </a:pPr>
            <a:r>
              <a:rPr lang="en-US" sz="1400" b="1" dirty="0">
                <a:solidFill>
                  <a:schemeClr val="tx1"/>
                </a:solidFill>
              </a:rPr>
              <a:t>Chưa thấy nhãn đổi sau vài ngày làm việc? </a:t>
            </a:r>
            <a:pPr indent="0" marL="0">
              <a:spcAft>
                <a:spcPts val="600"/>
              </a:spcAft>
              <a:buNone/>
            </a:pPr>
            <a:r>
              <a:rPr lang="en-US" sz="1400" dirty="0">
                <a:solidFill>
                  <a:schemeClr val="tx1"/>
                </a:solidFill>
              </a:rPr>
              <a:t>Nhắn lại người hỗ trợ, nêu ngày đã gửi đề nghị.</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bg1"/>
                </a:solidFill>
              </a:rPr>
              <a:t>Để không phải bổ sung lần sau</a:t>
            </a:r>
            <a:endParaRPr lang="en-US" sz="2800" dirty="0"/>
          </a:p>
        </p:txBody>
      </p:sp>
      <p:sp>
        <p:nvSpPr>
          <p:cNvPr id="3" name="So 1"/>
          <p:cNvSpPr/>
          <p:nvPr/>
        </p:nvSpPr>
        <p:spPr>
          <a:xfrm>
            <a:off x="457200" y="1188720"/>
            <a:ext cx="384048" cy="384048"/>
          </a:xfrm>
          <a:prstGeom prst="ellipse">
            <a:avLst/>
          </a:prstGeom>
          <a:solidFill>
            <a:schemeClr val="accent6"/>
          </a:solidFill>
          <a:ln/>
        </p:spPr>
      </p:sp>
      <p:sp>
        <p:nvSpPr>
          <p:cNvPr id="4" name="Text 2"/>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005840" y="1170432"/>
            <a:ext cx="3383280" cy="411480"/>
          </a:xfrm>
          <a:prstGeom prst="rect">
            <a:avLst/>
          </a:prstGeom>
          <a:noFill/>
          <a:ln/>
        </p:spPr>
        <p:txBody>
          <a:bodyPr wrap="square" lIns="0" tIns="0" rIns="0" bIns="0" rtlCol="0" anchor="t"/>
          <a:lstStyle/>
          <a:p>
            <a:pPr indent="0" marL="0">
              <a:buNone/>
            </a:pPr>
            <a:r>
              <a:rPr lang="en-US" sz="1700" b="1" dirty="0">
                <a:solidFill>
                  <a:schemeClr val="bg1"/>
                </a:solidFill>
              </a:rPr>
              <a:t>Bấm đúng nút, đúng buổi</a:t>
            </a:r>
            <a:endParaRPr lang="en-US" sz="1700" dirty="0"/>
          </a:p>
        </p:txBody>
      </p:sp>
      <p:sp>
        <p:nvSpPr>
          <p:cNvPr id="6" name="Text 4"/>
          <p:cNvSpPr txBox="1"/>
          <p:nvPr/>
        </p:nvSpPr>
        <p:spPr>
          <a:xfrm>
            <a:off x="1005840" y="1600200"/>
            <a:ext cx="3383280" cy="1005840"/>
          </a:xfrm>
          <a:prstGeom prst="rect">
            <a:avLst/>
          </a:prstGeom>
          <a:noFill/>
          <a:ln/>
        </p:spPr>
        <p:txBody>
          <a:bodyPr wrap="square" lIns="0" tIns="0" rIns="0" bIns="0" rtlCol="0" anchor="t"/>
          <a:lstStyle/>
          <a:p>
            <a:pPr indent="0" marL="0">
              <a:buNone/>
            </a:pPr>
            <a:r>
              <a:rPr lang="en-US" sz="1400" dirty="0">
                <a:solidFill>
                  <a:schemeClr val="bg2"/>
                </a:solidFill>
              </a:rPr>
              <a:t>Mỗi buổi Zoom bấm “Điểm danh &amp; vào Zoom” của chính buổi đó, trong khung giờ mở điểm danh</a:t>
            </a:r>
            <a:endParaRPr lang="en-US" sz="1400" dirty="0"/>
          </a:p>
        </p:txBody>
      </p:sp>
      <p:sp>
        <p:nvSpPr>
          <p:cNvPr id="7" name="So 2"/>
          <p:cNvSpPr/>
          <p:nvPr/>
        </p:nvSpPr>
        <p:spPr>
          <a:xfrm>
            <a:off x="4663440" y="1188720"/>
            <a:ext cx="384048" cy="384048"/>
          </a:xfrm>
          <a:prstGeom prst="ellipse">
            <a:avLst/>
          </a:prstGeom>
          <a:solidFill>
            <a:schemeClr val="accent6"/>
          </a:solidFill>
          <a:ln/>
        </p:spPr>
      </p:sp>
      <p:sp>
        <p:nvSpPr>
          <p:cNvPr id="8" name="Text 6"/>
          <p:cNvSpPr txBox="1"/>
          <p:nvPr/>
        </p:nvSpPr>
        <p:spPr>
          <a:xfrm>
            <a:off x="4663440" y="118872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5212080" y="1170432"/>
            <a:ext cx="3383280" cy="411480"/>
          </a:xfrm>
          <a:prstGeom prst="rect">
            <a:avLst/>
          </a:prstGeom>
          <a:noFill/>
          <a:ln/>
        </p:spPr>
        <p:txBody>
          <a:bodyPr wrap="square" lIns="0" tIns="0" rIns="0" bIns="0" rtlCol="0" anchor="t"/>
          <a:lstStyle/>
          <a:p>
            <a:pPr indent="0" marL="0">
              <a:buNone/>
            </a:pPr>
            <a:r>
              <a:rPr lang="en-US" sz="1700" b="1" dirty="0">
                <a:solidFill>
                  <a:schemeClr val="bg1"/>
                </a:solidFill>
              </a:rPr>
              <a:t>Không dùng link khác</a:t>
            </a:r>
            <a:endParaRPr lang="en-US" sz="1700" dirty="0"/>
          </a:p>
        </p:txBody>
      </p:sp>
      <p:sp>
        <p:nvSpPr>
          <p:cNvPr id="10" name="Text 8"/>
          <p:cNvSpPr txBox="1"/>
          <p:nvPr/>
        </p:nvSpPr>
        <p:spPr>
          <a:xfrm>
            <a:off x="5212080" y="1600200"/>
            <a:ext cx="3383280" cy="1005840"/>
          </a:xfrm>
          <a:prstGeom prst="rect">
            <a:avLst/>
          </a:prstGeom>
          <a:noFill/>
          <a:ln/>
        </p:spPr>
        <p:txBody>
          <a:bodyPr wrap="square" lIns="0" tIns="0" rIns="0" bIns="0" rtlCol="0" anchor="t"/>
          <a:lstStyle/>
          <a:p>
            <a:pPr indent="0" marL="0">
              <a:buNone/>
            </a:pPr>
            <a:r>
              <a:rPr lang="en-US" sz="1400" dirty="0">
                <a:solidFill>
                  <a:schemeClr val="bg2"/>
                </a:solidFill>
              </a:rPr>
              <a:t>Vào bằng link khác hoặc ở lại phòng từ buổi trước sẽ không được ghi nhận</a:t>
            </a:r>
            <a:endParaRPr lang="en-US" sz="1400" dirty="0"/>
          </a:p>
        </p:txBody>
      </p:sp>
      <p:sp>
        <p:nvSpPr>
          <p:cNvPr id="11" name="So 3"/>
          <p:cNvSpPr/>
          <p:nvPr/>
        </p:nvSpPr>
        <p:spPr>
          <a:xfrm>
            <a:off x="457200" y="2880360"/>
            <a:ext cx="384048" cy="384048"/>
          </a:xfrm>
          <a:prstGeom prst="ellipse">
            <a:avLst/>
          </a:prstGeom>
          <a:solidFill>
            <a:schemeClr val="accent6"/>
          </a:solidFill>
          <a:ln/>
        </p:spPr>
      </p:sp>
      <p:sp>
        <p:nvSpPr>
          <p:cNvPr id="12" name="Text 10"/>
          <p:cNvSpPr txBox="1"/>
          <p:nvPr/>
        </p:nvSpPr>
        <p:spPr>
          <a:xfrm>
            <a:off x="457200" y="288036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005840" y="2862072"/>
            <a:ext cx="3383280" cy="411480"/>
          </a:xfrm>
          <a:prstGeom prst="rect">
            <a:avLst/>
          </a:prstGeom>
          <a:noFill/>
          <a:ln/>
        </p:spPr>
        <p:txBody>
          <a:bodyPr wrap="square" lIns="0" tIns="0" rIns="0" bIns="0" rtlCol="0" anchor="t"/>
          <a:lstStyle/>
          <a:p>
            <a:pPr indent="0" marL="0">
              <a:buNone/>
            </a:pPr>
            <a:r>
              <a:rPr lang="en-US" sz="1700" b="1" dirty="0">
                <a:solidFill>
                  <a:schemeClr val="bg1"/>
                </a:solidFill>
              </a:rPr>
              <a:t>Lớp trực tiếp</a:t>
            </a:r>
            <a:endParaRPr lang="en-US" sz="1700" dirty="0"/>
          </a:p>
        </p:txBody>
      </p:sp>
      <p:sp>
        <p:nvSpPr>
          <p:cNvPr id="14" name="Text 12"/>
          <p:cNvSpPr txBox="1"/>
          <p:nvPr/>
        </p:nvSpPr>
        <p:spPr>
          <a:xfrm>
            <a:off x="1005840" y="3291840"/>
            <a:ext cx="3383280" cy="1005840"/>
          </a:xfrm>
          <a:prstGeom prst="rect">
            <a:avLst/>
          </a:prstGeom>
          <a:noFill/>
          <a:ln/>
        </p:spPr>
        <p:txBody>
          <a:bodyPr wrap="square" lIns="0" tIns="0" rIns="0" bIns="0" rtlCol="0" anchor="t"/>
          <a:lstStyle/>
          <a:p>
            <a:pPr indent="0" marL="0">
              <a:buNone/>
            </a:pPr>
            <a:r>
              <a:rPr lang="en-US" sz="1400" dirty="0">
                <a:solidFill>
                  <a:schemeClr val="bg2"/>
                </a:solidFill>
              </a:rPr>
              <a:t>Ký tên đầy đủ vào danh sách khi đến lớp</a:t>
            </a:r>
            <a:endParaRPr lang="en-US" sz="1400" dirty="0"/>
          </a:p>
        </p:txBody>
      </p:sp>
      <p:sp>
        <p:nvSpPr>
          <p:cNvPr id="15" name="So 4"/>
          <p:cNvSpPr/>
          <p:nvPr/>
        </p:nvSpPr>
        <p:spPr>
          <a:xfrm>
            <a:off x="4663440" y="2880360"/>
            <a:ext cx="384048" cy="384048"/>
          </a:xfrm>
          <a:prstGeom prst="ellipse">
            <a:avLst/>
          </a:prstGeom>
          <a:solidFill>
            <a:schemeClr val="accent6"/>
          </a:solidFill>
          <a:ln/>
        </p:spPr>
      </p:sp>
      <p:sp>
        <p:nvSpPr>
          <p:cNvPr id="16" name="Text 14"/>
          <p:cNvSpPr txBox="1"/>
          <p:nvPr/>
        </p:nvSpPr>
        <p:spPr>
          <a:xfrm>
            <a:off x="4663440" y="288036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7" name="Text 15"/>
          <p:cNvSpPr txBox="1"/>
          <p:nvPr/>
        </p:nvSpPr>
        <p:spPr>
          <a:xfrm>
            <a:off x="5212080" y="2862072"/>
            <a:ext cx="3383280" cy="411480"/>
          </a:xfrm>
          <a:prstGeom prst="rect">
            <a:avLst/>
          </a:prstGeom>
          <a:noFill/>
          <a:ln/>
        </p:spPr>
        <p:txBody>
          <a:bodyPr wrap="square" lIns="0" tIns="0" rIns="0" bIns="0" rtlCol="0" anchor="t"/>
          <a:lstStyle/>
          <a:p>
            <a:pPr indent="0" marL="0">
              <a:buNone/>
            </a:pPr>
            <a:r>
              <a:rPr lang="en-US" sz="1700" b="1" dirty="0">
                <a:solidFill>
                  <a:schemeClr val="bg1"/>
                </a:solidFill>
              </a:rPr>
              <a:t>Biết trước sẽ vắng?</a:t>
            </a:r>
            <a:endParaRPr lang="en-US" sz="1700" dirty="0"/>
          </a:p>
        </p:txBody>
      </p:sp>
      <p:sp>
        <p:nvSpPr>
          <p:cNvPr id="18" name="Text 16"/>
          <p:cNvSpPr txBox="1"/>
          <p:nvPr/>
        </p:nvSpPr>
        <p:spPr>
          <a:xfrm>
            <a:off x="5212080" y="3291840"/>
            <a:ext cx="3383280" cy="1005840"/>
          </a:xfrm>
          <a:prstGeom prst="rect">
            <a:avLst/>
          </a:prstGeom>
          <a:noFill/>
          <a:ln/>
        </p:spPr>
        <p:txBody>
          <a:bodyPr wrap="square" lIns="0" tIns="0" rIns="0" bIns="0" rtlCol="0" anchor="t"/>
          <a:lstStyle/>
          <a:p>
            <a:pPr indent="0" marL="0">
              <a:buNone/>
            </a:pPr>
            <a:r>
              <a:rPr lang="en-US" sz="1400" dirty="0">
                <a:solidFill>
                  <a:schemeClr val="bg2"/>
                </a:solidFill>
              </a:rPr>
              <a:t>Báo người hỗ trợ trước buổi học, hoặc đề nghị đổi buổi nếu khóa có mở</a:t>
            </a:r>
            <a:endParaRPr lang="en-US" sz="1400" dirty="0"/>
          </a:p>
        </p:txBody>
      </p:sp>
    </p:spTree>
  </p:cSld>
  <p:clrMapOvr>
    <a:masterClrMapping/>
  </p:clrMapOvr>
</p:sld>
</file>

<file path=ppt/theme/theme1.xml><?xml version="1.0" encoding="utf-8"?>
<a:theme xmlns:a="http://schemas.openxmlformats.org/drawingml/2006/main" name="Diem danh bo sung">
  <a:themeElements>
    <a:clrScheme name="Diem danh bo sung">
      <a:dk1>
        <a:srgbClr val="1B2A2F"/>
      </a:dk1>
      <a:lt1>
        <a:srgbClr val="FFFFFF"/>
      </a:lt1>
      <a:dk2>
        <a:srgbClr val="0F4C5C"/>
      </a:dk2>
      <a:lt2>
        <a:srgbClr val="EAF3F3"/>
      </a:lt2>
      <a:accent1>
        <a:srgbClr val="1F8A70"/>
      </a:accent1>
      <a:accent2>
        <a:srgbClr val="D9922E"/>
      </a:accent2>
      <a:accent3>
        <a:srgbClr val="C8473C"/>
      </a:accent3>
      <a:accent4>
        <a:srgbClr val="0F4C5C"/>
      </a:accent4>
      <a:accent5>
        <a:srgbClr val="5B7C85"/>
      </a:accent5>
      <a:accent6>
        <a:srgbClr val="9DC9C0"/>
      </a:accent6>
      <a:hlink>
        <a:srgbClr val="1F6F8B"/>
      </a:hlink>
      <a:folHlink>
        <a:srgbClr val="5B7C85"/>
      </a:folHlink>
    </a:clrScheme>
    <a:fontScheme name="Diem danh bo su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Điểm danh bổ sung – Hướng dẫn học viên</dc:title>
  <dc:subject>PptxGenJS Presentation</dc:subject>
  <dc:creator>HCMUE</dc:creator>
  <cp:lastModifiedBy>HCMUE</cp:lastModifiedBy>
  <cp:revision>1</cp:revision>
  <dcterms:created xsi:type="dcterms:W3CDTF">2026-10-19T07:42:00Z</dcterms:created>
  <dcterms:modified xsi:type="dcterms:W3CDTF">2026-10-19T07:42:00Z</dcterms:modified>
</cp:coreProperties>
</file>