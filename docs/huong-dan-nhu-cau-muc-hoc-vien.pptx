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06b3fc15-03f0-d0be-8474-d0dc1da244ca}">
          <p14:sldIdLst>
            <p14:sldId id="256"/>
          </p14:sldIdLst>
        </p14:section>
        <p14:section name="Điều kiện" id="{025657ef-64ff-6b7a-fe1f-82b0e182c2e9}">
          <p14:sldIdLst>
            <p14:sldId id="257"/>
          </p14:sldIdLst>
        </p14:section>
        <p14:section name="Đăng ký" id="{92eb5b89-b7af-1901-c68c-aafad3d01f98}">
          <p14:sldIdLst>
            <p14:sldId id="258"/>
            <p14:sldId id="259"/>
            <p14:sldId id="260"/>
            <p14:sldId id="261"/>
          </p14:sldIdLst>
        </p14:section>
        <p14:section name="Sau khi duyệt" id="{702edb5e-06ff-b667-dca7-e0c11e11c92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_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Bồi dưỡng năng lực số · HCMUE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_DU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T_THUC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HƯỚNG DẪN DÀNH CHO HỌC VIÊN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Chọn nhu cầu mức học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Cho biết Thầy/Cô muốn bồi dưỡng ở mức nào – bằng hoặc thấp hơn mức của lớp đang học</a:t>
            </a:r>
          </a:p>
        </p:txBody>
      </p:sp>
      <p:sp>
        <p:nvSpPr>
          <p:cNvPr id="5" name="Nhan Nâng cao"/>
          <p:cNvSpPr/>
          <p:nvPr/>
        </p:nvSpPr>
        <p:spPr>
          <a:xfrm>
            <a:off x="548640" y="3749039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C8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Nâng cao</a:t>
            </a:r>
          </a:p>
        </p:txBody>
      </p:sp>
      <p:sp>
        <p:nvSpPr>
          <p:cNvPr id="6" name="Nhan Thành thạo"/>
          <p:cNvSpPr/>
          <p:nvPr/>
        </p:nvSpPr>
        <p:spPr>
          <a:xfrm>
            <a:off x="2139696" y="3749039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Thành thạo</a:t>
            </a:r>
          </a:p>
        </p:txBody>
      </p:sp>
      <p:sp>
        <p:nvSpPr>
          <p:cNvPr id="7" name="Nhan Cơ bản"/>
          <p:cNvSpPr/>
          <p:nvPr/>
        </p:nvSpPr>
        <p:spPr>
          <a:xfrm>
            <a:off x="3968496" y="3749039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Thầy/Cô được chọn những mức nào?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2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B2A2F"/>
                </a:solidFill>
              </a:rPr>
              <a:t>Mức hiện tại</a:t>
            </a:r>
            <a:r>
              <a:rPr sz="1400" b="0">
                <a:solidFill>
                  <a:srgbClr val="1B2A2F"/>
                </a:solidFill>
              </a:rPr>
              <a:t> = mức của lớp đang được phân công. Chỉ chọn mức </a:t>
            </a:r>
            <a:r>
              <a:rPr sz="1400" b="1">
                <a:solidFill>
                  <a:srgbClr val="1B2A2F"/>
                </a:solidFill>
              </a:rPr>
              <a:t>bằng hoặc thấp hơn</a:t>
            </a:r>
            <a:r>
              <a:rPr sz="1400" b="0">
                <a:solidFill>
                  <a:srgbClr val="1B2A2F"/>
                </a:solidFill>
              </a:rPr>
              <a:t> mức này.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7C85"/>
                </a:solidFill>
              </a:rPr>
              <a:t>MỨC 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41732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7C85"/>
                </a:solidFill>
              </a:rPr>
              <a:t>CÁC MỨC ĐƯỢC CHỌN</a:t>
            </a:r>
          </a:p>
        </p:txBody>
      </p:sp>
      <p:sp>
        <p:nvSpPr>
          <p:cNvPr id="7" name="Hang Nâng cao"/>
          <p:cNvSpPr/>
          <p:nvPr/>
        </p:nvSpPr>
        <p:spPr>
          <a:xfrm>
            <a:off x="457200" y="1737360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c Nâng cao"/>
          <p:cNvSpPr/>
          <p:nvPr/>
        </p:nvSpPr>
        <p:spPr>
          <a:xfrm>
            <a:off x="640080" y="18470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C8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Nâng 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548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5B7C85"/>
                </a:solidFill>
              </a:rPr>
              <a:t>→</a:t>
            </a:r>
          </a:p>
        </p:txBody>
      </p:sp>
      <p:sp>
        <p:nvSpPr>
          <p:cNvPr id="11" name="Chon Cơ bản"/>
          <p:cNvSpPr/>
          <p:nvPr/>
        </p:nvSpPr>
        <p:spPr>
          <a:xfrm>
            <a:off x="3246120" y="18470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8470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8A70"/>
                </a:solidFill>
              </a:rPr>
              <a:t>Cơ bản</a:t>
            </a:r>
          </a:p>
        </p:txBody>
      </p:sp>
      <p:sp>
        <p:nvSpPr>
          <p:cNvPr id="13" name="Chon Thành thạo"/>
          <p:cNvSpPr/>
          <p:nvPr/>
        </p:nvSpPr>
        <p:spPr>
          <a:xfrm>
            <a:off x="4846320" y="18470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8470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D9922E"/>
                </a:solidFill>
              </a:rPr>
              <a:t>Thành thạo</a:t>
            </a:r>
          </a:p>
        </p:txBody>
      </p:sp>
      <p:sp>
        <p:nvSpPr>
          <p:cNvPr id="15" name="Chon Nâng cao"/>
          <p:cNvSpPr/>
          <p:nvPr/>
        </p:nvSpPr>
        <p:spPr>
          <a:xfrm>
            <a:off x="6446520" y="18470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84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470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8473C"/>
                </a:solidFill>
              </a:rPr>
              <a:t>Nâng cao</a:t>
            </a:r>
          </a:p>
        </p:txBody>
      </p:sp>
      <p:sp>
        <p:nvSpPr>
          <p:cNvPr id="17" name="Hang Thành thạo"/>
          <p:cNvSpPr/>
          <p:nvPr/>
        </p:nvSpPr>
        <p:spPr>
          <a:xfrm>
            <a:off x="457200" y="2423160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uc Thành thạo"/>
          <p:cNvSpPr/>
          <p:nvPr/>
        </p:nvSpPr>
        <p:spPr>
          <a:xfrm>
            <a:off x="640080" y="25328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32888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Thành thạo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514600"/>
            <a:ext cx="548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5B7C85"/>
                </a:solidFill>
              </a:rPr>
              <a:t>→</a:t>
            </a:r>
          </a:p>
        </p:txBody>
      </p:sp>
      <p:sp>
        <p:nvSpPr>
          <p:cNvPr id="21" name="Chon Cơ bản"/>
          <p:cNvSpPr/>
          <p:nvPr/>
        </p:nvSpPr>
        <p:spPr>
          <a:xfrm>
            <a:off x="3246120" y="25328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5328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8A70"/>
                </a:solidFill>
              </a:rPr>
              <a:t>Cơ bản</a:t>
            </a:r>
          </a:p>
        </p:txBody>
      </p:sp>
      <p:sp>
        <p:nvSpPr>
          <p:cNvPr id="23" name="Chon Thành thạo"/>
          <p:cNvSpPr/>
          <p:nvPr/>
        </p:nvSpPr>
        <p:spPr>
          <a:xfrm>
            <a:off x="4846320" y="25328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5328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D9922E"/>
                </a:solidFill>
              </a:rPr>
              <a:t>Thành thạo</a:t>
            </a:r>
          </a:p>
        </p:txBody>
      </p:sp>
      <p:sp>
        <p:nvSpPr>
          <p:cNvPr id="25" name="Hang Cơ bản"/>
          <p:cNvSpPr/>
          <p:nvPr/>
        </p:nvSpPr>
        <p:spPr>
          <a:xfrm>
            <a:off x="457200" y="3108960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uc Cơ bản"/>
          <p:cNvSpPr/>
          <p:nvPr/>
        </p:nvSpPr>
        <p:spPr>
          <a:xfrm>
            <a:off x="640080" y="32186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18688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Cơ bản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200400"/>
            <a:ext cx="548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5B7C85"/>
                </a:solidFill>
              </a:rPr>
              <a:t>→</a:t>
            </a:r>
          </a:p>
        </p:txBody>
      </p:sp>
      <p:sp>
        <p:nvSpPr>
          <p:cNvPr id="29" name="Chon Cơ bản"/>
          <p:cNvSpPr/>
          <p:nvPr/>
        </p:nvSpPr>
        <p:spPr>
          <a:xfrm>
            <a:off x="3246120" y="32186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32186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8A70"/>
                </a:solidFill>
              </a:rPr>
              <a:t>Cơ bản</a:t>
            </a:r>
          </a:p>
        </p:txBody>
      </p:sp>
      <p:sp>
        <p:nvSpPr>
          <p:cNvPr id="31" name="Ghi chu"/>
          <p:cNvSpPr/>
          <p:nvPr/>
        </p:nvSpPr>
        <p:spPr>
          <a:xfrm>
            <a:off x="457200" y="3977639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77639"/>
            <a:ext cx="786384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9DC9C0"/>
                </a:solidFill>
              </a:rPr>
              <a:t>Không chọn được mức cao hơn mức hiện tại</a:t>
            </a:r>
            <a:r>
              <a:rPr sz="1300" b="0">
                <a:solidFill>
                  <a:srgbClr val="FFFFFF"/>
                </a:solidFill>
              </a:rPr>
              <a:t> – trang sẽ không hiện mức đó. Lựa chọn dùng để tổng hợp nhu cầu, </a:t>
            </a:r>
            <a:r>
              <a:rPr sz="1300" b="1">
                <a:solidFill>
                  <a:srgbClr val="FFFFFF"/>
                </a:solidFill>
              </a:rPr>
              <a:t>không tự đổi lớp</a:t>
            </a:r>
            <a:r>
              <a:rPr sz="1300" b="0">
                <a:solidFill>
                  <a:srgbClr val="FFFFFF"/>
                </a:solidFill>
              </a:rPr>
              <a:t> của Thầy/Cô.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Bước 1 – Mở thẻ nhu cầu trên Trang chủ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3</a:t>
            </a:fld>
          </a:p>
        </p:txBody>
      </p:sp>
      <p:sp>
        <p:nvSpPr>
          <p:cNvPr id="4" name="Khung hv-pc-1-trangchu.jpg"/>
          <p:cNvSpPr/>
          <p:nvPr/>
        </p:nvSpPr>
        <p:spPr>
          <a:xfrm>
            <a:off x="886968" y="1179576"/>
            <a:ext cx="4390099" cy="27523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hv-pc-1-trangchu.jpg" descr="hv-pc-1-trang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07008"/>
            <a:ext cx="4335235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932688"/>
            <a:ext cx="4883875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MÁY TÍNH</a:t>
            </a:r>
          </a:p>
        </p:txBody>
      </p:sp>
      <p:sp>
        <p:nvSpPr>
          <p:cNvPr id="7" name="So 2"/>
          <p:cNvSpPr/>
          <p:nvPr/>
        </p:nvSpPr>
        <p:spPr>
          <a:xfrm>
            <a:off x="4081163" y="2119448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o dam"/>
          <p:cNvSpPr/>
          <p:nvPr/>
        </p:nvSpPr>
        <p:spPr>
          <a:xfrm>
            <a:off x="1068541" y="2700255"/>
            <a:ext cx="4026952" cy="337184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 3"/>
          <p:cNvSpPr/>
          <p:nvPr/>
        </p:nvSpPr>
        <p:spPr>
          <a:xfrm>
            <a:off x="1036864" y="2736015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Khung hv-mb-1-trangchu-m.jpg"/>
          <p:cNvSpPr/>
          <p:nvPr/>
        </p:nvSpPr>
        <p:spPr>
          <a:xfrm>
            <a:off x="5742431" y="1143000"/>
            <a:ext cx="2235422" cy="2825496"/>
          </a:xfrm>
          <a:prstGeom prst="roundRect">
            <a:avLst>
              <a:gd name="adj" fmla="val 6000"/>
            </a:avLst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Anh hv-mb-1-trangchu-m.jpg" descr="hv-mb-1-trangchu-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207008"/>
            <a:ext cx="2107406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42431" y="896112"/>
            <a:ext cx="265604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ĐIỆN THOẠI</a:t>
            </a:r>
          </a:p>
        </p:txBody>
      </p:sp>
      <p:sp>
        <p:nvSpPr>
          <p:cNvPr id="13" name="So 2"/>
          <p:cNvSpPr/>
          <p:nvPr/>
        </p:nvSpPr>
        <p:spPr>
          <a:xfrm>
            <a:off x="6645021" y="2832353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o dam"/>
          <p:cNvSpPr/>
          <p:nvPr/>
        </p:nvSpPr>
        <p:spPr>
          <a:xfrm>
            <a:off x="6019990" y="3314414"/>
            <a:ext cx="1680305" cy="236029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o 3"/>
          <p:cNvSpPr/>
          <p:nvPr/>
        </p:nvSpPr>
        <p:spPr>
          <a:xfrm>
            <a:off x="5936932" y="3304413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Buoc 1"/>
          <p:cNvSpPr/>
          <p:nvPr/>
        </p:nvSpPr>
        <p:spPr>
          <a:xfrm>
            <a:off x="45720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Đăng nhập, vào </a:t>
            </a:r>
            <a:r>
              <a:rPr sz="1200" b="1">
                <a:solidFill>
                  <a:srgbClr val="1B2A2F"/>
                </a:solidFill>
              </a:rPr>
              <a:t>Trang chủ</a:t>
            </a:r>
          </a:p>
        </p:txBody>
      </p:sp>
      <p:sp>
        <p:nvSpPr>
          <p:cNvPr id="19" name="Buoc 2"/>
          <p:cNvSpPr/>
          <p:nvPr/>
        </p:nvSpPr>
        <p:spPr>
          <a:xfrm>
            <a:off x="324612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o 2"/>
          <p:cNvSpPr/>
          <p:nvPr/>
        </p:nvSpPr>
        <p:spPr>
          <a:xfrm>
            <a:off x="333756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Thẻ </a:t>
            </a:r>
            <a:r>
              <a:rPr sz="1200" b="1">
                <a:solidFill>
                  <a:srgbClr val="1B2A2F"/>
                </a:solidFill>
              </a:rPr>
              <a:t>Khảo sát nhu cầu mức học</a:t>
            </a:r>
            <a:r>
              <a:rPr sz="1200" b="0">
                <a:solidFill>
                  <a:srgbClr val="1B2A2F"/>
                </a:solidFill>
              </a:rPr>
              <a:t> – nhãn </a:t>
            </a:r>
            <a:r>
              <a:rPr sz="1200" b="1">
                <a:solidFill>
                  <a:srgbClr val="D9922E"/>
                </a:solidFill>
              </a:rPr>
              <a:t>Chưa chọn</a:t>
            </a:r>
            <a:r>
              <a:rPr sz="1200" b="0">
                <a:solidFill>
                  <a:srgbClr val="1B2A2F"/>
                </a:solidFill>
              </a:rPr>
              <a:t>, hạn chót</a:t>
            </a:r>
          </a:p>
        </p:txBody>
      </p:sp>
      <p:sp>
        <p:nvSpPr>
          <p:cNvPr id="22" name="Buoc 3"/>
          <p:cNvSpPr/>
          <p:nvPr/>
        </p:nvSpPr>
        <p:spPr>
          <a:xfrm>
            <a:off x="603504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o 3"/>
          <p:cNvSpPr/>
          <p:nvPr/>
        </p:nvSpPr>
        <p:spPr>
          <a:xfrm>
            <a:off x="6126479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Bấm </a:t>
            </a:r>
            <a:r>
              <a:rPr sz="1200" b="1">
                <a:solidFill>
                  <a:srgbClr val="1B2A2F"/>
                </a:solidFill>
              </a:rPr>
              <a:t>Chọn nhu cầu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Bước 2 – Kiểm tra mức, lớp rồi chọn mức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4</a:t>
            </a:fld>
          </a:p>
        </p:txBody>
      </p:sp>
      <p:sp>
        <p:nvSpPr>
          <p:cNvPr id="4" name="Khung hv-pc-2-trang.jpg"/>
          <p:cNvSpPr/>
          <p:nvPr/>
        </p:nvSpPr>
        <p:spPr>
          <a:xfrm>
            <a:off x="1435608" y="1179576"/>
            <a:ext cx="2843270" cy="27523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hv-pc-2-trang.jpg" descr="hv-pc-2-tr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07008"/>
            <a:ext cx="2788406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5608" y="932688"/>
            <a:ext cx="333704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MÁY TÍNH</a:t>
            </a:r>
          </a:p>
        </p:txBody>
      </p:sp>
      <p:sp>
        <p:nvSpPr>
          <p:cNvPr id="7" name="To dam"/>
          <p:cNvSpPr/>
          <p:nvPr/>
        </p:nvSpPr>
        <p:spPr>
          <a:xfrm>
            <a:off x="1505472" y="1995035"/>
            <a:ext cx="1806402" cy="442507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 1"/>
          <p:cNvSpPr/>
          <p:nvPr/>
        </p:nvSpPr>
        <p:spPr>
          <a:xfrm>
            <a:off x="3183858" y="1957946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o dam"/>
          <p:cNvSpPr/>
          <p:nvPr/>
        </p:nvSpPr>
        <p:spPr>
          <a:xfrm>
            <a:off x="1505472" y="3128583"/>
            <a:ext cx="775904" cy="569804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o 2"/>
          <p:cNvSpPr/>
          <p:nvPr/>
        </p:nvSpPr>
        <p:spPr>
          <a:xfrm>
            <a:off x="2153360" y="3079370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Khung hv-mb-2-trang-m.jpg"/>
          <p:cNvSpPr/>
          <p:nvPr/>
        </p:nvSpPr>
        <p:spPr>
          <a:xfrm>
            <a:off x="5742431" y="1143000"/>
            <a:ext cx="2065860" cy="2825496"/>
          </a:xfrm>
          <a:prstGeom prst="roundRect">
            <a:avLst>
              <a:gd name="adj" fmla="val 6000"/>
            </a:avLst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Anh hv-mb-2-trang-m.jpg" descr="hv-mb-2-trang-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207008"/>
            <a:ext cx="1937844" cy="2697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42431" y="896112"/>
            <a:ext cx="248648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ĐIỆN THOẠI</a:t>
            </a:r>
          </a:p>
        </p:txBody>
      </p:sp>
      <p:sp>
        <p:nvSpPr>
          <p:cNvPr id="14" name="To dam"/>
          <p:cNvSpPr/>
          <p:nvPr/>
        </p:nvSpPr>
        <p:spPr>
          <a:xfrm>
            <a:off x="5847780" y="1258683"/>
            <a:ext cx="1855163" cy="568434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o 1"/>
          <p:cNvSpPr/>
          <p:nvPr/>
        </p:nvSpPr>
        <p:spPr>
          <a:xfrm>
            <a:off x="7461241" y="1182343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o dam"/>
          <p:cNvSpPr/>
          <p:nvPr/>
        </p:nvSpPr>
        <p:spPr>
          <a:xfrm>
            <a:off x="5847780" y="2912311"/>
            <a:ext cx="992176" cy="475417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o 2"/>
          <p:cNvSpPr/>
          <p:nvPr/>
        </p:nvSpPr>
        <p:spPr>
          <a:xfrm>
            <a:off x="6711941" y="2835971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So 3"/>
          <p:cNvSpPr/>
          <p:nvPr/>
        </p:nvSpPr>
        <p:spPr>
          <a:xfrm>
            <a:off x="6644762" y="3445746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Buoc 1"/>
          <p:cNvSpPr/>
          <p:nvPr/>
        </p:nvSpPr>
        <p:spPr>
          <a:xfrm>
            <a:off x="45720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Xem </a:t>
            </a:r>
            <a:r>
              <a:rPr sz="1200" b="1">
                <a:solidFill>
                  <a:srgbClr val="1B2A2F"/>
                </a:solidFill>
              </a:rPr>
              <a:t>Mức – lớp đang được phân công</a:t>
            </a:r>
          </a:p>
        </p:txBody>
      </p:sp>
      <p:sp>
        <p:nvSpPr>
          <p:cNvPr id="22" name="Buoc 2"/>
          <p:cNvSpPr/>
          <p:nvPr/>
        </p:nvSpPr>
        <p:spPr>
          <a:xfrm>
            <a:off x="324612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o 2"/>
          <p:cNvSpPr/>
          <p:nvPr/>
        </p:nvSpPr>
        <p:spPr>
          <a:xfrm>
            <a:off x="333756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Chọn mức muốn bồi dưỡng (chỉ hiện mức </a:t>
            </a:r>
            <a:r>
              <a:rPr sz="1200" b="1">
                <a:solidFill>
                  <a:srgbClr val="1B2A2F"/>
                </a:solidFill>
              </a:rPr>
              <a:t>bằng hoặc thấp hơn</a:t>
            </a:r>
            <a:r>
              <a:rPr sz="1200" b="0">
                <a:solidFill>
                  <a:srgbClr val="1B2A2F"/>
                </a:solidFill>
              </a:rPr>
              <a:t>)</a:t>
            </a:r>
          </a:p>
        </p:txBody>
      </p:sp>
      <p:sp>
        <p:nvSpPr>
          <p:cNvPr id="25" name="Buoc 3"/>
          <p:cNvSpPr/>
          <p:nvPr/>
        </p:nvSpPr>
        <p:spPr>
          <a:xfrm>
            <a:off x="603504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o 3"/>
          <p:cNvSpPr/>
          <p:nvPr/>
        </p:nvSpPr>
        <p:spPr>
          <a:xfrm>
            <a:off x="6126479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Bấm </a:t>
            </a:r>
            <a:r>
              <a:rPr sz="1200" b="1">
                <a:solidFill>
                  <a:srgbClr val="1B2A2F"/>
                </a:solidFill>
              </a:rPr>
              <a:t>Lưu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Bước 3 – Xác nhận và hoàn tất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5</a:t>
            </a:fld>
          </a:p>
        </p:txBody>
      </p:sp>
      <p:sp>
        <p:nvSpPr>
          <p:cNvPr id="4" name="Khung hv-pc-3-xacnhan.jpg"/>
          <p:cNvSpPr/>
          <p:nvPr/>
        </p:nvSpPr>
        <p:spPr>
          <a:xfrm>
            <a:off x="1115568" y="1179576"/>
            <a:ext cx="3814987" cy="27523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hv-pc-3-xacnhan.jpg" descr="hv-pc-3-xacnh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07008"/>
            <a:ext cx="3760123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932688"/>
            <a:ext cx="4308763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MÁY TÍNH · HỘP XÁC NHẬN</a:t>
            </a:r>
          </a:p>
        </p:txBody>
      </p:sp>
      <p:sp>
        <p:nvSpPr>
          <p:cNvPr id="7" name="So 1"/>
          <p:cNvSpPr/>
          <p:nvPr/>
        </p:nvSpPr>
        <p:spPr>
          <a:xfrm>
            <a:off x="1807879" y="1978152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o dam"/>
          <p:cNvSpPr/>
          <p:nvPr/>
        </p:nvSpPr>
        <p:spPr>
          <a:xfrm>
            <a:off x="3472641" y="2236954"/>
            <a:ext cx="645760" cy="253399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 2"/>
          <p:cNvSpPr/>
          <p:nvPr/>
        </p:nvSpPr>
        <p:spPr>
          <a:xfrm>
            <a:off x="3990386" y="2125287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Khung hv-mb-4-daluu-m.jpg"/>
          <p:cNvSpPr/>
          <p:nvPr/>
        </p:nvSpPr>
        <p:spPr>
          <a:xfrm>
            <a:off x="5742431" y="1143000"/>
            <a:ext cx="2103709" cy="2825496"/>
          </a:xfrm>
          <a:prstGeom prst="roundRect">
            <a:avLst>
              <a:gd name="adj" fmla="val 6000"/>
            </a:avLst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Anh hv-mb-4-daluu-m.jpg" descr="hv-mb-4-daluu-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207008"/>
            <a:ext cx="1975693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42431" y="896112"/>
            <a:ext cx="2524333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ĐIỆN THOẠI · ĐÃ LƯU</a:t>
            </a:r>
          </a:p>
        </p:txBody>
      </p:sp>
      <p:sp>
        <p:nvSpPr>
          <p:cNvPr id="13" name="To dam"/>
          <p:cNvSpPr/>
          <p:nvPr/>
        </p:nvSpPr>
        <p:spPr>
          <a:xfrm>
            <a:off x="5880199" y="2798099"/>
            <a:ext cx="1828174" cy="316110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o 3"/>
          <p:cNvSpPr/>
          <p:nvPr/>
        </p:nvSpPr>
        <p:spPr>
          <a:xfrm>
            <a:off x="7496061" y="2712231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Buoc 1"/>
          <p:cNvSpPr/>
          <p:nvPr/>
        </p:nvSpPr>
        <p:spPr>
          <a:xfrm>
            <a:off x="45720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Kiểm tra lại mức đã chọn trong hộp</a:t>
            </a:r>
          </a:p>
        </p:txBody>
      </p:sp>
      <p:sp>
        <p:nvSpPr>
          <p:cNvPr id="18" name="Buoc 2"/>
          <p:cNvSpPr/>
          <p:nvPr/>
        </p:nvSpPr>
        <p:spPr>
          <a:xfrm>
            <a:off x="324612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o 2"/>
          <p:cNvSpPr/>
          <p:nvPr/>
        </p:nvSpPr>
        <p:spPr>
          <a:xfrm>
            <a:off x="333756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Bấm </a:t>
            </a:r>
            <a:r>
              <a:rPr sz="1200" b="1">
                <a:solidFill>
                  <a:srgbClr val="1B2A2F"/>
                </a:solidFill>
              </a:rPr>
              <a:t>Xác nhận</a:t>
            </a:r>
            <a:r>
              <a:rPr sz="1200" b="0">
                <a:solidFill>
                  <a:srgbClr val="1B2A2F"/>
                </a:solidFill>
              </a:rPr>
              <a:t> (bấm </a:t>
            </a:r>
            <a:r>
              <a:rPr sz="1200" b="1">
                <a:solidFill>
                  <a:srgbClr val="1B2A2F"/>
                </a:solidFill>
              </a:rPr>
              <a:t>Quay lại</a:t>
            </a:r>
            <a:r>
              <a:rPr sz="1200" b="0">
                <a:solidFill>
                  <a:srgbClr val="1B2A2F"/>
                </a:solidFill>
              </a:rPr>
              <a:t> nếu muốn chọn lại)</a:t>
            </a:r>
          </a:p>
        </p:txBody>
      </p:sp>
      <p:sp>
        <p:nvSpPr>
          <p:cNvPr id="21" name="Buoc 3"/>
          <p:cNvSpPr/>
          <p:nvPr/>
        </p:nvSpPr>
        <p:spPr>
          <a:xfrm>
            <a:off x="6035040" y="411480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o 3"/>
          <p:cNvSpPr/>
          <p:nvPr/>
        </p:nvSpPr>
        <p:spPr>
          <a:xfrm>
            <a:off x="6126479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212140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Thấy </a:t>
            </a:r>
            <a:r>
              <a:rPr sz="1200" b="1">
                <a:solidFill>
                  <a:srgbClr val="1B2A2F"/>
                </a:solidFill>
              </a:rPr>
              <a:t>Đã lưu nhu cầu mức học</a:t>
            </a:r>
            <a:r>
              <a:rPr sz="1200" b="0">
                <a:solidFill>
                  <a:srgbClr val="1B2A2F"/>
                </a:solidFill>
              </a:rPr>
              <a:t> là xong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Muốn đổi lựa chọn? Làm trước hạn chót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6</a:t>
            </a:fld>
          </a:p>
        </p:txBody>
      </p:sp>
      <p:sp>
        <p:nvSpPr>
          <p:cNvPr id="4" name="Khung hv-mb-5-dachon-m.jpg"/>
          <p:cNvSpPr/>
          <p:nvPr/>
        </p:nvSpPr>
        <p:spPr>
          <a:xfrm>
            <a:off x="5742431" y="1143000"/>
            <a:ext cx="2453429" cy="2825496"/>
          </a:xfrm>
          <a:prstGeom prst="roundRect">
            <a:avLst>
              <a:gd name="adj" fmla="val 6000"/>
            </a:avLst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hv-mb-5-dachon-m.jpg" descr="hv-mb-5-dachon-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07008"/>
            <a:ext cx="2325413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42431" y="896112"/>
            <a:ext cx="2874053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ĐIỆN THOẠI · TRANG CHỦ</a:t>
            </a:r>
          </a:p>
        </p:txBody>
      </p:sp>
      <p:sp>
        <p:nvSpPr>
          <p:cNvPr id="7" name="So 1"/>
          <p:cNvSpPr/>
          <p:nvPr/>
        </p:nvSpPr>
        <p:spPr>
          <a:xfrm>
            <a:off x="6934147" y="2933121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o 2"/>
          <p:cNvSpPr/>
          <p:nvPr/>
        </p:nvSpPr>
        <p:spPr>
          <a:xfrm>
            <a:off x="7600766" y="3441612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he Sau khi đã lưu"/>
          <p:cNvSpPr/>
          <p:nvPr/>
        </p:nvSpPr>
        <p:spPr>
          <a:xfrm>
            <a:off x="457200" y="1051560"/>
            <a:ext cx="4754880" cy="292608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61288"/>
            <a:ext cx="4389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8A70"/>
                </a:solidFill>
              </a:rPr>
              <a:t>Sau khi đã lưu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4389120" cy="2331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500" b="0">
                <a:solidFill>
                  <a:srgbClr val="1B2A2F"/>
                </a:solidFill>
              </a:rPr>
              <a:t>Thẻ trên Trang chủ chuyển </a:t>
            </a:r>
            <a:r>
              <a:rPr sz="1500" b="1">
                <a:solidFill>
                  <a:srgbClr val="1F8A70"/>
                </a:solidFill>
              </a:rPr>
              <a:t>màu xanh</a:t>
            </a:r>
            <a:r>
              <a:rPr sz="1500" b="0">
                <a:solidFill>
                  <a:srgbClr val="1B2A2F"/>
                </a:solidFill>
              </a:rPr>
              <a:t>, nhãn </a:t>
            </a:r>
            <a:r>
              <a:rPr sz="1500" b="1">
                <a:solidFill>
                  <a:srgbClr val="1B2A2F"/>
                </a:solidFill>
              </a:rPr>
              <a:t>Đã chọn: …</a:t>
            </a:r>
            <a:r>
              <a:rPr sz="1500" b="0">
                <a:solidFill>
                  <a:srgbClr val="1B2A2F"/>
                </a:solidFill>
              </a:rPr>
              <a:t> (số 1)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500" b="0">
                <a:solidFill>
                  <a:srgbClr val="1B2A2F"/>
                </a:solidFill>
              </a:rPr>
              <a:t>Bấm </a:t>
            </a:r>
            <a:r>
              <a:rPr sz="1500" b="1">
                <a:solidFill>
                  <a:srgbClr val="1B2A2F"/>
                </a:solidFill>
              </a:rPr>
              <a:t>Đổi lựa chọn</a:t>
            </a:r>
            <a:r>
              <a:rPr sz="1500" b="0">
                <a:solidFill>
                  <a:srgbClr val="1B2A2F"/>
                </a:solidFill>
              </a:rPr>
              <a:t> (số 2), chọn mức khác, Lưu và Xác nhận như các bước trước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500" b="0">
                <a:solidFill>
                  <a:srgbClr val="1B2A2F"/>
                </a:solidFill>
              </a:rPr>
              <a:t>Đổi được nhiều lần trong thời gian mở; </a:t>
            </a:r>
            <a:r>
              <a:rPr sz="1500" b="1">
                <a:solidFill>
                  <a:srgbClr val="1B2A2F"/>
                </a:solidFill>
              </a:rPr>
              <a:t>lần lưu cuối</a:t>
            </a:r>
            <a:r>
              <a:rPr sz="1500" b="0">
                <a:solidFill>
                  <a:srgbClr val="1B2A2F"/>
                </a:solidFill>
              </a:rPr>
              <a:t> được ghi nhận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500" b="0">
                <a:solidFill>
                  <a:srgbClr val="1B2A2F"/>
                </a:solidFill>
              </a:rPr>
              <a:t>Sau hạn chót: thẻ không còn trên Trang chủ, trang chỉ xem lựa chọn cuối cùng</a:t>
            </a:r>
          </a:p>
        </p:txBody>
      </p:sp>
      <p:sp>
        <p:nvSpPr>
          <p:cNvPr id="12" name="Ghi chu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Không thấy thẻ? Khóa học chưa mở đợt, đợt đã đóng, hoặc Thầy/Cô chưa có mức/lớp – liên hệ </a:t>
            </a:r>
            <a:r>
              <a:rPr sz="1300" b="1">
                <a:solidFill>
                  <a:srgbClr val="9DC9C0"/>
                </a:solidFill>
              </a:rPr>
              <a:t>người hỗ trợ</a:t>
            </a:r>
            <a:r>
              <a:rPr sz="1300" b="0">
                <a:solidFill>
                  <a:srgbClr val="FFFFFF"/>
                </a:solidFill>
              </a:rPr>
              <a:t> của trường/cụm.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Cần nhớ</a:t>
            </a:r>
          </a:p>
        </p:txBody>
      </p:sp>
      <p:sp>
        <p:nvSpPr>
          <p:cNvPr id="3" name="So 1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070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Chỉ chọn bằng hoặc thấp hơn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184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Mức hiện tại là mức của lớp đang học; có thể chọn từ Nâng cao xuống Cơ bản</a:t>
            </a:r>
          </a:p>
        </p:txBody>
      </p:sp>
      <p:sp>
        <p:nvSpPr>
          <p:cNvPr id="6" name="So 2"/>
          <p:cNvSpPr/>
          <p:nvPr/>
        </p:nvSpPr>
        <p:spPr>
          <a:xfrm>
            <a:off x="4663440" y="12344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2070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Có hạn chót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9" y="16184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Chọn và đổi được tới giờ đóng ghi trên thẻ; lần lưu cuối được ghi nhận</a:t>
            </a:r>
          </a:p>
        </p:txBody>
      </p:sp>
      <p:sp>
        <p:nvSpPr>
          <p:cNvPr id="9" name="So 3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072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Không tự đổi lớp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186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Kết quả dùng để tổng hợp nhu cầu bồi dưỡng, lớp hiện tại giữ nguyên</a:t>
            </a:r>
          </a:p>
        </p:txBody>
      </p:sp>
      <p:sp>
        <p:nvSpPr>
          <p:cNvPr id="12" name="So 4"/>
          <p:cNvSpPr/>
          <p:nvPr/>
        </p:nvSpPr>
        <p:spPr>
          <a:xfrm>
            <a:off x="4663440" y="28346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8072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Cần hỗ trợ?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32186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Liên hệ người hỗ trợ qua nhóm Zalo của trường hoặc boiduongnls@hcmue.edu.vn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c bu">
  <a:themeElements>
    <a:clrScheme name="Hoc bu">
      <a:dk1>
        <a:srgbClr val="1B2A2F"/>
      </a:dk1>
      <a:lt1>
        <a:srgbClr val="FFFFFF"/>
      </a:lt1>
      <a:dk2>
        <a:srgbClr val="0F4C5C"/>
      </a:dk2>
      <a:lt2>
        <a:srgbClr val="EAF3F3"/>
      </a:lt2>
      <a:accent1>
        <a:srgbClr val="1F8A70"/>
      </a:accent1>
      <a:accent2>
        <a:srgbClr val="D9922E"/>
      </a:accent2>
      <a:accent3>
        <a:srgbClr val="C8473C"/>
      </a:accent3>
      <a:accent4>
        <a:srgbClr val="0F4C5C"/>
      </a:accent4>
      <a:accent5>
        <a:srgbClr val="5B7C85"/>
      </a:accent5>
      <a:accent6>
        <a:srgbClr val="9DC9C0"/>
      </a:accent6>
      <a:hlink>
        <a:srgbClr val="1F6F8B"/>
      </a:hlink>
      <a:folHlink>
        <a:srgbClr val="5B7C85"/>
      </a:folHlink>
    </a:clrScheme>
    <a:fontScheme name="Hoc b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Đăng ký học bù – Hướng dẫn học viên</dc:title>
  <dc:subject>PptxGenJS Presentation</dc:subject>
  <dc:creator>HCMUE</dc:creator>
  <cp:lastModifiedBy>HCMUE</cp:lastModifiedBy>
  <cp:revision>1</cp:revision>
  <dcterms:created xsi:type="dcterms:W3CDTF">2026-10-19T12:57:19Z</dcterms:created>
  <dcterms:modified xsi:type="dcterms:W3CDTF">2026-10-19T12:57:19Z</dcterms:modified>
</cp:coreProperties>
</file>