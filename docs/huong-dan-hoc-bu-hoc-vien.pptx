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06b3fc15-03f0-d0be-8474-d0dc1da244ca}">
          <p14:sldIdLst>
            <p14:sldId id="256"/>
          </p14:sldIdLst>
        </p14:section>
        <p14:section name="Điều kiện" id="{025657ef-64ff-6b7a-fe1f-82b0e182c2e9}">
          <p14:sldIdLst>
            <p14:sldId id="257"/>
          </p14:sldIdLst>
        </p14:section>
        <p14:section name="Đăng ký" id="{92eb5b89-b7af-1901-c68c-aafad3d01f98}">
          <p14:sldIdLst>
            <p14:sldId id="258"/>
            <p14:sldId id="259"/>
            <p14:sldId id="260"/>
            <p14:sldId id="261"/>
          </p14:sldIdLst>
        </p14:section>
        <p14:section name="Sau khi duyệt" id="{702edb5e-06ff-b667-dca7-e0c11e11c923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bước: tìm buổi đã vắng, chọn buổi học bù và gửi, chờ người hỗ trợ duyệt, đi học buổi học bù. Ảnh minh họa dùng dữ liệu giả; giao diện máy tính và điện thoại đặt song song.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EU_D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Bồi dưỡng năng lực số · HCMUE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260604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I_DUNG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Bồi dưỡng năng lực số · HCMUE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T_THUC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Bồi dưỡng năng lực số · HCMUE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HƯỚNG DẪN DÀNH CHO HỌC VIÊN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Đăng ký học bù</a:t>
            </a:r>
            <a:endParaRPr lang="en-US" sz="4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6060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Khi Thầy/Cô đã vắng một buổi học – đăng ký học lại đúng buổi đó ở một lớp khác cùng nội dung</a:t>
            </a:r>
            <a:endParaRPr lang="en-US" sz="1800" dirty="0"/>
          </a:p>
        </p:txBody>
      </p:sp>
      <p:sp>
        <p:nvSpPr>
          <p:cNvPr id="5" name="Nhan Vắng"/>
          <p:cNvSpPr/>
          <p:nvPr/>
        </p:nvSpPr>
        <p:spPr>
          <a:xfrm>
            <a:off x="548640" y="3794760"/>
            <a:ext cx="146304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794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Vắng</a:t>
            </a:r>
            <a:endParaRPr lang="en-US" sz="1400" dirty="0"/>
          </a:p>
        </p:txBody>
      </p:sp>
      <p:sp>
        <p:nvSpPr>
          <p:cNvPr id="7" name="Nhan Học bù"/>
          <p:cNvSpPr/>
          <p:nvPr/>
        </p:nvSpPr>
        <p:spPr>
          <a:xfrm>
            <a:off x="2148840" y="3794760"/>
            <a:ext cx="146304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48840" y="3794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Học bù</a:t>
            </a:r>
            <a:endParaRPr lang="en-US" sz="1400" dirty="0"/>
          </a:p>
        </p:txBody>
      </p:sp>
      <p:sp>
        <p:nvSpPr>
          <p:cNvPr id="9" name="Nhan Có mặt"/>
          <p:cNvSpPr/>
          <p:nvPr/>
        </p:nvSpPr>
        <p:spPr>
          <a:xfrm>
            <a:off x="3749040" y="3794760"/>
            <a:ext cx="14630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49040" y="3794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Có mặt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Khi nào đăng ký học bù được?</a:t>
            </a:r>
            <a:endParaRPr lang="en-US" sz="2800" dirty="0"/>
          </a:p>
        </p:txBody>
      </p:sp>
      <p:sp>
        <p:nvSpPr>
          <p:cNvPr id="3" name="✓  Đăng ký được"/>
          <p:cNvSpPr/>
          <p:nvPr/>
        </p:nvSpPr>
        <p:spPr>
          <a:xfrm>
            <a:off x="457200" y="1097280"/>
            <a:ext cx="39776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370332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✓  Đăng ký được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Buổi đã diễn ra và Thầy/Cô vắng (nhãn Vắng, Vắng có phép hoặc chưa có điểm danh)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Khóa học đã mở học bù và Thầy/Cô còn lượt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Còn buổi tương đương (cùng buổi số, cùng mức) ở lớp khác chưa diễn ra, còn chỗ</a:t>
            </a:r>
            <a:endParaRPr lang="en-US" sz="1600" dirty="0"/>
          </a:p>
        </p:txBody>
      </p:sp>
      <p:sp>
        <p:nvSpPr>
          <p:cNvPr id="5" name="✕  Không dùng học bù"/>
          <p:cNvSpPr/>
          <p:nvPr/>
        </p:nvSpPr>
        <p:spPr>
          <a:xfrm>
            <a:off x="4709160" y="1097280"/>
            <a:ext cx="39776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46320" y="1207008"/>
            <a:ext cx="370332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✕  Không dùng học bù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Buổi chưa diễn ra → dùng “Không tham gia được buổi này?” (đổi buổi)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Buổi đã ghi “Có mặt”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Buổi đã được đổi buổi → liên hệ người hỗ trợ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Đã học thực tế nhưng bị ghi vắng → đề nghị điểm danh bổ sung</a:t>
            </a:r>
            <a:endParaRPr lang="en-US" sz="1600" dirty="0"/>
          </a:p>
        </p:txBody>
      </p:sp>
      <p:sp>
        <p:nvSpPr>
          <p:cNvPr id="7" name="Goi y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7947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Lượt học bù tính riêng với lượt đổi buổi.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Đề nghị bị từ chối hoặc Thầy/Cô tự hủy thì được trả lại lượt.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Bước 1 – Tìm buổi đã vắng trên trang Lớp học</a:t>
            </a:r>
            <a:endParaRPr lang="en-US" sz="2800" dirty="0"/>
          </a:p>
        </p:txBody>
      </p:sp>
      <p:sp>
        <p:nvSpPr>
          <p:cNvPr id="3" name="Khung pc-hv-lop-hoc"/>
          <p:cNvSpPr/>
          <p:nvPr/>
        </p:nvSpPr>
        <p:spPr>
          <a:xfrm>
            <a:off x="2202398" y="1184148"/>
            <a:ext cx="2809559" cy="2770632"/>
          </a:xfrm>
          <a:prstGeom prst="roundRect">
            <a:avLst>
              <a:gd name="adj" fmla="val 132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22000"/>
              </a:srgbClr>
            </a:outerShdw>
          </a:effectLst>
        </p:spPr>
      </p:sp>
      <p:pic>
        <p:nvPicPr>
          <p:cNvPr id="4" name="Anh pc-hv-lop-hoc" descr="Trang Lớp học trên máy tính: Buổi 2 nhãn Vắng, bên dưới có dòng Đăng ký học bù buổi này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5258" y="1207008"/>
            <a:ext cx="2763839" cy="2724912"/>
          </a:xfrm>
          <a:prstGeom prst="rect">
            <a:avLst/>
          </a:prstGeom>
        </p:spPr>
      </p:pic>
      <p:sp>
        <p:nvSpPr>
          <p:cNvPr id="5" name="Khung m-hv-lop-hoc"/>
          <p:cNvSpPr/>
          <p:nvPr/>
        </p:nvSpPr>
        <p:spPr>
          <a:xfrm>
            <a:off x="5345713" y="1152144"/>
            <a:ext cx="1627893" cy="2834640"/>
          </a:xfrm>
          <a:prstGeom prst="roundRect">
            <a:avLst>
              <a:gd name="adj" fmla="val 5617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1B2A2F">
                <a:alpha val="22000"/>
              </a:srgbClr>
            </a:outerShdw>
          </a:effectLst>
        </p:spPr>
      </p:sp>
      <p:pic>
        <p:nvPicPr>
          <p:cNvPr id="6" name="Anh m-hv-lop-hoc" descr="Trang Lớp học trên điện thoạ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577" y="1207008"/>
            <a:ext cx="1518165" cy="27249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225258" y="932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MÁY TÍNH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400577" y="932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ĐIỆN THOẠI</a:t>
            </a:r>
            <a:endParaRPr lang="en-US" sz="1100" dirty="0"/>
          </a:p>
        </p:txBody>
      </p:sp>
      <p:sp>
        <p:nvSpPr>
          <p:cNvPr id="9" name="To dam"/>
          <p:cNvSpPr/>
          <p:nvPr/>
        </p:nvSpPr>
        <p:spPr>
          <a:xfrm>
            <a:off x="2653458" y="2958737"/>
            <a:ext cx="217993" cy="85640"/>
          </a:xfrm>
          <a:prstGeom prst="roundRect">
            <a:avLst>
              <a:gd name="adj" fmla="val 42709"/>
            </a:avLst>
          </a:prstGeom>
          <a:ln w="28575">
            <a:solidFill>
              <a:schemeClr val="accent2"/>
            </a:solidFill>
            <a:prstDash val="solid"/>
          </a:ln>
        </p:spPr>
      </p:sp>
      <p:sp>
        <p:nvSpPr>
          <p:cNvPr id="10" name="So 2"/>
          <p:cNvSpPr/>
          <p:nvPr/>
        </p:nvSpPr>
        <p:spPr>
          <a:xfrm>
            <a:off x="2821290" y="2873541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2821290" y="287354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o dam"/>
          <p:cNvSpPr/>
          <p:nvPr/>
        </p:nvSpPr>
        <p:spPr>
          <a:xfrm>
            <a:off x="2439358" y="3262370"/>
            <a:ext cx="622837" cy="93426"/>
          </a:xfrm>
          <a:prstGeom prst="roundRect">
            <a:avLst>
              <a:gd name="adj" fmla="val 39150"/>
            </a:avLst>
          </a:prstGeom>
          <a:ln w="28575">
            <a:solidFill>
              <a:schemeClr val="accent2"/>
            </a:solidFill>
            <a:prstDash val="solid"/>
          </a:ln>
        </p:spPr>
      </p:sp>
      <p:sp>
        <p:nvSpPr>
          <p:cNvPr id="13" name="So 3"/>
          <p:cNvSpPr/>
          <p:nvPr/>
        </p:nvSpPr>
        <p:spPr>
          <a:xfrm>
            <a:off x="3000355" y="3181067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000355" y="31810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Buoc 1"/>
          <p:cNvSpPr/>
          <p:nvPr/>
        </p:nvSpPr>
        <p:spPr>
          <a:xfrm>
            <a:off x="457200" y="4114800"/>
            <a:ext cx="265176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16" name="So 1"/>
          <p:cNvSpPr/>
          <p:nvPr/>
        </p:nvSpPr>
        <p:spPr>
          <a:xfrm>
            <a:off x="54864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4864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914400" y="4114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Mở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Lớp học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(điện thoại: menu ☰)</a:t>
            </a:r>
            <a:endParaRPr lang="en-US" sz="1200" dirty="0"/>
          </a:p>
        </p:txBody>
      </p:sp>
      <p:sp>
        <p:nvSpPr>
          <p:cNvPr id="19" name="Buoc 2"/>
          <p:cNvSpPr/>
          <p:nvPr/>
        </p:nvSpPr>
        <p:spPr>
          <a:xfrm>
            <a:off x="3246120" y="4114800"/>
            <a:ext cx="265176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20" name="So 2"/>
          <p:cNvSpPr/>
          <p:nvPr/>
        </p:nvSpPr>
        <p:spPr>
          <a:xfrm>
            <a:off x="333756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333756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3703320" y="4114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Tìm buổi có nhãn </a:t>
            </a:r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Vắng</a:t>
            </a:r>
            <a:endParaRPr lang="en-US" sz="1200" dirty="0"/>
          </a:p>
        </p:txBody>
      </p:sp>
      <p:sp>
        <p:nvSpPr>
          <p:cNvPr id="23" name="Buoc 3"/>
          <p:cNvSpPr/>
          <p:nvPr/>
        </p:nvSpPr>
        <p:spPr>
          <a:xfrm>
            <a:off x="6035040" y="4114800"/>
            <a:ext cx="265176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24" name="So 3"/>
          <p:cNvSpPr/>
          <p:nvPr/>
        </p:nvSpPr>
        <p:spPr>
          <a:xfrm>
            <a:off x="612648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12648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492240" y="4114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Bấm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Đăng ký học bù buổi này?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Bước 2 – Chọn buổi học bù và gửi đề nghị</a:t>
            </a:r>
            <a:endParaRPr lang="en-US" sz="2800" dirty="0"/>
          </a:p>
        </p:txBody>
      </p:sp>
      <p:sp>
        <p:nvSpPr>
          <p:cNvPr id="3" name="Khung pc-hv-form"/>
          <p:cNvSpPr/>
          <p:nvPr/>
        </p:nvSpPr>
        <p:spPr>
          <a:xfrm>
            <a:off x="1972078" y="1184148"/>
            <a:ext cx="3270199" cy="2770632"/>
          </a:xfrm>
          <a:prstGeom prst="roundRect">
            <a:avLst>
              <a:gd name="adj" fmla="val 132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22000"/>
              </a:srgbClr>
            </a:outerShdw>
          </a:effectLst>
        </p:spPr>
      </p:sp>
      <p:pic>
        <p:nvPicPr>
          <p:cNvPr id="4" name="Anh pc-hv-form" descr="Trang Đăng ký học bù trên máy tính: buổi đã vắng chọn sẵn, chọn Lớp 2 Buổi 2, ghi lý 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4938" y="1207008"/>
            <a:ext cx="3224479" cy="2724912"/>
          </a:xfrm>
          <a:prstGeom prst="rect">
            <a:avLst/>
          </a:prstGeom>
        </p:spPr>
      </p:pic>
      <p:sp>
        <p:nvSpPr>
          <p:cNvPr id="5" name="Khung m-hv-form"/>
          <p:cNvSpPr/>
          <p:nvPr/>
        </p:nvSpPr>
        <p:spPr>
          <a:xfrm>
            <a:off x="5576033" y="1152144"/>
            <a:ext cx="1627893" cy="2834640"/>
          </a:xfrm>
          <a:prstGeom prst="roundRect">
            <a:avLst>
              <a:gd name="adj" fmla="val 5617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1B2A2F">
                <a:alpha val="22000"/>
              </a:srgbClr>
            </a:outerShdw>
          </a:effectLst>
        </p:spPr>
      </p:sp>
      <p:pic>
        <p:nvPicPr>
          <p:cNvPr id="6" name="Anh m-hv-form" descr="Trang Đăng ký học bù trên điện thoạ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897" y="1207008"/>
            <a:ext cx="1518165" cy="27249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994938" y="932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MÁY TÍNH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630897" y="932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ĐIỆN THOẠI</a:t>
            </a:r>
            <a:endParaRPr lang="en-US" sz="1100" dirty="0"/>
          </a:p>
        </p:txBody>
      </p:sp>
      <p:sp>
        <p:nvSpPr>
          <p:cNvPr id="9" name="So 1"/>
          <p:cNvSpPr/>
          <p:nvPr/>
        </p:nvSpPr>
        <p:spPr>
          <a:xfrm>
            <a:off x="1921420" y="2028170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921420" y="20281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So 2"/>
          <p:cNvSpPr/>
          <p:nvPr/>
        </p:nvSpPr>
        <p:spPr>
          <a:xfrm>
            <a:off x="1921420" y="2396033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921420" y="23960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o 3"/>
          <p:cNvSpPr/>
          <p:nvPr/>
        </p:nvSpPr>
        <p:spPr>
          <a:xfrm>
            <a:off x="1921420" y="3213506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921420" y="32135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So 4"/>
          <p:cNvSpPr/>
          <p:nvPr/>
        </p:nvSpPr>
        <p:spPr>
          <a:xfrm>
            <a:off x="2684395" y="3567745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2684395" y="35677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Buoc 1"/>
          <p:cNvSpPr/>
          <p:nvPr/>
        </p:nvSpPr>
        <p:spPr>
          <a:xfrm>
            <a:off x="457200" y="4114800"/>
            <a:ext cx="195453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18" name="So 1"/>
          <p:cNvSpPr/>
          <p:nvPr/>
        </p:nvSpPr>
        <p:spPr>
          <a:xfrm>
            <a:off x="54864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54864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914400" y="4114800"/>
            <a:ext cx="1405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Buổi đã vắng: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đã chọn sẵn</a:t>
            </a:r>
            <a:endParaRPr lang="en-US" sz="1200" dirty="0"/>
          </a:p>
        </p:txBody>
      </p:sp>
      <p:sp>
        <p:nvSpPr>
          <p:cNvPr id="21" name="Buoc 2"/>
          <p:cNvSpPr/>
          <p:nvPr/>
        </p:nvSpPr>
        <p:spPr>
          <a:xfrm>
            <a:off x="2548890" y="4114800"/>
            <a:ext cx="195453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22" name="So 2"/>
          <p:cNvSpPr/>
          <p:nvPr/>
        </p:nvSpPr>
        <p:spPr>
          <a:xfrm>
            <a:off x="264033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264033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3006090" y="4114800"/>
            <a:ext cx="1405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Chọn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buổi muốn học bù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(xem sĩ số)</a:t>
            </a:r>
            <a:endParaRPr lang="en-US" sz="1200" dirty="0"/>
          </a:p>
        </p:txBody>
      </p:sp>
      <p:sp>
        <p:nvSpPr>
          <p:cNvPr id="25" name="Buoc 3"/>
          <p:cNvSpPr/>
          <p:nvPr/>
        </p:nvSpPr>
        <p:spPr>
          <a:xfrm>
            <a:off x="4640580" y="4114800"/>
            <a:ext cx="195453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26" name="So 3"/>
          <p:cNvSpPr/>
          <p:nvPr/>
        </p:nvSpPr>
        <p:spPr>
          <a:xfrm>
            <a:off x="473202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73202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5097780" y="4114800"/>
            <a:ext cx="1405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Ghi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Lý do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(5–500 ký tự)</a:t>
            </a:r>
            <a:endParaRPr lang="en-US" sz="1200" dirty="0"/>
          </a:p>
        </p:txBody>
      </p:sp>
      <p:sp>
        <p:nvSpPr>
          <p:cNvPr id="29" name="Buoc 4"/>
          <p:cNvSpPr/>
          <p:nvPr/>
        </p:nvSpPr>
        <p:spPr>
          <a:xfrm>
            <a:off x="6732270" y="4114800"/>
            <a:ext cx="195453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30" name="So 4"/>
          <p:cNvSpPr/>
          <p:nvPr/>
        </p:nvSpPr>
        <p:spPr>
          <a:xfrm>
            <a:off x="682371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82371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7189470" y="4114800"/>
            <a:ext cx="1405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Bấm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Gửi đề nghị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Chọn buổi học bù phù hợp</a:t>
            </a:r>
            <a:endParaRPr lang="en-US" sz="2800" dirty="0"/>
          </a:p>
        </p:txBody>
      </p:sp>
      <p:sp>
        <p:nvSpPr>
          <p:cNvPr id="3" name="Thanh sĩ số"/>
          <p:cNvSpPr/>
          <p:nvPr/>
        </p:nvSpPr>
        <p:spPr>
          <a:xfrm>
            <a:off x="457200" y="1097280"/>
            <a:ext cx="39776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370332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Thanh sĩ số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17/30: đã có 17 người, tối đa 30 – còn chỗ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Thanh vàng: lớp sắp đầy, nên chọn buổi khác nếu được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Buổi đã đầy thì không chọn được</a:t>
            </a:r>
            <a:endParaRPr lang="en-US" sz="1600" dirty="0"/>
          </a:p>
        </p:txBody>
      </p:sp>
      <p:sp>
        <p:nvSpPr>
          <p:cNvPr id="5" name="Giờ học"/>
          <p:cNvSpPr/>
          <p:nvPr/>
        </p:nvSpPr>
        <p:spPr>
          <a:xfrm>
            <a:off x="4709160" y="1097280"/>
            <a:ext cx="39776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46320" y="1207008"/>
            <a:ext cx="370332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Giờ học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Chọn buổi Thầy/Cô chắc chắn tham gia được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Trùng giờ với buổi học khác của Thầy/Cô → trang có cảnh báo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Ưu tiên buổi sớm để kịp tiến độ khóa học</a:t>
            </a:r>
            <a:endParaRPr lang="en-US" sz="1600" dirty="0"/>
          </a:p>
        </p:txBody>
      </p:sp>
      <p:sp>
        <p:nvSpPr>
          <p:cNvPr id="7" name="Luu y lop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Chỉ hiện các buổi tương đương: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cùng giai đoạn, cùng buổi số, cùng mức. Không thấy buổi nào? Hỏi người hỗ trợ lớp/cụm.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Bước 3 – Chờ người hỗ trợ duyệt</a:t>
            </a:r>
            <a:endParaRPr lang="en-US" sz="2800" dirty="0"/>
          </a:p>
        </p:txBody>
      </p:sp>
      <p:sp>
        <p:nvSpPr>
          <p:cNvPr id="3" name="Khung pc-hv-cho-duyet"/>
          <p:cNvSpPr/>
          <p:nvPr/>
        </p:nvSpPr>
        <p:spPr>
          <a:xfrm>
            <a:off x="1334681" y="1184148"/>
            <a:ext cx="4544993" cy="2770632"/>
          </a:xfrm>
          <a:prstGeom prst="roundRect">
            <a:avLst>
              <a:gd name="adj" fmla="val 132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22000"/>
              </a:srgbClr>
            </a:outerShdw>
          </a:effectLst>
        </p:spPr>
      </p:sp>
      <p:pic>
        <p:nvPicPr>
          <p:cNvPr id="4" name="Anh pc-hv-cho-duyet" descr="Đề nghị học bù đang chờ duyệt, xếp thứ 1, có nút Sửa và Hủy đề ngh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541" y="1207008"/>
            <a:ext cx="4499273" cy="2724912"/>
          </a:xfrm>
          <a:prstGeom prst="rect">
            <a:avLst/>
          </a:prstGeom>
        </p:spPr>
      </p:pic>
      <p:sp>
        <p:nvSpPr>
          <p:cNvPr id="5" name="Khung m-hv-cho-duyet"/>
          <p:cNvSpPr/>
          <p:nvPr/>
        </p:nvSpPr>
        <p:spPr>
          <a:xfrm>
            <a:off x="6213430" y="1152144"/>
            <a:ext cx="1627893" cy="2834640"/>
          </a:xfrm>
          <a:prstGeom prst="roundRect">
            <a:avLst>
              <a:gd name="adj" fmla="val 5617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1B2A2F">
                <a:alpha val="22000"/>
              </a:srgbClr>
            </a:outerShdw>
          </a:effectLst>
        </p:spPr>
      </p:sp>
      <p:pic>
        <p:nvPicPr>
          <p:cNvPr id="6" name="Anh m-hv-cho-duyet" descr="Đề nghị đang chờ duyệt trên điện thoạ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294" y="1207008"/>
            <a:ext cx="1518165" cy="27249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57541" y="932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MÁY TÍNH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268294" y="932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ĐIỆN THOẠI</a:t>
            </a:r>
            <a:endParaRPr lang="en-US" sz="1100" dirty="0"/>
          </a:p>
        </p:txBody>
      </p:sp>
      <p:sp>
        <p:nvSpPr>
          <p:cNvPr id="9" name="To dam"/>
          <p:cNvSpPr/>
          <p:nvPr/>
        </p:nvSpPr>
        <p:spPr>
          <a:xfrm>
            <a:off x="1496955" y="2182907"/>
            <a:ext cx="1362456" cy="177436"/>
          </a:xfrm>
          <a:prstGeom prst="roundRect">
            <a:avLst>
              <a:gd name="adj" fmla="val 20614"/>
            </a:avLst>
          </a:prstGeom>
          <a:ln w="28575">
            <a:solidFill>
              <a:schemeClr val="accent2"/>
            </a:solidFill>
            <a:prstDash val="solid"/>
          </a:ln>
        </p:spPr>
      </p:sp>
      <p:sp>
        <p:nvSpPr>
          <p:cNvPr id="10" name="Buoc 1"/>
          <p:cNvSpPr/>
          <p:nvPr/>
        </p:nvSpPr>
        <p:spPr>
          <a:xfrm>
            <a:off x="457200" y="4114800"/>
            <a:ext cx="265176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11" name="So 1"/>
          <p:cNvSpPr/>
          <p:nvPr/>
        </p:nvSpPr>
        <p:spPr>
          <a:xfrm>
            <a:off x="54864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4864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4114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Nhãn </a:t>
            </a:r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Đang chờ duyệt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+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Học bù</a:t>
            </a:r>
            <a:endParaRPr lang="en-US" sz="1200" dirty="0"/>
          </a:p>
        </p:txBody>
      </p:sp>
      <p:sp>
        <p:nvSpPr>
          <p:cNvPr id="14" name="Buoc 2"/>
          <p:cNvSpPr/>
          <p:nvPr/>
        </p:nvSpPr>
        <p:spPr>
          <a:xfrm>
            <a:off x="3246120" y="4114800"/>
            <a:ext cx="265176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15" name="So 2"/>
          <p:cNvSpPr/>
          <p:nvPr/>
        </p:nvSpPr>
        <p:spPr>
          <a:xfrm>
            <a:off x="333756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33756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703320" y="4114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Duyệt theo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thứ tự gửi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; Sửa thì về cuối hàng</a:t>
            </a:r>
            <a:endParaRPr lang="en-US" sz="1200" dirty="0"/>
          </a:p>
        </p:txBody>
      </p:sp>
      <p:sp>
        <p:nvSpPr>
          <p:cNvPr id="18" name="Buoc 3"/>
          <p:cNvSpPr/>
          <p:nvPr/>
        </p:nvSpPr>
        <p:spPr>
          <a:xfrm>
            <a:off x="6035040" y="4114800"/>
            <a:ext cx="265176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19" name="So 3"/>
          <p:cNvSpPr/>
          <p:nvPr/>
        </p:nvSpPr>
        <p:spPr>
          <a:xfrm>
            <a:off x="612648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12648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492240" y="4114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Chưa duyệt: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chưa đi học buổi học bù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Bước 4 – Đi học buổi học bù</a:t>
            </a:r>
            <a:endParaRPr lang="en-US" sz="2800" dirty="0"/>
          </a:p>
        </p:txBody>
      </p:sp>
      <p:sp>
        <p:nvSpPr>
          <p:cNvPr id="3" name="Khung pc-hv-sau"/>
          <p:cNvSpPr/>
          <p:nvPr/>
        </p:nvSpPr>
        <p:spPr>
          <a:xfrm>
            <a:off x="2024086" y="1184148"/>
            <a:ext cx="3166184" cy="2770632"/>
          </a:xfrm>
          <a:prstGeom prst="roundRect">
            <a:avLst>
              <a:gd name="adj" fmla="val 132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22000"/>
              </a:srgbClr>
            </a:outerShdw>
          </a:effectLst>
        </p:spPr>
      </p:sp>
      <p:pic>
        <p:nvPicPr>
          <p:cNvPr id="4" name="Anh pc-hv-sau" descr="Trang Lớp học sau khi duyệt: Buổi 2 vẫn Vắng, có thêm Buổi 2 nhãn Học bù tại Lớp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6946" y="1207008"/>
            <a:ext cx="3120464" cy="2724912"/>
          </a:xfrm>
          <a:prstGeom prst="rect">
            <a:avLst/>
          </a:prstGeom>
        </p:spPr>
      </p:pic>
      <p:sp>
        <p:nvSpPr>
          <p:cNvPr id="5" name="Khung m-hv-sau"/>
          <p:cNvSpPr/>
          <p:nvPr/>
        </p:nvSpPr>
        <p:spPr>
          <a:xfrm>
            <a:off x="5524025" y="1152144"/>
            <a:ext cx="1627893" cy="2834640"/>
          </a:xfrm>
          <a:prstGeom prst="roundRect">
            <a:avLst>
              <a:gd name="adj" fmla="val 5617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1B2A2F">
                <a:alpha val="22000"/>
              </a:srgbClr>
            </a:outerShdw>
          </a:effectLst>
        </p:spPr>
      </p:sp>
      <p:pic>
        <p:nvPicPr>
          <p:cNvPr id="6" name="Anh m-hv-sau" descr="Lịch sau khi duyệt trên điện thoạ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889" y="1207008"/>
            <a:ext cx="1518165" cy="27249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046946" y="932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MÁY TÍNH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578889" y="932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ĐIỆN THOẠI</a:t>
            </a:r>
            <a:endParaRPr lang="en-US" sz="1100" dirty="0"/>
          </a:p>
        </p:txBody>
      </p:sp>
      <p:sp>
        <p:nvSpPr>
          <p:cNvPr id="9" name="To dam"/>
          <p:cNvSpPr/>
          <p:nvPr/>
        </p:nvSpPr>
        <p:spPr>
          <a:xfrm>
            <a:off x="2253511" y="2701315"/>
            <a:ext cx="2707332" cy="518612"/>
          </a:xfrm>
          <a:prstGeom prst="roundRect">
            <a:avLst>
              <a:gd name="adj" fmla="val 7053"/>
            </a:avLst>
          </a:prstGeom>
          <a:ln w="28575">
            <a:solidFill>
              <a:schemeClr val="accent2"/>
            </a:solidFill>
            <a:prstDash val="solid"/>
          </a:ln>
        </p:spPr>
      </p:sp>
      <p:sp>
        <p:nvSpPr>
          <p:cNvPr id="10" name="Buoc 1"/>
          <p:cNvSpPr/>
          <p:nvPr/>
        </p:nvSpPr>
        <p:spPr>
          <a:xfrm>
            <a:off x="457200" y="4114800"/>
            <a:ext cx="265176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11" name="So 1"/>
          <p:cNvSpPr/>
          <p:nvPr/>
        </p:nvSpPr>
        <p:spPr>
          <a:xfrm>
            <a:off x="54864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4864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4114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Lịch có thêm buổi nhãn </a:t>
            </a:r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Học bù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; buổi cũ vẫn ghi Vắng</a:t>
            </a:r>
            <a:endParaRPr lang="en-US" sz="1200" dirty="0"/>
          </a:p>
        </p:txBody>
      </p:sp>
      <p:sp>
        <p:nvSpPr>
          <p:cNvPr id="14" name="Buoc 2"/>
          <p:cNvSpPr/>
          <p:nvPr/>
        </p:nvSpPr>
        <p:spPr>
          <a:xfrm>
            <a:off x="3246120" y="4114800"/>
            <a:ext cx="265176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15" name="So 2"/>
          <p:cNvSpPr/>
          <p:nvPr/>
        </p:nvSpPr>
        <p:spPr>
          <a:xfrm>
            <a:off x="333756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33756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703320" y="4114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Đúng giờ, bấm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Vào học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của buổi học bù</a:t>
            </a:r>
            <a:endParaRPr lang="en-US" sz="1200" dirty="0"/>
          </a:p>
        </p:txBody>
      </p:sp>
      <p:sp>
        <p:nvSpPr>
          <p:cNvPr id="18" name="Buoc 3"/>
          <p:cNvSpPr/>
          <p:nvPr/>
        </p:nvSpPr>
        <p:spPr>
          <a:xfrm>
            <a:off x="6035040" y="4114800"/>
            <a:ext cx="265176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19" name="So 3"/>
          <p:cNvSpPr/>
          <p:nvPr/>
        </p:nvSpPr>
        <p:spPr>
          <a:xfrm>
            <a:off x="6126480" y="425196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12648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492240" y="4114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Có mặt buổi học bù →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tính có mặt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cho buổi đã vắng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Cần nhớ</a:t>
            </a:r>
            <a:endParaRPr lang="en-US" sz="2800" dirty="0"/>
          </a:p>
        </p:txBody>
      </p:sp>
      <p:sp>
        <p:nvSpPr>
          <p:cNvPr id="3" name="So 1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704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Mỗi khóa có số lượt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00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Trang ghi “Còn x/N lượt học bù”; bị từ chối hoặc tự hủy được trả lại lượt</a:t>
            </a:r>
            <a:endParaRPr lang="en-US" sz="1400" dirty="0"/>
          </a:p>
        </p:txBody>
      </p:sp>
      <p:sp>
        <p:nvSpPr>
          <p:cNvPr id="7" name="So 2"/>
          <p:cNvSpPr/>
          <p:nvPr/>
        </p:nvSpPr>
        <p:spPr>
          <a:xfrm>
            <a:off x="4663440" y="118872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1704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Chỉ học khi đã duyệt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600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Thấy buổi nhãn Học bù trên lịch mới vào lớp học bù</a:t>
            </a:r>
            <a:endParaRPr lang="en-US" sz="1400" dirty="0"/>
          </a:p>
        </p:txBody>
      </p:sp>
      <p:sp>
        <p:nvSpPr>
          <p:cNvPr id="11" name="So 3"/>
          <p:cNvSpPr/>
          <p:nvPr/>
        </p:nvSpPr>
        <p:spPr>
          <a:xfrm>
            <a:off x="457200" y="288036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8620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Đổi ý trước giờ học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2918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Sửa, Hủy đề nghị hoặc Đổi lại khi buổi học bù chưa bắt đầu</a:t>
            </a:r>
            <a:endParaRPr lang="en-US" sz="1400" dirty="0"/>
          </a:p>
        </p:txBody>
      </p:sp>
      <p:sp>
        <p:nvSpPr>
          <p:cNvPr id="15" name="So 4"/>
          <p:cNvSpPr/>
          <p:nvPr/>
        </p:nvSpPr>
        <p:spPr>
          <a:xfrm>
            <a:off x="4663440" y="288036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8620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Biết trước sẽ vắng?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2918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Dùng “Không tham gia được buổi này?” để đổi buổi trước khi buổi học diễn ra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c bu">
  <a:themeElements>
    <a:clrScheme name="Hoc bu">
      <a:dk1>
        <a:srgbClr val="1B2A2F"/>
      </a:dk1>
      <a:lt1>
        <a:srgbClr val="FFFFFF"/>
      </a:lt1>
      <a:dk2>
        <a:srgbClr val="0F4C5C"/>
      </a:dk2>
      <a:lt2>
        <a:srgbClr val="EAF3F3"/>
      </a:lt2>
      <a:accent1>
        <a:srgbClr val="1F8A70"/>
      </a:accent1>
      <a:accent2>
        <a:srgbClr val="D9922E"/>
      </a:accent2>
      <a:accent3>
        <a:srgbClr val="C8473C"/>
      </a:accent3>
      <a:accent4>
        <a:srgbClr val="0F4C5C"/>
      </a:accent4>
      <a:accent5>
        <a:srgbClr val="5B7C85"/>
      </a:accent5>
      <a:accent6>
        <a:srgbClr val="9DC9C0"/>
      </a:accent6>
      <a:hlink>
        <a:srgbClr val="1F6F8B"/>
      </a:hlink>
      <a:folHlink>
        <a:srgbClr val="5B7C85"/>
      </a:folHlink>
    </a:clrScheme>
    <a:fontScheme name="Hoc b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Đăng ký học bù – Hướng dẫn học viên</dc:title>
  <dc:subject>PptxGenJS Presentation</dc:subject>
  <dc:creator>HCMUE</dc:creator>
  <cp:lastModifiedBy>HCMUE</cp:lastModifiedBy>
  <cp:revision>1</cp:revision>
  <dcterms:created xsi:type="dcterms:W3CDTF">2026-10-19T12:57:19Z</dcterms:created>
  <dcterms:modified xsi:type="dcterms:W3CDTF">2026-10-19T12:57:19Z</dcterms:modified>
</cp:coreProperties>
</file>