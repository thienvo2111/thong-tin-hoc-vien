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492a4475-685d-c9f5-cc57-a6bd0219ce3b}">
          <p14:sldIdLst>
            <p14:sldId id="256"/>
          </p14:sldIdLst>
        </p14:section>
        <p14:section name="Quy tắc" id="{1cf8d9a8-6acd-ed86-aa81-82b1bfede1ef}">
          <p14:sldIdLst>
            <p14:sldId id="257"/>
            <p14:sldId id="258"/>
          </p14:sldIdLst>
        </p14:section>
        <p14:section name="Thao tác" id="{7aafd28b-fdb2-6398-e480-af69f8c556d2}">
          <p14:sldIdLst>
            <p14:sldId id="259"/>
            <p14:sldId id="260"/>
            <p14:sldId id="261"/>
          </p14:sldIdLst>
        </p14:section>
        <p14:section name="Lưu ý" id="{d4434d18-1c19-96ee-a67a-e07766fd890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Ảnh minh họa dùng dữ liệu giả (học viên Nguyễn Văn An, khóa Z-MINH-HOA-HB); giao diện máy tính và điện thoại đặt song song.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Bồi dưỡng năng lực số · HCMUE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T_THUC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HƯỚNG DẪN DÀNH CHO NGƯỜI HỖ TRỢ HỌC VIÊN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Duyệt đăng ký học bù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Học viên đã vắng một buổi xin học lại buổi đó ở lớp khác – duyệt trên máy tính hoặc điện thoại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Menu: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Đổi buổi → Loại: Học bù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Quy tắc cần nhớ</a:t>
            </a:r>
            <a:endParaRPr lang="en-US" sz="2800" dirty="0"/>
          </a:p>
        </p:txBody>
      </p:sp>
      <p:sp>
        <p:nvSpPr>
          <p:cNvPr id="3" name="Ai được gửi"/>
          <p:cNvSpPr/>
          <p:nvPr/>
        </p:nvSpPr>
        <p:spPr>
          <a:xfrm>
            <a:off x="457200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được gửi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Học viên vắng buổi đã diễn ra (Vắng, Vắng có phép hoặc chưa có điểm danh)</a:t>
            </a:r>
            <a:endParaRPr lang="en-US" sz="1300" dirty="0"/>
          </a:p>
        </p:txBody>
      </p:sp>
      <p:sp>
        <p:nvSpPr>
          <p:cNvPr id="6" name="Buổi học bù"/>
          <p:cNvSpPr/>
          <p:nvPr/>
        </p:nvSpPr>
        <p:spPr>
          <a:xfrm>
            <a:off x="3264408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01568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Buổi học bù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Buổi tương đương ở lớp khác: cùng giai đoạn, buổi số, mức – chưa bắt đầu</a:t>
            </a:r>
            <a:endParaRPr lang="en-US" sz="1300" dirty="0"/>
          </a:p>
        </p:txBody>
      </p:sp>
      <p:sp>
        <p:nvSpPr>
          <p:cNvPr id="9" name="Lượt"/>
          <p:cNvSpPr/>
          <p:nvPr/>
        </p:nvSpPr>
        <p:spPr>
          <a:xfrm>
            <a:off x="6071616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08776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Lượt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Tính riêng với đổi buổi; từ chối hoặc học viên hủy thì trả lại lượt</a:t>
            </a:r>
            <a:endParaRPr lang="en-US" sz="1300" dirty="0"/>
          </a:p>
        </p:txBody>
      </p:sp>
      <p:sp>
        <p:nvSpPr>
          <p:cNvPr id="12" name="Thứ tự"/>
          <p:cNvSpPr/>
          <p:nvPr/>
        </p:nvSpPr>
        <p:spPr>
          <a:xfrm>
            <a:off x="457200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Thứ tự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Duyệt theo giờ gửi; học viên sửa đề nghị thì về cuối hàng</a:t>
            </a:r>
            <a:endParaRPr lang="en-US" sz="1300" dirty="0"/>
          </a:p>
        </p:txBody>
      </p:sp>
      <p:sp>
        <p:nvSpPr>
          <p:cNvPr id="15" name="Sĩ số"/>
          <p:cNvSpPr/>
          <p:nvPr/>
        </p:nvSpPr>
        <p:spPr>
          <a:xfrm>
            <a:off x="3264408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1568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Sĩ số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Không vượt sĩ số tối đa; chỗ được giữ cho người gửi trước</a:t>
            </a:r>
            <a:endParaRPr lang="en-US" sz="1300" dirty="0"/>
          </a:p>
        </p:txBody>
      </p:sp>
      <p:sp>
        <p:nvSpPr>
          <p:cNvPr id="18" name="Quản trị"/>
          <p:cNvSpPr/>
          <p:nvPr/>
        </p:nvSpPr>
        <p:spPr>
          <a:xfrm>
            <a:off x="6071616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08776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Quản trị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Bật/tắt bằng ô Số buổi học bù tối đa ở trang khóa (0 = tắt)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Học bù khác đổi buổi ở đâu?</a:t>
            </a:r>
            <a:endParaRPr lang="en-US" sz="2800" dirty="0"/>
          </a:p>
        </p:txBody>
      </p:sp>
      <p:graphicFrame>
        <p:nvGraphicFramePr>
          <p:cNvPr id="4" name="Bang so san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Đổi buổi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Học bù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Buổi gốc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Chưa diễn 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Đã diễn ra, học viên vắng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Lịch học viên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Buổi mới thay buổi cũ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Thêm buổi Học bù, buổi vắng giữ nguyên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Sĩ số buổi gốc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Giảm 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Không giảm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Lớp gốc / lớp đích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Đổi sang … / Từ …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Học bù tại … / Học bù từ …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Quá hạn khi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Buổi gốc bắt đầu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Buổi học bù bắt đầu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Điểm danh: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ghi ở buổi học bù như học viên của lớp đó; có mặt buổi học bù được tính có mặt cho buổi đã vắng.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Mở danh sách – menu Đổi buổi, lọc Học bù</a:t>
            </a:r>
            <a:endParaRPr lang="en-US" sz="2800" dirty="0"/>
          </a:p>
        </p:txBody>
      </p:sp>
      <p:sp>
        <p:nvSpPr>
          <p:cNvPr id="3" name="Khung pc-ht-danh-sach"/>
          <p:cNvSpPr/>
          <p:nvPr/>
        </p:nvSpPr>
        <p:spPr>
          <a:xfrm>
            <a:off x="434340" y="1184148"/>
            <a:ext cx="6345675" cy="2536185"/>
          </a:xfrm>
          <a:prstGeom prst="roundRect">
            <a:avLst>
              <a:gd name="adj" fmla="val 144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t-danh-sach" descr="Màn Đổi buổi học trên máy tính, lọc Loại Học bù, thẻ đề nghị có nhãn Học b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6299955" cy="2490465"/>
          </a:xfrm>
          <a:prstGeom prst="rect">
            <a:avLst/>
          </a:prstGeom>
        </p:spPr>
      </p:pic>
      <p:sp>
        <p:nvSpPr>
          <p:cNvPr id="5" name="Khung m-ht-danh-sach"/>
          <p:cNvSpPr/>
          <p:nvPr/>
        </p:nvSpPr>
        <p:spPr>
          <a:xfrm>
            <a:off x="7113771" y="1152144"/>
            <a:ext cx="1627893" cy="2834640"/>
          </a:xfrm>
          <a:prstGeom prst="roundRect">
            <a:avLst>
              <a:gd name="adj" fmla="val 56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t-danh-sach" descr="Màn Đổi buổi học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635" y="1207008"/>
            <a:ext cx="1518165" cy="2724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168635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So 1"/>
          <p:cNvSpPr/>
          <p:nvPr/>
        </p:nvSpPr>
        <p:spPr>
          <a:xfrm>
            <a:off x="3668252" y="1328039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668252" y="13280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o 2"/>
          <p:cNvSpPr/>
          <p:nvPr/>
        </p:nvSpPr>
        <p:spPr>
          <a:xfrm>
            <a:off x="1602088" y="1927595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602088" y="19275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o dam"/>
          <p:cNvSpPr/>
          <p:nvPr/>
        </p:nvSpPr>
        <p:spPr>
          <a:xfrm>
            <a:off x="761590" y="2747407"/>
            <a:ext cx="5691174" cy="332062"/>
          </a:xfrm>
          <a:prstGeom prst="roundRect">
            <a:avLst>
              <a:gd name="adj" fmla="val 11015"/>
            </a:avLst>
          </a:prstGeom>
          <a:ln w="28575">
            <a:solidFill>
              <a:schemeClr val="accent2"/>
            </a:solidFill>
            <a:prstDash val="solid"/>
          </a:ln>
        </p:spPr>
      </p:sp>
      <p:sp>
        <p:nvSpPr>
          <p:cNvPr id="14" name="So 4"/>
          <p:cNvSpPr/>
          <p:nvPr/>
        </p:nvSpPr>
        <p:spPr>
          <a:xfrm>
            <a:off x="559783" y="3338859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59783" y="3338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Buoc 1"/>
          <p:cNvSpPr/>
          <p:nvPr/>
        </p:nvSpPr>
        <p:spPr>
          <a:xfrm>
            <a:off x="45720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7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Mở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Đổi buổi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(số đỏ = đang chờ)</a:t>
            </a:r>
            <a:endParaRPr lang="en-US" sz="1200" dirty="0"/>
          </a:p>
        </p:txBody>
      </p:sp>
      <p:sp>
        <p:nvSpPr>
          <p:cNvPr id="20" name="Buoc 2"/>
          <p:cNvSpPr/>
          <p:nvPr/>
        </p:nvSpPr>
        <p:spPr>
          <a:xfrm>
            <a:off x="254889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1" name="So 2"/>
          <p:cNvSpPr/>
          <p:nvPr/>
        </p:nvSpPr>
        <p:spPr>
          <a:xfrm>
            <a:off x="264033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64033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00609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Loại: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Học bù</a:t>
            </a:r>
            <a:endParaRPr lang="en-US" sz="1200" dirty="0"/>
          </a:p>
        </p:txBody>
      </p:sp>
      <p:sp>
        <p:nvSpPr>
          <p:cNvPr id="24" name="Buoc 3"/>
          <p:cNvSpPr/>
          <p:nvPr/>
        </p:nvSpPr>
        <p:spPr>
          <a:xfrm>
            <a:off x="464058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5" name="So 3"/>
          <p:cNvSpPr/>
          <p:nvPr/>
        </p:nvSpPr>
        <p:spPr>
          <a:xfrm>
            <a:off x="473202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73202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09778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Xem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Buổi đã vắng → Xin học bù tại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sĩ số</a:t>
            </a:r>
            <a:endParaRPr lang="en-US" sz="1200" dirty="0"/>
          </a:p>
        </p:txBody>
      </p:sp>
      <p:sp>
        <p:nvSpPr>
          <p:cNvPr id="28" name="Buoc 4"/>
          <p:cNvSpPr/>
          <p:nvPr/>
        </p:nvSpPr>
        <p:spPr>
          <a:xfrm>
            <a:off x="673227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9" name="So 4"/>
          <p:cNvSpPr/>
          <p:nvPr/>
        </p:nvSpPr>
        <p:spPr>
          <a:xfrm>
            <a:off x="682371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2371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18947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Duyệt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hoặc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Từ chối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Duyệt và chốt buổi học bù</a:t>
            </a:r>
            <a:endParaRPr lang="en-US" sz="2800" dirty="0"/>
          </a:p>
        </p:txBody>
      </p:sp>
      <p:sp>
        <p:nvSpPr>
          <p:cNvPr id="3" name="Khung pc-ht-modal"/>
          <p:cNvSpPr/>
          <p:nvPr/>
        </p:nvSpPr>
        <p:spPr>
          <a:xfrm>
            <a:off x="1165807" y="1184148"/>
            <a:ext cx="4023465" cy="2770632"/>
          </a:xfrm>
          <a:prstGeom prst="roundRect">
            <a:avLst>
              <a:gd name="adj" fmla="val 132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t-modal" descr="Hộp thoại Duyệt đề nghị: chọn buổi chốt, ghi chú, Xác nhận duyệ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667" y="1207008"/>
            <a:ext cx="3977745" cy="2724912"/>
          </a:xfrm>
          <a:prstGeom prst="rect">
            <a:avLst/>
          </a:prstGeom>
        </p:spPr>
      </p:pic>
      <p:sp>
        <p:nvSpPr>
          <p:cNvPr id="5" name="Khung m-ht-modal"/>
          <p:cNvSpPr/>
          <p:nvPr/>
        </p:nvSpPr>
        <p:spPr>
          <a:xfrm>
            <a:off x="5523029" y="1152144"/>
            <a:ext cx="2487168" cy="2791968"/>
          </a:xfrm>
          <a:prstGeom prst="roundRect">
            <a:avLst>
              <a:gd name="adj" fmla="val 367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t-modal" descr="Hộp thoại duyệt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93" y="1207008"/>
            <a:ext cx="2377440" cy="2682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667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577893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So 5"/>
          <p:cNvSpPr/>
          <p:nvPr/>
        </p:nvSpPr>
        <p:spPr>
          <a:xfrm>
            <a:off x="1148350" y="223159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8350" y="22315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1" name="So 6"/>
          <p:cNvSpPr/>
          <p:nvPr/>
        </p:nvSpPr>
        <p:spPr>
          <a:xfrm>
            <a:off x="1148350" y="3190016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48350" y="3190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3" name="So 7"/>
          <p:cNvSpPr/>
          <p:nvPr/>
        </p:nvSpPr>
        <p:spPr>
          <a:xfrm>
            <a:off x="4956962" y="350948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56962" y="3509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5" name="Buoc 5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6" name="So 5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Chọn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buổi chốt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(mặc định buổi học viên xin)</a:t>
            </a:r>
            <a:endParaRPr lang="en-US" sz="1200" dirty="0"/>
          </a:p>
        </p:txBody>
      </p:sp>
      <p:sp>
        <p:nvSpPr>
          <p:cNvPr id="19" name="Buoc 6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0" name="So 6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3375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70332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Ghi chú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nếu cần (không bắt buộc)</a:t>
            </a:r>
            <a:endParaRPr lang="en-US" sz="1200" dirty="0"/>
          </a:p>
        </p:txBody>
      </p:sp>
      <p:sp>
        <p:nvSpPr>
          <p:cNvPr id="23" name="Buoc 7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4" name="So 7"/>
          <p:cNvSpPr/>
          <p:nvPr/>
        </p:nvSpPr>
        <p:spPr>
          <a:xfrm>
            <a:off x="612648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1264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49224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Xác nhận duyệt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duyệt được hoặc cần xử lý khác?</a:t>
            </a:r>
            <a:endParaRPr lang="en-US" sz="2800" dirty="0"/>
          </a:p>
        </p:txBody>
      </p:sp>
      <p:graphicFrame>
        <p:nvGraphicFramePr>
          <p:cNvPr id="7" name="Bang tinh huo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Tình huống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Cách xử lý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Buổi học viên xin đã đầy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Chọn buổi chốt khác còn chỗ, hoặc Từ chối và nhắn học viên chọn buổi khác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Học viên đã có mặt buổi gốc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Không cần học bù (đã được ghi có mặt sau khi gửi) – Từ chối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Bị ghi vắng nhầm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Từ chối học bù, xử lý bằng Điểm danh bổ sung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Đề nghị quá hạn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Buổi học bù đã bắt đầu – học viên hủy và gửi buổi khác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Cần hủy đã duyệt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Hủy duyệt khi buổi học bù chưa bắt đầu và học viên chưa điểm danh ở buổi đó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Lưu ý quan trọng</a:t>
            </a:r>
            <a:endParaRPr lang="en-US" sz="2800" dirty="0"/>
          </a:p>
        </p:txBody>
      </p:sp>
      <p:sp>
        <p:nvSpPr>
          <p:cNvPr id="3" name="So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Duyệt trước buổi học bù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Đề nghị chưa duyệt khi buổi học bù bắt đầu sẽ thành quá hạn</a:t>
            </a:r>
            <a:endParaRPr lang="en-US" sz="1400" dirty="0"/>
          </a:p>
        </p:txBody>
      </p:sp>
      <p:sp>
        <p:nvSpPr>
          <p:cNvPr id="7" name="So 2"/>
          <p:cNvSpPr/>
          <p:nvPr/>
        </p:nvSpPr>
        <p:spPr>
          <a:xfrm>
            <a:off x="4663440" y="11887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Nhắn học viên sau khi duyệt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Học viên vào học bằng nút Vào học của buổi Học bù trên lịch</a:t>
            </a:r>
            <a:endParaRPr lang="en-US" sz="1400" dirty="0"/>
          </a:p>
        </p:txBody>
      </p:sp>
      <p:sp>
        <p:nvSpPr>
          <p:cNvPr id="11" name="So 3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Theo dõi chung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Tab Thống kê: lọc Loại đề nghị = Học bù, xuất Excel</a:t>
            </a:r>
            <a:endParaRPr lang="en-US" sz="1400" dirty="0"/>
          </a:p>
        </p:txBody>
      </p:sp>
      <p:sp>
        <p:nvSpPr>
          <p:cNvPr id="15" name="So 4"/>
          <p:cNvSpPr/>
          <p:nvPr/>
        </p:nvSpPr>
        <p:spPr>
          <a:xfrm>
            <a:off x="466344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Bảo mật dữ liệu học viên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Không chia sẻ danh sách ra ngoài nhóm hỗ trợ; file Excel chỉ dùng nội bộ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c bu">
  <a:themeElements>
    <a:clrScheme name="Hoc bu">
      <a:dk1>
        <a:srgbClr val="1B2A2F"/>
      </a:dk1>
      <a:lt1>
        <a:srgbClr val="FFFFFF"/>
      </a:lt1>
      <a:dk2>
        <a:srgbClr val="0F4C5C"/>
      </a:dk2>
      <a:lt2>
        <a:srgbClr val="EAF3F3"/>
      </a:lt2>
      <a:accent1>
        <a:srgbClr val="1F8A70"/>
      </a:accent1>
      <a:accent2>
        <a:srgbClr val="D9922E"/>
      </a:accent2>
      <a:accent3>
        <a:srgbClr val="C8473C"/>
      </a:accent3>
      <a:accent4>
        <a:srgbClr val="0F4C5C"/>
      </a:accent4>
      <a:accent5>
        <a:srgbClr val="5B7C85"/>
      </a:accent5>
      <a:accent6>
        <a:srgbClr val="9DC9C0"/>
      </a:accent6>
      <a:hlink>
        <a:srgbClr val="1F6F8B"/>
      </a:hlink>
      <a:folHlink>
        <a:srgbClr val="5B7C85"/>
      </a:folHlink>
    </a:clrScheme>
    <a:fontScheme name="Hoc b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ký học bù – Hướng dẫn người hỗ trợ</dc:title>
  <dc:subject>PptxGenJS Presentation</dc:subject>
  <dc:creator>HCMUE</dc:creator>
  <cp:lastModifiedBy>HCMUE</cp:lastModifiedBy>
  <cp:revision>1</cp:revision>
  <dcterms:created xsi:type="dcterms:W3CDTF">2026-10-19T12:57:19Z</dcterms:created>
  <dcterms:modified xsi:type="dcterms:W3CDTF">2026-10-19T12:57:19Z</dcterms:modified>
</cp:coreProperties>
</file>