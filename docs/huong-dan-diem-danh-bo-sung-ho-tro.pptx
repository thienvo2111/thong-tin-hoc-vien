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ở đầu" id="{15e9b55e-56a2-a742-275a-b734aab1eecd}">
          <p14:sldIdLst>
            <p14:sldId id="256"/>
          </p14:sldIdLst>
        </p14:section>
        <p14:section name="Quy tắc" id="{f0ef05d1-0aa7-b170-8a17-a04ccf5123ec}">
          <p14:sldIdLst>
            <p14:sldId id="257"/>
            <p14:sldId id="258"/>
            <p14:sldId id="259"/>
          </p14:sldIdLst>
        </p14:section>
        <p14:section name="Thao tác" id="{54b555a1-bbea-ebc4-1a34-a98d219488cb}">
          <p14:sldIdLst>
            <p14:sldId id="260"/>
            <p14:sldId id="261"/>
            <p14:sldId id="262"/>
            <p14:sldId id="263"/>
            <p14:sldId id="264"/>
          </p14:sldIdLst>
        </p14:section>
        <p14:section name="Lưu ý" id="{4a0cd160-11ef-c7a9-3ab5-7f6f7aedc40d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Ảnh minh họa dùng dữ liệu giả (học viên Nguyễn Văn An, lớp Z-MINH-HOA); giao diện máy tính và điện thoại đặt song song.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EU_D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617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Bồi dưỡng năng lực số · HCMUE</a:t>
            </a:r>
            <a:endParaRPr lang="en-US" sz="11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I_DUNG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80060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T_THUC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Bồi dưỡng năng lực số · HCMUE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1097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HƯỚNG DẪN DÀNH CHO NGƯỜI HỖ TRỢ HỌC VIÊN</a:t>
            </a:r>
            <a:endParaRPr lang="en-US" sz="14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Điểm danh bổ sung</a:t>
            </a:r>
            <a:endParaRPr lang="en-US" sz="4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548640" y="260604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Tra cứu tình hình đi học và ghi bổ sung khi học viên có minh chứng – trên máy tính hoặc điện thoại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947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Menu: </a:t>
            </a:r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Tình hình đi học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Quy tắc cần nhớ</a:t>
            </a:r>
            <a:endParaRPr lang="en-US" sz="2800" dirty="0"/>
          </a:p>
        </p:txBody>
      </p:sp>
      <p:sp>
        <p:nvSpPr>
          <p:cNvPr id="3" name="Ai được ghi"/>
          <p:cNvSpPr/>
          <p:nvPr/>
        </p:nvSpPr>
        <p:spPr>
          <a:xfrm>
            <a:off x="457200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được ghi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Học viên thuộc cụm của Thầy/Cô và lớp được gắn (gồm học viên đổi buổi vào lớp)</a:t>
            </a:r>
            <a:endParaRPr lang="en-US" sz="1300" dirty="0"/>
          </a:p>
        </p:txBody>
      </p:sp>
      <p:sp>
        <p:nvSpPr>
          <p:cNvPr id="6" name="Ghi trạng thái gì"/>
          <p:cNvSpPr/>
          <p:nvPr/>
        </p:nvSpPr>
        <p:spPr>
          <a:xfrm>
            <a:off x="3264408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01568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Ghi trạng thái gì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01568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Chỉ “Có mặt” hoặc “Vắng có phép” – không ghi “Vắng”</a:t>
            </a:r>
            <a:endParaRPr lang="en-US" sz="1300" dirty="0"/>
          </a:p>
        </p:txBody>
      </p:sp>
      <p:sp>
        <p:nvSpPr>
          <p:cNvPr id="9" name="Khi nào"/>
          <p:cNvSpPr/>
          <p:nvPr/>
        </p:nvSpPr>
        <p:spPr>
          <a:xfrm>
            <a:off x="6071616" y="109728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08776" y="120700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Khi nào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08776" y="160020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Buổi đã bắt đầu; không giới hạn số ngày sau buổi học</a:t>
            </a:r>
            <a:endParaRPr lang="en-US" sz="1300" dirty="0"/>
          </a:p>
        </p:txBody>
      </p:sp>
      <p:sp>
        <p:nvSpPr>
          <p:cNvPr id="12" name="Lý do"/>
          <p:cNvSpPr/>
          <p:nvPr/>
        </p:nvSpPr>
        <p:spPr>
          <a:xfrm>
            <a:off x="457200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Lý do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Bắt buộc, tối đa 500 ký tự – nêu rõ minh chứng</a:t>
            </a:r>
            <a:endParaRPr lang="en-US" sz="1300" dirty="0"/>
          </a:p>
        </p:txBody>
      </p:sp>
      <p:sp>
        <p:nvSpPr>
          <p:cNvPr id="15" name="Truy vết"/>
          <p:cNvSpPr/>
          <p:nvPr/>
        </p:nvSpPr>
        <p:spPr>
          <a:xfrm>
            <a:off x="3264408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401568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Truy vết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01568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Lưu người sửa, thời điểm, lý do và nhật ký hoạt động</a:t>
            </a:r>
            <a:endParaRPr lang="en-US" sz="1300" dirty="0"/>
          </a:p>
        </p:txBody>
      </p:sp>
      <p:sp>
        <p:nvSpPr>
          <p:cNvPr id="18" name="Quản trị"/>
          <p:cNvSpPr/>
          <p:nvPr/>
        </p:nvSpPr>
        <p:spPr>
          <a:xfrm>
            <a:off x="6071616" y="2834640"/>
            <a:ext cx="2615184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08776" y="29443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Quản trị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337560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Sửa được mọi trạng thái, kể cả “Vắng”, cho mọi học viên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Quy trình xử lý một yêu cầu</a:t>
            </a:r>
            <a:endParaRPr lang="en-US" sz="2800" dirty="0"/>
          </a:p>
        </p:txBody>
      </p:sp>
      <p:sp>
        <p:nvSpPr>
          <p:cNvPr id="3" name="Buoc 1"/>
          <p:cNvSpPr/>
          <p:nvPr/>
        </p:nvSpPr>
        <p:spPr>
          <a:xfrm>
            <a:off x="457200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4" name="So 1"/>
          <p:cNvSpPr/>
          <p:nvPr/>
        </p:nvSpPr>
        <p:spPr>
          <a:xfrm>
            <a:off x="594360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Nhận yêu cầu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Zalo hoặc yêu cầu hỗ trợ trên cổng</a:t>
            </a:r>
            <a:endParaRPr lang="en-US" sz="1200" dirty="0"/>
          </a:p>
        </p:txBody>
      </p:sp>
      <p:sp>
        <p:nvSpPr>
          <p:cNvPr id="8" name="Buoc 2"/>
          <p:cNvSpPr/>
          <p:nvPr/>
        </p:nvSpPr>
        <p:spPr>
          <a:xfrm>
            <a:off x="2130552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9" name="So 2"/>
          <p:cNvSpPr/>
          <p:nvPr/>
        </p:nvSpPr>
        <p:spPr>
          <a:xfrm>
            <a:off x="2267712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26771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Kiểm tra minh chứng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40280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Ảnh Zoom có tên + giờ, DS ký tên, xác nhận GV</a:t>
            </a:r>
            <a:endParaRPr lang="en-US" sz="1200" dirty="0"/>
          </a:p>
        </p:txBody>
      </p:sp>
      <p:sp>
        <p:nvSpPr>
          <p:cNvPr id="13" name="Buoc 3"/>
          <p:cNvSpPr/>
          <p:nvPr/>
        </p:nvSpPr>
        <p:spPr>
          <a:xfrm>
            <a:off x="3803904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4" name="So 3"/>
          <p:cNvSpPr/>
          <p:nvPr/>
        </p:nvSpPr>
        <p:spPr>
          <a:xfrm>
            <a:off x="3941064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4106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Tra cứu học viên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Tình hình đi học → tìm theo họ tên / mã MOET</a:t>
            </a:r>
            <a:endParaRPr lang="en-US" sz="1200" dirty="0"/>
          </a:p>
        </p:txBody>
      </p:sp>
      <p:sp>
        <p:nvSpPr>
          <p:cNvPr id="18" name="Buoc 4"/>
          <p:cNvSpPr/>
          <p:nvPr/>
        </p:nvSpPr>
        <p:spPr>
          <a:xfrm>
            <a:off x="5477256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19" name="So 4"/>
          <p:cNvSpPr/>
          <p:nvPr/>
        </p:nvSpPr>
        <p:spPr>
          <a:xfrm>
            <a:off x="5614416" y="13716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1441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586984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Ghi bổ sung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86984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Chọn buổi → trạng thái → lý do → Xác nhận</a:t>
            </a:r>
            <a:endParaRPr lang="en-US" sz="1200" dirty="0"/>
          </a:p>
        </p:txBody>
      </p:sp>
      <p:sp>
        <p:nvSpPr>
          <p:cNvPr id="23" name="Buoc 5"/>
          <p:cNvSpPr/>
          <p:nvPr/>
        </p:nvSpPr>
        <p:spPr>
          <a:xfrm>
            <a:off x="7150608" y="1234440"/>
            <a:ext cx="1517904" cy="2377440"/>
          </a:xfrm>
          <a:prstGeom prst="roundRect">
            <a:avLst>
              <a:gd name="adj" fmla="val 4819"/>
            </a:avLst>
          </a:prstGeom>
          <a:solidFill>
            <a:schemeClr val="bg2"/>
          </a:solidFill>
          <a:ln/>
        </p:spPr>
      </p:sp>
      <p:sp>
        <p:nvSpPr>
          <p:cNvPr id="24" name="So 5"/>
          <p:cNvSpPr/>
          <p:nvPr/>
        </p:nvSpPr>
        <p:spPr>
          <a:xfrm>
            <a:off x="7287768" y="1371600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877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260336" y="1874520"/>
            <a:ext cx="129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Phản hồi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260336" y="25146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Báo học viên kiểm tra lại; giữ minh chứng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Rà soát chủ động: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bật lọc “Có buổi vắng” hoặc “Có buổi chưa điểm danh” để thấy ngay học viên cần nhắc hoặc cần kiểm 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Kiểm tra minh chứng trước khi ghi</a:t>
            </a:r>
            <a:endParaRPr lang="en-US" sz="2800" dirty="0"/>
          </a:p>
        </p:txBody>
      </p:sp>
      <p:sp>
        <p:nvSpPr>
          <p:cNvPr id="3" name="Minh chứng hợp lệ"/>
          <p:cNvSpPr/>
          <p:nvPr/>
        </p:nvSpPr>
        <p:spPr>
          <a:xfrm>
            <a:off x="457200" y="1097280"/>
            <a:ext cx="39776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207008"/>
            <a:ext cx="370332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Minh chứng hợp lệ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Ảnh thấy rõ tên học viên + ngày giờ khớp buổi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Danh sách ký tên, hoặc xác nhận của giảng viên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Xin “Vắng có phép”: có giấy tờ lý do</a:t>
            </a:r>
            <a:endParaRPr lang="en-US" sz="1600" dirty="0"/>
          </a:p>
        </p:txBody>
      </p:sp>
      <p:sp>
        <p:nvSpPr>
          <p:cNvPr id="5" name="Link Google Drive từ mục Hỗ trợ"/>
          <p:cNvSpPr/>
          <p:nvPr/>
        </p:nvSpPr>
        <p:spPr>
          <a:xfrm>
            <a:off x="4709160" y="1097280"/>
            <a:ext cx="397764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46320" y="1207008"/>
            <a:ext cx="3703320" cy="2112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Link Google Drive từ mục Hỗ trợ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Link hiện dạng chữ – chạm giữ (hoặc bôi đen) để sao chép rồi mở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Báo “cần quyền truy cập” → nhắn học viên đổi sang “Bất kỳ ai có đường liên kết” (không bấm Yêu cầu quyền bằng Gmail cá nhân)</a:t>
            </a:r>
            <a:endParaRPr lang="en-US" sz="16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Chưa xem được ảnh thì chưa ghi</a:t>
            </a:r>
            <a:endParaRPr lang="en-US" sz="1600" dirty="0"/>
          </a:p>
        </p:txBody>
      </p:sp>
      <p:sp>
        <p:nvSpPr>
          <p:cNvPr id="7" name="Goi y ly do"/>
          <p:cNvSpPr/>
          <p:nvPr/>
        </p:nvSpPr>
        <p:spPr>
          <a:xfrm>
            <a:off x="457200" y="361188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36118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Ghi nguồn vào Lý do: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loại minh chứng + giờ trong ảnh + nơi nhận (Zalo / yêu cầu hỗ trợ ngày …).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Tra cứu học viên – menu Tình hình đi học</a:t>
            </a:r>
            <a:endParaRPr lang="en-US" sz="2800" dirty="0"/>
          </a:p>
        </p:txBody>
      </p:sp>
      <p:sp>
        <p:nvSpPr>
          <p:cNvPr id="3" name="Khung pc-ht-danh-sach"/>
          <p:cNvSpPr/>
          <p:nvPr/>
        </p:nvSpPr>
        <p:spPr>
          <a:xfrm>
            <a:off x="434340" y="1184148"/>
            <a:ext cx="6535445" cy="2231133"/>
          </a:xfrm>
          <a:prstGeom prst="roundRect">
            <a:avLst>
              <a:gd name="adj" fmla="val 163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4" name="Anh pc-ht-danh-sach" descr="Màn Tình hình đi học trên máy tính: chọn khóa, lọc Có buổi vắ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07008"/>
            <a:ext cx="6489725" cy="2185413"/>
          </a:xfrm>
          <a:prstGeom prst="rect">
            <a:avLst/>
          </a:prstGeom>
        </p:spPr>
      </p:pic>
      <p:sp>
        <p:nvSpPr>
          <p:cNvPr id="5" name="Khung m-ht-danh-sach"/>
          <p:cNvSpPr/>
          <p:nvPr/>
        </p:nvSpPr>
        <p:spPr>
          <a:xfrm>
            <a:off x="7303541" y="1152144"/>
            <a:ext cx="1438123" cy="2834640"/>
          </a:xfrm>
          <a:prstGeom prst="roundRect">
            <a:avLst>
              <a:gd name="adj" fmla="val 6358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6" name="Anh m-ht-danh-sach" descr="Màn Tình hình đi học trên điện thoạ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8405" y="1207008"/>
            <a:ext cx="1328395" cy="2724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932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MÁY TÍNH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7358405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ĐIỆN THOẠI</a:t>
            </a:r>
            <a:endParaRPr lang="en-US" sz="1100" dirty="0"/>
          </a:p>
        </p:txBody>
      </p:sp>
      <p:sp>
        <p:nvSpPr>
          <p:cNvPr id="9" name="So 1"/>
          <p:cNvSpPr/>
          <p:nvPr/>
        </p:nvSpPr>
        <p:spPr>
          <a:xfrm>
            <a:off x="1706944" y="2095684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1706944" y="20956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o 2"/>
          <p:cNvSpPr/>
          <p:nvPr/>
        </p:nvSpPr>
        <p:spPr>
          <a:xfrm>
            <a:off x="2989686" y="2095684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989686" y="20956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So 3"/>
          <p:cNvSpPr/>
          <p:nvPr/>
        </p:nvSpPr>
        <p:spPr>
          <a:xfrm>
            <a:off x="414700" y="2509012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14700" y="2509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So 4"/>
          <p:cNvSpPr/>
          <p:nvPr/>
        </p:nvSpPr>
        <p:spPr>
          <a:xfrm>
            <a:off x="471711" y="29746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71711" y="2974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7" name="Buoc 1"/>
          <p:cNvSpPr/>
          <p:nvPr/>
        </p:nvSpPr>
        <p:spPr>
          <a:xfrm>
            <a:off x="457200" y="4114800"/>
            <a:ext cx="195453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8" name="So 1"/>
          <p:cNvSpPr/>
          <p:nvPr/>
        </p:nvSpPr>
        <p:spPr>
          <a:xfrm>
            <a:off x="54864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4864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" y="4114800"/>
            <a:ext cx="1405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Chọn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Khóa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(bắt buộc)</a:t>
            </a:r>
            <a:endParaRPr lang="en-US" sz="1200" dirty="0"/>
          </a:p>
        </p:txBody>
      </p:sp>
      <p:sp>
        <p:nvSpPr>
          <p:cNvPr id="21" name="Buoc 2"/>
          <p:cNvSpPr/>
          <p:nvPr/>
        </p:nvSpPr>
        <p:spPr>
          <a:xfrm>
            <a:off x="2548890" y="4114800"/>
            <a:ext cx="195453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2" name="So 2"/>
          <p:cNvSpPr/>
          <p:nvPr/>
        </p:nvSpPr>
        <p:spPr>
          <a:xfrm>
            <a:off x="264033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64033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3006090" y="4114800"/>
            <a:ext cx="1405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Gõ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họ tên / mã MOET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(thiếu số 0 đầu vẫn tìm được)</a:t>
            </a:r>
            <a:endParaRPr lang="en-US" sz="1200" dirty="0"/>
          </a:p>
        </p:txBody>
      </p:sp>
      <p:sp>
        <p:nvSpPr>
          <p:cNvPr id="25" name="Buoc 3"/>
          <p:cNvSpPr/>
          <p:nvPr/>
        </p:nvSpPr>
        <p:spPr>
          <a:xfrm>
            <a:off x="4640580" y="4114800"/>
            <a:ext cx="195453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6" name="So 3"/>
          <p:cNvSpPr/>
          <p:nvPr/>
        </p:nvSpPr>
        <p:spPr>
          <a:xfrm>
            <a:off x="473202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73202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97780" y="4114800"/>
            <a:ext cx="1405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Lọc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Có buổi vắng / chưa điểm danh</a:t>
            </a:r>
            <a:endParaRPr lang="en-US" sz="1200" dirty="0"/>
          </a:p>
        </p:txBody>
      </p:sp>
      <p:sp>
        <p:nvSpPr>
          <p:cNvPr id="29" name="Buoc 4"/>
          <p:cNvSpPr/>
          <p:nvPr/>
        </p:nvSpPr>
        <p:spPr>
          <a:xfrm>
            <a:off x="6732270" y="4114800"/>
            <a:ext cx="195453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30" name="So 4"/>
          <p:cNvSpPr/>
          <p:nvPr/>
        </p:nvSpPr>
        <p:spPr>
          <a:xfrm>
            <a:off x="682371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82371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7189470" y="4114800"/>
            <a:ext cx="14058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tên học viên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3529581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Xuất Excel: đủ mọi dòng khớp bộ lọc; có họ tên – chỉ dùng nội bộ.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Mở chi tiết và chọn đúng buổi</a:t>
            </a:r>
            <a:endParaRPr lang="en-US" sz="2800" dirty="0"/>
          </a:p>
        </p:txBody>
      </p:sp>
      <p:sp>
        <p:nvSpPr>
          <p:cNvPr id="3" name="Khung pc-ht-chi-tiet"/>
          <p:cNvSpPr/>
          <p:nvPr/>
        </p:nvSpPr>
        <p:spPr>
          <a:xfrm>
            <a:off x="2083284" y="1184148"/>
            <a:ext cx="2905458" cy="2770632"/>
          </a:xfrm>
          <a:prstGeom prst="roundRect">
            <a:avLst>
              <a:gd name="adj" fmla="val 132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4" name="Anh pc-ht-chi-tiet" descr="Chi tiết từng buổi trên máy tính, Buổi 2 Vắng có nút Điểm danh bổ su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6144" y="1207008"/>
            <a:ext cx="2859738" cy="2724912"/>
          </a:xfrm>
          <a:prstGeom prst="rect">
            <a:avLst/>
          </a:prstGeom>
        </p:spPr>
      </p:pic>
      <p:sp>
        <p:nvSpPr>
          <p:cNvPr id="5" name="Khung m-ht-chi-tiet"/>
          <p:cNvSpPr/>
          <p:nvPr/>
        </p:nvSpPr>
        <p:spPr>
          <a:xfrm>
            <a:off x="5322499" y="1152144"/>
            <a:ext cx="1770221" cy="2834640"/>
          </a:xfrm>
          <a:prstGeom prst="roundRect">
            <a:avLst>
              <a:gd name="adj" fmla="val 5165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6" name="Anh m-ht-chi-tiet" descr="Chi tiết từng buổi trên điện thoạ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363" y="1207008"/>
            <a:ext cx="1660493" cy="2724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06144" y="932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MÁY TÍNH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377363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ĐIỆN THOẠI</a:t>
            </a:r>
            <a:endParaRPr lang="en-US" sz="1100" dirty="0"/>
          </a:p>
        </p:txBody>
      </p:sp>
      <p:sp>
        <p:nvSpPr>
          <p:cNvPr id="9" name="To dam"/>
          <p:cNvSpPr/>
          <p:nvPr/>
        </p:nvSpPr>
        <p:spPr>
          <a:xfrm>
            <a:off x="2822853" y="2186273"/>
            <a:ext cx="2086261" cy="358354"/>
          </a:xfrm>
          <a:prstGeom prst="roundRect">
            <a:avLst>
              <a:gd name="adj" fmla="val 10207"/>
            </a:avLst>
          </a:prstGeom>
          <a:ln w="28575">
            <a:solidFill>
              <a:schemeClr val="accent2"/>
            </a:solidFill>
            <a:prstDash val="solid"/>
          </a:ln>
        </p:spPr>
      </p:sp>
      <p:sp>
        <p:nvSpPr>
          <p:cNvPr id="10" name="So 1"/>
          <p:cNvSpPr/>
          <p:nvPr/>
        </p:nvSpPr>
        <p:spPr>
          <a:xfrm>
            <a:off x="2638068" y="1973104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2638068" y="19731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So 2"/>
          <p:cNvSpPr/>
          <p:nvPr/>
        </p:nvSpPr>
        <p:spPr>
          <a:xfrm>
            <a:off x="4142446" y="2320814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142446" y="23208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Buoc 1"/>
          <p:cNvSpPr/>
          <p:nvPr/>
        </p:nvSpPr>
        <p:spPr>
          <a:xfrm>
            <a:off x="457200" y="4114800"/>
            <a:ext cx="404622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5" name="So 1"/>
          <p:cNvSpPr/>
          <p:nvPr/>
        </p:nvSpPr>
        <p:spPr>
          <a:xfrm>
            <a:off x="54864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4864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4114800"/>
            <a:ext cx="3497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Tìm đúng buổi: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GĐ · Buổi · Lớp · giờ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và nhãn hiện tại</a:t>
            </a:r>
            <a:endParaRPr lang="en-US" sz="1200" dirty="0"/>
          </a:p>
        </p:txBody>
      </p:sp>
      <p:sp>
        <p:nvSpPr>
          <p:cNvPr id="18" name="Buoc 2"/>
          <p:cNvSpPr/>
          <p:nvPr/>
        </p:nvSpPr>
        <p:spPr>
          <a:xfrm>
            <a:off x="4640580" y="4114800"/>
            <a:ext cx="404622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9" name="So 2"/>
          <p:cNvSpPr/>
          <p:nvPr/>
        </p:nvSpPr>
        <p:spPr>
          <a:xfrm>
            <a:off x="473202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73202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5097780" y="4114800"/>
            <a:ext cx="34975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Điểm danh bổ sung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trên thẻ buổi đó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Ghi điểm danh bổ sung</a:t>
            </a:r>
            <a:endParaRPr lang="en-US" sz="2800" dirty="0"/>
          </a:p>
        </p:txBody>
      </p:sp>
      <p:sp>
        <p:nvSpPr>
          <p:cNvPr id="3" name="Khung pc-ht-modal"/>
          <p:cNvSpPr/>
          <p:nvPr/>
        </p:nvSpPr>
        <p:spPr>
          <a:xfrm>
            <a:off x="872099" y="1184148"/>
            <a:ext cx="4678070" cy="2770632"/>
          </a:xfrm>
          <a:prstGeom prst="roundRect">
            <a:avLst>
              <a:gd name="adj" fmla="val 132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4" name="Anh pc-ht-modal" descr="Hộp thoại Điểm danh bổ sung trên máy tí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959" y="1207008"/>
            <a:ext cx="4632350" cy="2724912"/>
          </a:xfrm>
          <a:prstGeom prst="rect">
            <a:avLst/>
          </a:prstGeom>
        </p:spPr>
      </p:pic>
      <p:sp>
        <p:nvSpPr>
          <p:cNvPr id="5" name="Khung m-ht-modal"/>
          <p:cNvSpPr/>
          <p:nvPr/>
        </p:nvSpPr>
        <p:spPr>
          <a:xfrm>
            <a:off x="5883925" y="1152144"/>
            <a:ext cx="2419979" cy="2834640"/>
          </a:xfrm>
          <a:prstGeom prst="roundRect">
            <a:avLst>
              <a:gd name="adj" fmla="val 3779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6" name="Anh m-ht-modal" descr="Hộp thoại Điểm danh bổ sung trên điện thoạ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789" y="1207008"/>
            <a:ext cx="2310251" cy="2724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4959" y="932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MÁY TÍNH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938789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ĐIỆN THOẠI</a:t>
            </a:r>
            <a:endParaRPr lang="en-US" sz="1100" dirty="0"/>
          </a:p>
        </p:txBody>
      </p:sp>
      <p:sp>
        <p:nvSpPr>
          <p:cNvPr id="9" name="So 3"/>
          <p:cNvSpPr/>
          <p:nvPr/>
        </p:nvSpPr>
        <p:spPr>
          <a:xfrm>
            <a:off x="1105208" y="2117277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1105208" y="211727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1" name="So 4"/>
          <p:cNvSpPr/>
          <p:nvPr/>
        </p:nvSpPr>
        <p:spPr>
          <a:xfrm>
            <a:off x="1105208" y="2516618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1105208" y="251661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3" name="So 5"/>
          <p:cNvSpPr/>
          <p:nvPr/>
        </p:nvSpPr>
        <p:spPr>
          <a:xfrm>
            <a:off x="3247553" y="3169657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247553" y="31696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5" name="Buoc 3"/>
          <p:cNvSpPr/>
          <p:nvPr/>
        </p:nvSpPr>
        <p:spPr>
          <a:xfrm>
            <a:off x="45720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6" name="So 3"/>
          <p:cNvSpPr/>
          <p:nvPr/>
        </p:nvSpPr>
        <p:spPr>
          <a:xfrm>
            <a:off x="54864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54864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Chọn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Có mặt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/ </a:t>
            </a:r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Vắng có phép</a:t>
            </a:r>
            <a:endParaRPr lang="en-US" sz="1200" dirty="0"/>
          </a:p>
        </p:txBody>
      </p:sp>
      <p:sp>
        <p:nvSpPr>
          <p:cNvPr id="19" name="Buoc 4"/>
          <p:cNvSpPr/>
          <p:nvPr/>
        </p:nvSpPr>
        <p:spPr>
          <a:xfrm>
            <a:off x="324612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0" name="So 4"/>
          <p:cNvSpPr/>
          <p:nvPr/>
        </p:nvSpPr>
        <p:spPr>
          <a:xfrm>
            <a:off x="333756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333756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370332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Nhập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Lý do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: minh chứng gì, nhận ở đâu</a:t>
            </a:r>
            <a:endParaRPr lang="en-US" sz="1200" dirty="0"/>
          </a:p>
        </p:txBody>
      </p:sp>
      <p:sp>
        <p:nvSpPr>
          <p:cNvPr id="23" name="Buoc 5"/>
          <p:cNvSpPr/>
          <p:nvPr/>
        </p:nvSpPr>
        <p:spPr>
          <a:xfrm>
            <a:off x="603504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24" name="So 5"/>
          <p:cNvSpPr/>
          <p:nvPr/>
        </p:nvSpPr>
        <p:spPr>
          <a:xfrm>
            <a:off x="612648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12648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2"/>
          <p:cNvSpPr txBox="1"/>
          <p:nvPr/>
        </p:nvSpPr>
        <p:spPr>
          <a:xfrm>
            <a:off x="649224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Bấm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Xác nhận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Sau khi ghi – kiểm tra và phản hồi</a:t>
            </a:r>
            <a:endParaRPr lang="en-US" sz="2800" dirty="0"/>
          </a:p>
        </p:txBody>
      </p:sp>
      <p:sp>
        <p:nvSpPr>
          <p:cNvPr id="3" name="Khung pc-ht-sau"/>
          <p:cNvSpPr/>
          <p:nvPr/>
        </p:nvSpPr>
        <p:spPr>
          <a:xfrm>
            <a:off x="2154448" y="1184148"/>
            <a:ext cx="2905458" cy="2770632"/>
          </a:xfrm>
          <a:prstGeom prst="roundRect">
            <a:avLst>
              <a:gd name="adj" fmla="val 132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4" name="Anh pc-ht-sau" descr="Buổi 2 hiện Có mặt (Thủ công), người sửa, thời điểm và lý 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308" y="1207008"/>
            <a:ext cx="2859738" cy="2724912"/>
          </a:xfrm>
          <a:prstGeom prst="rect">
            <a:avLst/>
          </a:prstGeom>
        </p:spPr>
      </p:pic>
      <p:sp>
        <p:nvSpPr>
          <p:cNvPr id="5" name="Khung m-ht-sau"/>
          <p:cNvSpPr/>
          <p:nvPr/>
        </p:nvSpPr>
        <p:spPr>
          <a:xfrm>
            <a:off x="5393663" y="1152144"/>
            <a:ext cx="1627893" cy="2834640"/>
          </a:xfrm>
          <a:prstGeom prst="roundRect">
            <a:avLst>
              <a:gd name="adj" fmla="val 5617"/>
            </a:avLst>
          </a:prstGeom>
          <a:solidFill>
            <a:schemeClr val="tx1"/>
          </a:solidFill>
          <a:ln/>
          <a:effectLst>
            <a:outerShdw sx="100000" sy="100000" kx="0" ky="0" algn="bl" rotWithShape="0" blurRad="76200" dist="25400" dir="5400000">
              <a:srgbClr val="1B2A2F">
                <a:alpha val="22000"/>
              </a:srgbClr>
            </a:outerShdw>
          </a:effectLst>
        </p:spPr>
      </p:sp>
      <p:pic>
        <p:nvPicPr>
          <p:cNvPr id="6" name="Anh m-ht-sau" descr="Kết quả sau khi ghi trên điện thoại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527" y="1207008"/>
            <a:ext cx="1518165" cy="27249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77308" y="932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MÁY TÍNH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5448527" y="9326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5"/>
                </a:solidFill>
              </a:rPr>
              <a:t>ĐIỆN THOẠI</a:t>
            </a:r>
            <a:endParaRPr lang="en-US" sz="1100" dirty="0"/>
          </a:p>
        </p:txBody>
      </p:sp>
      <p:sp>
        <p:nvSpPr>
          <p:cNvPr id="9" name="To dam"/>
          <p:cNvSpPr/>
          <p:nvPr/>
        </p:nvSpPr>
        <p:spPr>
          <a:xfrm>
            <a:off x="2894017" y="2186273"/>
            <a:ext cx="2086261" cy="496729"/>
          </a:xfrm>
          <a:prstGeom prst="roundRect">
            <a:avLst>
              <a:gd name="adj" fmla="val 7363"/>
            </a:avLst>
          </a:prstGeom>
          <a:ln w="28575">
            <a:solidFill>
              <a:schemeClr val="accent2"/>
            </a:solidFill>
            <a:prstDash val="solid"/>
          </a:ln>
        </p:spPr>
      </p:sp>
      <p:sp>
        <p:nvSpPr>
          <p:cNvPr id="10" name="Buoc 1"/>
          <p:cNvSpPr/>
          <p:nvPr/>
        </p:nvSpPr>
        <p:spPr>
          <a:xfrm>
            <a:off x="45720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1" name="So 1"/>
          <p:cNvSpPr/>
          <p:nvPr/>
        </p:nvSpPr>
        <p:spPr>
          <a:xfrm>
            <a:off x="54864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4864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Nhãn </a:t>
            </a:r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Có mặt (Thủ công)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, tổng cập nhật ngay</a:t>
            </a:r>
            <a:endParaRPr lang="en-US" sz="1200" dirty="0"/>
          </a:p>
        </p:txBody>
      </p:sp>
      <p:sp>
        <p:nvSpPr>
          <p:cNvPr id="14" name="Buoc 2"/>
          <p:cNvSpPr/>
          <p:nvPr/>
        </p:nvSpPr>
        <p:spPr>
          <a:xfrm>
            <a:off x="324612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5" name="So 2"/>
          <p:cNvSpPr/>
          <p:nvPr/>
        </p:nvSpPr>
        <p:spPr>
          <a:xfrm>
            <a:off x="333756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33756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370332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Dòng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Sửa bởi … lúc … · Lý do …</a:t>
            </a:r>
            <a:endParaRPr lang="en-US" sz="1200" dirty="0"/>
          </a:p>
        </p:txBody>
      </p:sp>
      <p:sp>
        <p:nvSpPr>
          <p:cNvPr id="18" name="Buoc 3"/>
          <p:cNvSpPr/>
          <p:nvPr/>
        </p:nvSpPr>
        <p:spPr>
          <a:xfrm>
            <a:off x="6035040" y="4114800"/>
            <a:ext cx="2651760" cy="566928"/>
          </a:xfrm>
          <a:prstGeom prst="roundRect">
            <a:avLst>
              <a:gd name="adj" fmla="val 9677"/>
            </a:avLst>
          </a:prstGeom>
          <a:solidFill>
            <a:schemeClr val="bg2"/>
          </a:solidFill>
          <a:ln/>
        </p:spPr>
      </p:sp>
      <p:sp>
        <p:nvSpPr>
          <p:cNvPr id="19" name="So 3"/>
          <p:cNvSpPr/>
          <p:nvPr/>
        </p:nvSpPr>
        <p:spPr>
          <a:xfrm>
            <a:off x="6126480" y="4251960"/>
            <a:ext cx="292608" cy="29260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126480" y="4251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6492240" y="411480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Nhắn học viên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kiểm tra lại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Không thấy nút hoặc bị từ chối?</a:t>
            </a:r>
            <a:endParaRPr lang="en-US" sz="2800" dirty="0"/>
          </a:p>
        </p:txBody>
      </p:sp>
      <p:graphicFrame>
        <p:nvGraphicFramePr>
          <p:cNvPr id="10" name="Bang tinh huo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539496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Tình huống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Cách xử lý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Buổi chưa bắt đầu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Chưa bổ sung được – chờ sau giờ học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Nhãn “Có mặt – ở lớp X”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Đã tính có mặt nhờ học bù / lớp cũ – không cần bổ sung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Không tìm thấy học viên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Học viên ngoài cụm/lớp của Thầy/Cô – chuyển người hỗ trợ cụm/lớp đó hoặc Quản trị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Thẻ buổi có nhãn “Đổi buổi”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Ghi ngay trên thẻ đó – hệ thống đã hiển thị đúng buổi được chốt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Ghi nhầm, cần trả về “Vắng”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Tự đổi được giữa Có mặt và Vắng có phép; trả về “Vắng” thì báo Quản trị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Lưu ý quan trọng</a:t>
            </a:r>
            <a:endParaRPr lang="en-US" sz="2800" dirty="0"/>
          </a:p>
        </p:txBody>
      </p:sp>
      <p:sp>
        <p:nvSpPr>
          <p:cNvPr id="3" name="So 1"/>
          <p:cNvSpPr/>
          <p:nvPr/>
        </p:nvSpPr>
        <p:spPr>
          <a:xfrm>
            <a:off x="457200" y="1188720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Nạp lại file Excel sẽ ghi đè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Báo Quản trị các buổi đã bổ sung để không nạp lại file điểm danh của buổi đó</a:t>
            </a:r>
            <a:endParaRPr lang="en-US" sz="1400" dirty="0"/>
          </a:p>
        </p:txBody>
      </p:sp>
      <p:sp>
        <p:nvSpPr>
          <p:cNvPr id="7" name="So 2"/>
          <p:cNvSpPr/>
          <p:nvPr/>
        </p:nvSpPr>
        <p:spPr>
          <a:xfrm>
            <a:off x="4663440" y="118872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17043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Chỉ ghi khi đã xem minh chứng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6002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Giữ ảnh/tin nhắn trên Zalo hoặc link trong yêu cầu hỗ trợ để đối chiếu</a:t>
            </a:r>
            <a:endParaRPr lang="en-US" sz="1400" dirty="0"/>
          </a:p>
        </p:txBody>
      </p:sp>
      <p:sp>
        <p:nvSpPr>
          <p:cNvPr id="11" name="So 3"/>
          <p:cNvSpPr/>
          <p:nvPr/>
        </p:nvSpPr>
        <p:spPr>
          <a:xfrm>
            <a:off x="45720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Lý do đủ để người khác kiểm tra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Ghi loại minh chứng, giờ trong ảnh, nơi nhận</a:t>
            </a:r>
            <a:endParaRPr lang="en-US" sz="1400" dirty="0"/>
          </a:p>
        </p:txBody>
      </p:sp>
      <p:sp>
        <p:nvSpPr>
          <p:cNvPr id="15" name="So 4"/>
          <p:cNvSpPr/>
          <p:nvPr/>
        </p:nvSpPr>
        <p:spPr>
          <a:xfrm>
            <a:off x="4663440" y="2880360"/>
            <a:ext cx="384048" cy="384048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6634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86207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Bảo mật dữ liệu học viên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32918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Không tải ảnh về máy cá nhân, không chuyển tiếp; file Excel chỉ dùng nội bộ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em danh bo sung">
  <a:themeElements>
    <a:clrScheme name="Diem danh bo sung">
      <a:dk1>
        <a:srgbClr val="1B2A2F"/>
      </a:dk1>
      <a:lt1>
        <a:srgbClr val="FFFFFF"/>
      </a:lt1>
      <a:dk2>
        <a:srgbClr val="0F4C5C"/>
      </a:dk2>
      <a:lt2>
        <a:srgbClr val="EAF3F3"/>
      </a:lt2>
      <a:accent1>
        <a:srgbClr val="1F8A70"/>
      </a:accent1>
      <a:accent2>
        <a:srgbClr val="D9922E"/>
      </a:accent2>
      <a:accent3>
        <a:srgbClr val="C8473C"/>
      </a:accent3>
      <a:accent4>
        <a:srgbClr val="0F4C5C"/>
      </a:accent4>
      <a:accent5>
        <a:srgbClr val="5B7C85"/>
      </a:accent5>
      <a:accent6>
        <a:srgbClr val="9DC9C0"/>
      </a:accent6>
      <a:hlink>
        <a:srgbClr val="1F6F8B"/>
      </a:hlink>
      <a:folHlink>
        <a:srgbClr val="5B7C85"/>
      </a:folHlink>
    </a:clrScheme>
    <a:fontScheme name="Diem danh bo sung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Điểm danh bổ sung – Hướng dẫn người hỗ trợ</dc:title>
  <dc:subject>PptxGenJS Presentation</dc:subject>
  <dc:creator>HCMUE</dc:creator>
  <cp:lastModifiedBy>HCMUE</cp:lastModifiedBy>
  <cp:revision>1</cp:revision>
  <dcterms:created xsi:type="dcterms:W3CDTF">2026-10-19T08:27:58Z</dcterms:created>
  <dcterms:modified xsi:type="dcterms:W3CDTF">2026-10-19T08:27:58Z</dcterms:modified>
</cp:coreProperties>
</file>