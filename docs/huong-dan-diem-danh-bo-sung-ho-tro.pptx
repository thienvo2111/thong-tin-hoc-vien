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6752e660-a40d-c182-cf2d-1d6594b84f03}">
          <p14:sldIdLst>
            <p14:sldId id="256"/>
          </p14:sldIdLst>
        </p14:section>
        <p14:section name="Quy tắc" id="{68414f41-b413-9158-ea92-9070330f5c90}">
          <p14:sldIdLst>
            <p14:sldId id="257"/>
            <p14:sldId id="258"/>
          </p14:sldIdLst>
        </p14:section>
        <p14:section name="Thao tác" id="{74320cd1-b448-9b8f-fa69-47af8f4baf20}">
          <p14:sldIdLst>
            <p14:sldId id="259"/>
            <p14:sldId id="260"/>
            <p14:sldId id="261"/>
          </p14:sldIdLst>
        </p14:section>
        <p14:section name="Lưu ý" id="{19d37c9d-3149-a0c8-b01b-a21bcb80818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EU_D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Bồi dưỡng năng lực số · HCMUE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260604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I_DUNG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Bồi dưỡng năng lực số · HCMUE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T_THUC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Bồi dưỡng năng lực số · HCMUE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HƯỚNG DẪN DÀNH CHO NGƯỜI HỖ TRỢ HỌC VIÊN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Điểm danh bổ sung</a:t>
            </a:r>
            <a:endParaRPr lang="en-US" sz="4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26060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Tra cứu tình hình đi học và ghi bổ sung khi học viên có minh chứng – ngay trên điện thoại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947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Menu: </a:t>
            </a:r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Tình hình đi học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Quy tắc cần nhớ</a:t>
            </a:r>
            <a:endParaRPr lang="en-US" sz="2800" dirty="0"/>
          </a:p>
        </p:txBody>
      </p:sp>
      <p:sp>
        <p:nvSpPr>
          <p:cNvPr id="3" name="Ai được ghi"/>
          <p:cNvSpPr/>
          <p:nvPr/>
        </p:nvSpPr>
        <p:spPr>
          <a:xfrm>
            <a:off x="457200" y="109728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được ghi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0020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Học viên thuộc cụm của Thầy/Cô và lớp được gắn (gồm học viên đổi buổi vào lớp)</a:t>
            </a:r>
            <a:endParaRPr lang="en-US" sz="1300" dirty="0"/>
          </a:p>
        </p:txBody>
      </p:sp>
      <p:sp>
        <p:nvSpPr>
          <p:cNvPr id="6" name="Ghi trạng thái gì"/>
          <p:cNvSpPr/>
          <p:nvPr/>
        </p:nvSpPr>
        <p:spPr>
          <a:xfrm>
            <a:off x="3264408" y="109728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01568" y="120700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Ghi trạng thái gì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0020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Chỉ “Có mặt” hoặc “Vắng có phép” – không ghi “Vắng”</a:t>
            </a:r>
            <a:endParaRPr lang="en-US" sz="1300" dirty="0"/>
          </a:p>
        </p:txBody>
      </p:sp>
      <p:sp>
        <p:nvSpPr>
          <p:cNvPr id="9" name="Khi nào"/>
          <p:cNvSpPr/>
          <p:nvPr/>
        </p:nvSpPr>
        <p:spPr>
          <a:xfrm>
            <a:off x="6071616" y="109728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08776" y="120700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Khi nào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0020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Buổi đã bắt đầu; không giới hạn số ngày sau buổi học</a:t>
            </a:r>
            <a:endParaRPr lang="en-US" sz="1300" dirty="0"/>
          </a:p>
        </p:txBody>
      </p:sp>
      <p:sp>
        <p:nvSpPr>
          <p:cNvPr id="12" name="Lý do"/>
          <p:cNvSpPr/>
          <p:nvPr/>
        </p:nvSpPr>
        <p:spPr>
          <a:xfrm>
            <a:off x="457200" y="28346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9443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Lý do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3756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Bắt buộc, tối đa 500 ký tự – nêu rõ minh chứng</a:t>
            </a:r>
            <a:endParaRPr lang="en-US" sz="1300" dirty="0"/>
          </a:p>
        </p:txBody>
      </p:sp>
      <p:sp>
        <p:nvSpPr>
          <p:cNvPr id="15" name="Truy vết"/>
          <p:cNvSpPr/>
          <p:nvPr/>
        </p:nvSpPr>
        <p:spPr>
          <a:xfrm>
            <a:off x="3264408" y="28346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1568" y="29443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Truy vết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3756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Lưu người sửa, thời điểm, lý do và nhật ký hoạt động</a:t>
            </a:r>
            <a:endParaRPr lang="en-US" sz="1300" dirty="0"/>
          </a:p>
        </p:txBody>
      </p:sp>
      <p:sp>
        <p:nvSpPr>
          <p:cNvPr id="18" name="Quản trị"/>
          <p:cNvSpPr/>
          <p:nvPr/>
        </p:nvSpPr>
        <p:spPr>
          <a:xfrm>
            <a:off x="6071616" y="28346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08776" y="29443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Quản trị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3756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Sửa được mọi trạng thái, kể cả “Vắng”, cho mọi học viên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Quy trình xử lý một yêu cầu</a:t>
            </a:r>
            <a:endParaRPr lang="en-US" sz="2800" dirty="0"/>
          </a:p>
        </p:txBody>
      </p:sp>
      <p:sp>
        <p:nvSpPr>
          <p:cNvPr id="3" name="Buoc 1"/>
          <p:cNvSpPr/>
          <p:nvPr/>
        </p:nvSpPr>
        <p:spPr>
          <a:xfrm>
            <a:off x="457200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4" name="So 1"/>
          <p:cNvSpPr/>
          <p:nvPr/>
        </p:nvSpPr>
        <p:spPr>
          <a:xfrm>
            <a:off x="59436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Nhận yêu cầu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Zalo hoặc yêu cầu hỗ trợ trên cổng</a:t>
            </a:r>
            <a:endParaRPr lang="en-US" sz="1200" dirty="0"/>
          </a:p>
        </p:txBody>
      </p:sp>
      <p:sp>
        <p:nvSpPr>
          <p:cNvPr id="8" name="Buoc 2"/>
          <p:cNvSpPr/>
          <p:nvPr/>
        </p:nvSpPr>
        <p:spPr>
          <a:xfrm>
            <a:off x="2130552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9" name="So 2"/>
          <p:cNvSpPr/>
          <p:nvPr/>
        </p:nvSpPr>
        <p:spPr>
          <a:xfrm>
            <a:off x="2267712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6771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Kiểm tra minh chứng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Ảnh Zoom có tên + giờ, DS ký tên, xác nhận GV</a:t>
            </a:r>
            <a:endParaRPr lang="en-US" sz="1200" dirty="0"/>
          </a:p>
        </p:txBody>
      </p:sp>
      <p:sp>
        <p:nvSpPr>
          <p:cNvPr id="13" name="Buoc 3"/>
          <p:cNvSpPr/>
          <p:nvPr/>
        </p:nvSpPr>
        <p:spPr>
          <a:xfrm>
            <a:off x="3803904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4" name="So 3"/>
          <p:cNvSpPr/>
          <p:nvPr/>
        </p:nvSpPr>
        <p:spPr>
          <a:xfrm>
            <a:off x="3941064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4106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 cứu học viên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Tình hình đi học → tìm theo họ tên / mã MOET</a:t>
            </a:r>
            <a:endParaRPr lang="en-US" sz="1200" dirty="0"/>
          </a:p>
        </p:txBody>
      </p:sp>
      <p:sp>
        <p:nvSpPr>
          <p:cNvPr id="18" name="Buoc 4"/>
          <p:cNvSpPr/>
          <p:nvPr/>
        </p:nvSpPr>
        <p:spPr>
          <a:xfrm>
            <a:off x="5477256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9" name="So 4"/>
          <p:cNvSpPr/>
          <p:nvPr/>
        </p:nvSpPr>
        <p:spPr>
          <a:xfrm>
            <a:off x="5614416" y="1371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14416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586984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Ghi bổ sung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586984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Chọn buổi → trạng thái → lý do → Xác nhận</a:t>
            </a:r>
            <a:endParaRPr lang="en-US" sz="1200" dirty="0"/>
          </a:p>
        </p:txBody>
      </p:sp>
      <p:sp>
        <p:nvSpPr>
          <p:cNvPr id="23" name="Buoc 5"/>
          <p:cNvSpPr/>
          <p:nvPr/>
        </p:nvSpPr>
        <p:spPr>
          <a:xfrm>
            <a:off x="7150608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4" name="So 5"/>
          <p:cNvSpPr/>
          <p:nvPr/>
        </p:nvSpPr>
        <p:spPr>
          <a:xfrm>
            <a:off x="7287768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877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260336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Phản hồi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260336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Báo học viên kiểm tra lại; giữ minh chứng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Rà soát chủ động: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bật lọc “Có buổi vắng” hoặc “Có buổi chưa điểm danh” để thấy ngay học viên cần nhắc hoặc cần kiểm 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Tra cứu học viên – menu Tình hình đi học</a:t>
            </a:r>
            <a:endParaRPr lang="en-US" sz="2800" dirty="0"/>
          </a:p>
        </p:txBody>
      </p:sp>
      <p:sp>
        <p:nvSpPr>
          <p:cNvPr id="3" name="So 1"/>
          <p:cNvSpPr/>
          <p:nvPr/>
        </p:nvSpPr>
        <p:spPr>
          <a:xfrm>
            <a:off x="457200" y="118872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152144"/>
            <a:ext cx="3703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Chọn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Khóa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(bắt buộc)</a:t>
            </a:r>
            <a:endParaRPr lang="en-US" sz="1400" dirty="0"/>
          </a:p>
        </p:txBody>
      </p:sp>
      <p:sp>
        <p:nvSpPr>
          <p:cNvPr id="6" name="So 2"/>
          <p:cNvSpPr/>
          <p:nvPr/>
        </p:nvSpPr>
        <p:spPr>
          <a:xfrm>
            <a:off x="457200" y="193852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01952"/>
            <a:ext cx="3703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Gõ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họ tên hoặc mã MOET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– gõ thiếu số 0 đầu vẫn tìm được</a:t>
            </a:r>
            <a:endParaRPr lang="en-US" sz="1400" dirty="0"/>
          </a:p>
        </p:txBody>
      </p:sp>
      <p:sp>
        <p:nvSpPr>
          <p:cNvPr id="9" name="So 3"/>
          <p:cNvSpPr/>
          <p:nvPr/>
        </p:nvSpPr>
        <p:spPr>
          <a:xfrm>
            <a:off x="457200" y="268833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651760"/>
            <a:ext cx="3703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Lọc thêm: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Phạm vi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(Tất cả · Cụm của tôi · Lớp tôi hỗ trợ), trường, cụm, lớp</a:t>
            </a:r>
            <a:endParaRPr lang="en-US" sz="1400" dirty="0"/>
          </a:p>
        </p:txBody>
      </p:sp>
      <p:sp>
        <p:nvSpPr>
          <p:cNvPr id="12" name="So 4"/>
          <p:cNvSpPr/>
          <p:nvPr/>
        </p:nvSpPr>
        <p:spPr>
          <a:xfrm>
            <a:off x="457200" y="343814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438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401568"/>
            <a:ext cx="3703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Bấm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tên học viên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để mở chi tiết từng buổi</a:t>
            </a:r>
            <a:endParaRPr lang="en-US" sz="1400" dirty="0"/>
          </a:p>
        </p:txBody>
      </p:sp>
      <p:sp>
        <p:nvSpPr>
          <p:cNvPr id="15" name="Cot bang"/>
          <p:cNvSpPr/>
          <p:nvPr/>
        </p:nvSpPr>
        <p:spPr>
          <a:xfrm>
            <a:off x="4937760" y="1097280"/>
            <a:ext cx="37490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0" y="1207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Các cột số liệu</a:t>
            </a:r>
            <a:endParaRPr lang="en-US" sz="1600" dirty="0"/>
          </a:p>
        </p:txBody>
      </p:sp>
      <p:sp>
        <p:nvSpPr>
          <p:cNvPr id="17" name="Nhan Có mặt/đã diễn ra"/>
          <p:cNvSpPr/>
          <p:nvPr/>
        </p:nvSpPr>
        <p:spPr>
          <a:xfrm>
            <a:off x="5120640" y="1664208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1664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Có mặt/đã diễn ra</a:t>
            </a:r>
            <a:endParaRPr lang="en-US" sz="1200" dirty="0"/>
          </a:p>
        </p:txBody>
      </p:sp>
      <p:sp>
        <p:nvSpPr>
          <p:cNvPr id="19" name="Nhan Vắng"/>
          <p:cNvSpPr/>
          <p:nvPr/>
        </p:nvSpPr>
        <p:spPr>
          <a:xfrm>
            <a:off x="5120640" y="2121408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2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20640" y="21214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Vắng</a:t>
            </a:r>
            <a:endParaRPr lang="en-US" sz="1200" dirty="0"/>
          </a:p>
        </p:txBody>
      </p:sp>
      <p:sp>
        <p:nvSpPr>
          <p:cNvPr id="21" name="Nhan Có phép"/>
          <p:cNvSpPr/>
          <p:nvPr/>
        </p:nvSpPr>
        <p:spPr>
          <a:xfrm>
            <a:off x="5120640" y="2578608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0" y="2578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Có phép</a:t>
            </a:r>
            <a:endParaRPr lang="en-US" sz="1200" dirty="0"/>
          </a:p>
        </p:txBody>
      </p:sp>
      <p:sp>
        <p:nvSpPr>
          <p:cNvPr id="23" name="Nhan Báo vắng"/>
          <p:cNvSpPr/>
          <p:nvPr/>
        </p:nvSpPr>
        <p:spPr>
          <a:xfrm>
            <a:off x="5120640" y="3035808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5">
              <a:alpha val="2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0" y="30358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Báo vắng</a:t>
            </a:r>
            <a:endParaRPr lang="en-US" sz="1200" dirty="0"/>
          </a:p>
        </p:txBody>
      </p:sp>
      <p:sp>
        <p:nvSpPr>
          <p:cNvPr id="25" name="Nhan Chưa điểm danh"/>
          <p:cNvSpPr/>
          <p:nvPr/>
        </p:nvSpPr>
        <p:spPr>
          <a:xfrm>
            <a:off x="5120640" y="3493008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5">
              <a:alpha val="2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0640" y="34930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Chưa điểm danh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31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Xuất Excel: đủ mọi dòng khớp bộ lọc; có họ tên – chỉ dùng nội bộ.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Ghi điểm danh bổ sung</a:t>
            </a:r>
            <a:endParaRPr lang="en-US" sz="2800" dirty="0"/>
          </a:p>
        </p:txBody>
      </p:sp>
      <p:sp>
        <p:nvSpPr>
          <p:cNvPr id="3" name="So 1"/>
          <p:cNvSpPr/>
          <p:nvPr/>
        </p:nvSpPr>
        <p:spPr>
          <a:xfrm>
            <a:off x="457200" y="118872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152144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Trong chi tiết, tìm đúng buổi: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GĐ · Buổi · Lớp · giờ</a:t>
            </a:r>
            <a:endParaRPr lang="en-US" sz="1400" dirty="0"/>
          </a:p>
        </p:txBody>
      </p:sp>
      <p:sp>
        <p:nvSpPr>
          <p:cNvPr id="6" name="So 2"/>
          <p:cNvSpPr/>
          <p:nvPr/>
        </p:nvSpPr>
        <p:spPr>
          <a:xfrm>
            <a:off x="457200" y="184708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810512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Bấm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Điểm danh bổ sung</a:t>
            </a:r>
            <a:endParaRPr lang="en-US" sz="1400" dirty="0"/>
          </a:p>
        </p:txBody>
      </p:sp>
      <p:sp>
        <p:nvSpPr>
          <p:cNvPr id="9" name="So 3"/>
          <p:cNvSpPr/>
          <p:nvPr/>
        </p:nvSpPr>
        <p:spPr>
          <a:xfrm>
            <a:off x="457200" y="250545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505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468880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Chọn 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Có mặt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hoặc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Vắng có phép</a:t>
            </a:r>
            <a:endParaRPr lang="en-US" sz="1400" dirty="0"/>
          </a:p>
        </p:txBody>
      </p:sp>
      <p:sp>
        <p:nvSpPr>
          <p:cNvPr id="12" name="So 4"/>
          <p:cNvSpPr/>
          <p:nvPr/>
        </p:nvSpPr>
        <p:spPr>
          <a:xfrm>
            <a:off x="457200" y="31638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163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127248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Nhập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Lý do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– ghi rõ minh chứng gì, nhận khi nào</a:t>
            </a:r>
            <a:endParaRPr lang="en-US" sz="1400" dirty="0"/>
          </a:p>
        </p:txBody>
      </p:sp>
      <p:sp>
        <p:nvSpPr>
          <p:cNvPr id="15" name="So 5"/>
          <p:cNvSpPr/>
          <p:nvPr/>
        </p:nvSpPr>
        <p:spPr>
          <a:xfrm>
            <a:off x="457200" y="382219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785616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Bấm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Xác nhận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thẻ buổi hiện người sửa, thời điểm và lý do</a:t>
            </a:r>
            <a:endParaRPr lang="en-US" sz="1400" dirty="0"/>
          </a:p>
        </p:txBody>
      </p:sp>
      <p:sp>
        <p:nvSpPr>
          <p:cNvPr id="18" name="Dien thoai"/>
          <p:cNvSpPr/>
          <p:nvPr/>
        </p:nvSpPr>
        <p:spPr>
          <a:xfrm>
            <a:off x="5760720" y="1005840"/>
            <a:ext cx="2514600" cy="3611880"/>
          </a:xfrm>
          <a:prstGeom prst="roundRect">
            <a:avLst>
              <a:gd name="adj" fmla="val 9091"/>
            </a:avLst>
          </a:prstGeom>
          <a:solidFill>
            <a:schemeClr val="tx1"/>
          </a:solidFill>
          <a:ln/>
        </p:spPr>
      </p:sp>
      <p:sp>
        <p:nvSpPr>
          <p:cNvPr id="19" name="Man hinh"/>
          <p:cNvSpPr/>
          <p:nvPr/>
        </p:nvSpPr>
        <p:spPr>
          <a:xfrm>
            <a:off x="5870448" y="1143000"/>
            <a:ext cx="2295144" cy="3337560"/>
          </a:xfrm>
          <a:prstGeom prst="roundRect">
            <a:avLst>
              <a:gd name="adj" fmla="val 5976"/>
            </a:avLst>
          </a:prstGeom>
          <a:solidFill>
            <a:schemeClr val="bg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89320" y="12618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Điểm danh bổ sung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Nguyễn Văn A · GĐ2 · Buổi 3 · Lớp Z-07 (15/10 08:00)</a:t>
            </a:r>
            <a:endParaRPr lang="en-US" sz="1000" dirty="0"/>
          </a:p>
        </p:txBody>
      </p:sp>
      <p:sp>
        <p:nvSpPr>
          <p:cNvPr id="22" name="Chon trang thai"/>
          <p:cNvSpPr/>
          <p:nvPr/>
        </p:nvSpPr>
        <p:spPr>
          <a:xfrm>
            <a:off x="5989320" y="1984248"/>
            <a:ext cx="2057400" cy="310896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23" name="Co mat chon"/>
          <p:cNvSpPr/>
          <p:nvPr/>
        </p:nvSpPr>
        <p:spPr>
          <a:xfrm>
            <a:off x="6016752" y="2011680"/>
            <a:ext cx="1001268" cy="256032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89320" y="1984248"/>
            <a:ext cx="102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Có mặt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018020" y="1984248"/>
            <a:ext cx="102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Vắng có phép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37744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Lý do *</a:t>
            </a:r>
            <a:endParaRPr lang="en-US" sz="1000" dirty="0"/>
          </a:p>
        </p:txBody>
      </p:sp>
      <p:sp>
        <p:nvSpPr>
          <p:cNvPr id="27" name="O ly do"/>
          <p:cNvSpPr/>
          <p:nvPr/>
        </p:nvSpPr>
        <p:spPr>
          <a:xfrm>
            <a:off x="5989320" y="2596896"/>
            <a:ext cx="2057400" cy="566928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44184" y="2624328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Ảnh Zoom 08:05 có tên HV, gửi qua Zalo 19/10</a:t>
            </a:r>
            <a:endParaRPr lang="en-US" sz="1000" dirty="0"/>
          </a:p>
        </p:txBody>
      </p:sp>
      <p:sp>
        <p:nvSpPr>
          <p:cNvPr id="29" name="Canh bao"/>
          <p:cNvSpPr/>
          <p:nvPr/>
        </p:nvSpPr>
        <p:spPr>
          <a:xfrm>
            <a:off x="5989320" y="3255264"/>
            <a:ext cx="2057400" cy="566928"/>
          </a:xfrm>
          <a:prstGeom prst="roundRect">
            <a:avLst>
              <a:gd name="adj" fmla="val 8065"/>
            </a:avLst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44184" y="3273552"/>
            <a:ext cx="1947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Nếu Quản trị nạp lại file điểm danh của buổi này, kết quả bổ sung sẽ bị ghi đè.</a:t>
            </a:r>
            <a:endParaRPr lang="en-US" sz="1000" dirty="0"/>
          </a:p>
        </p:txBody>
      </p:sp>
      <p:sp>
        <p:nvSpPr>
          <p:cNvPr id="31" name="Nut huy"/>
          <p:cNvSpPr/>
          <p:nvPr/>
        </p:nvSpPr>
        <p:spPr>
          <a:xfrm>
            <a:off x="6446520" y="3977640"/>
            <a:ext cx="685800" cy="292608"/>
          </a:xfrm>
          <a:prstGeom prst="roundRect">
            <a:avLst>
              <a:gd name="adj" fmla="val 1562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46520" y="39776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Hủy</a:t>
            </a:r>
            <a:endParaRPr lang="en-US" sz="1000" dirty="0"/>
          </a:p>
        </p:txBody>
      </p:sp>
      <p:sp>
        <p:nvSpPr>
          <p:cNvPr id="33" name="Nut xac nhan"/>
          <p:cNvSpPr/>
          <p:nvPr/>
        </p:nvSpPr>
        <p:spPr>
          <a:xfrm>
            <a:off x="7223760" y="3977640"/>
            <a:ext cx="822960" cy="292608"/>
          </a:xfrm>
          <a:prstGeom prst="roundRect">
            <a:avLst>
              <a:gd name="adj" fmla="val 15625"/>
            </a:avLst>
          </a:prstGeom>
          <a:solidFill>
            <a:schemeClr val="tx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223760" y="39776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Xác nhận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Không thấy nút hoặc bị từ chối?</a:t>
            </a:r>
            <a:endParaRPr lang="en-US" sz="2800" dirty="0"/>
          </a:p>
        </p:txBody>
      </p:sp>
      <p:graphicFrame>
        <p:nvGraphicFramePr>
          <p:cNvPr id="7" name="Bang tinh huo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3949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Tình huống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Cách xử lý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Buổi chưa bắt đầu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Chưa bổ sung được – chờ sau giờ học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Nhãn “Có mặt – ở lớp X”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Đã tính có mặt nhờ học bù / lớp cũ – không cần bổ sung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Không tìm thấy học viên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Học viên ngoài cụm/lớp của Thầy/Cô – chuyển người hỗ trợ cụm/lớp đó hoặc Quản trị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Thẻ buổi có nhãn “Đổi buổi”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Ghi ngay trên thẻ đó – hệ thống đã hiển thị đúng buổi được chốt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Ghi nhầm, cần trả về “Vắng”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Tự đổi được giữa Có mặt và Vắng có phép; trả về “Vắng” thì báo Quản trị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Lưu ý quan trọng</a:t>
            </a:r>
            <a:endParaRPr lang="en-US" sz="2800" dirty="0"/>
          </a:p>
        </p:txBody>
      </p:sp>
      <p:sp>
        <p:nvSpPr>
          <p:cNvPr id="3" name="So 1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704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Nạp lại file Excel sẽ ghi đè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02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Báo Quản trị các buổi đã bổ sung để không nạp lại file điểm danh của buổi đó</a:t>
            </a:r>
            <a:endParaRPr lang="en-US" sz="1400" dirty="0"/>
          </a:p>
        </p:txBody>
      </p:sp>
      <p:sp>
        <p:nvSpPr>
          <p:cNvPr id="7" name="So 2"/>
          <p:cNvSpPr/>
          <p:nvPr/>
        </p:nvSpPr>
        <p:spPr>
          <a:xfrm>
            <a:off x="4663440" y="11887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1704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Chỉ ghi khi có minh chứng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6002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Giữ ảnh/tin nhắn minh chứng trên Zalo để đối chiếu khi cần</a:t>
            </a:r>
            <a:endParaRPr lang="en-US" sz="1400" dirty="0"/>
          </a:p>
        </p:txBody>
      </p:sp>
      <p:sp>
        <p:nvSpPr>
          <p:cNvPr id="11" name="So 3"/>
          <p:cNvSpPr/>
          <p:nvPr/>
        </p:nvSpPr>
        <p:spPr>
          <a:xfrm>
            <a:off x="457200" y="288036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86207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Lý do đủ để người khác kiểm tra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Ghi loại minh chứng, giờ trong ảnh, ngày nhận</a:t>
            </a:r>
            <a:endParaRPr lang="en-US" sz="1400" dirty="0"/>
          </a:p>
        </p:txBody>
      </p:sp>
      <p:sp>
        <p:nvSpPr>
          <p:cNvPr id="15" name="So 4"/>
          <p:cNvSpPr/>
          <p:nvPr/>
        </p:nvSpPr>
        <p:spPr>
          <a:xfrm>
            <a:off x="4663440" y="288036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86207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Bảo mật dữ liệu học viên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2918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File Excel có họ tên – chỉ dùng nội bộ, không chuyển ra ngoài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em danh bo sung">
  <a:themeElements>
    <a:clrScheme name="Diem danh bo sung">
      <a:dk1>
        <a:srgbClr val="1B2A2F"/>
      </a:dk1>
      <a:lt1>
        <a:srgbClr val="FFFFFF"/>
      </a:lt1>
      <a:dk2>
        <a:srgbClr val="0F4C5C"/>
      </a:dk2>
      <a:lt2>
        <a:srgbClr val="EAF3F3"/>
      </a:lt2>
      <a:accent1>
        <a:srgbClr val="1F8A70"/>
      </a:accent1>
      <a:accent2>
        <a:srgbClr val="D9922E"/>
      </a:accent2>
      <a:accent3>
        <a:srgbClr val="C8473C"/>
      </a:accent3>
      <a:accent4>
        <a:srgbClr val="0F4C5C"/>
      </a:accent4>
      <a:accent5>
        <a:srgbClr val="5B7C85"/>
      </a:accent5>
      <a:accent6>
        <a:srgbClr val="9DC9C0"/>
      </a:accent6>
      <a:hlink>
        <a:srgbClr val="1F6F8B"/>
      </a:hlink>
      <a:folHlink>
        <a:srgbClr val="5B7C85"/>
      </a:folHlink>
    </a:clrScheme>
    <a:fontScheme name="Diem danh bo su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Điểm danh bổ sung – Hướng dẫn người hỗ trợ</dc:title>
  <dc:subject>PptxGenJS Presentation</dc:subject>
  <dc:creator>HCMUE</dc:creator>
  <cp:lastModifiedBy>HCMUE</cp:lastModifiedBy>
  <cp:revision>1</cp:revision>
  <dcterms:created xsi:type="dcterms:W3CDTF">2026-10-19T07:02:56Z</dcterms:created>
  <dcterms:modified xsi:type="dcterms:W3CDTF">2026-10-19T07:02:56Z</dcterms:modified>
</cp:coreProperties>
</file>