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ed7c5113-f544-c19b-a1f6-9ce726f65cb6}">
          <p14:sldIdLst>
            <p14:sldId id="256"/>
          </p14:sldIdLst>
        </p14:section>
        <p14:section name="Quy tắc" id="{69a643b2-d4db-e242-3c8a-061b4c48c65a}">
          <p14:sldIdLst>
            <p14:sldId id="257"/>
            <p14:sldId id="258"/>
            <p14:sldId id="259"/>
          </p14:sldIdLst>
        </p14:section>
        <p14:section name="Thao tác" id="{4251b13b-1525-fb8d-e9c0-226b8f623410}">
          <p14:sldIdLst>
            <p14:sldId id="260"/>
            <p14:sldId id="261"/>
            <p14:sldId id="262"/>
            <p14:sldId id="263"/>
          </p14:sldIdLst>
        </p14:section>
        <p14:section name="Lưu ý" id="{1911f10e-5ef2-1cb6-a5c1-fef3081fc4b8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Ảnh minh họa dùng dữ liệu giả (học viên Nguyễn Văn An, lớp Z-MINH-HOA).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EU_D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Bồi dưỡng năng lực số · HCMUE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260604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_DUNG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Bồi dưỡng năng lực số · HCMUE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T_THUC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Bồi dưỡng năng lực số · HCMUE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HƯỚNG DẪN DÀNH CHO NGƯỜI HỖ TRỢ HỌC VIÊN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Điểm danh bổ sung</a:t>
            </a:r>
            <a:endParaRPr lang="en-US" sz="4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6060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Tra cứu tình hình đi học và ghi bổ sung khi học viên có minh chứng – ngay trên điện thoại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Menu: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Tình hình đi học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Quy tắc cần nhớ</a:t>
            </a:r>
            <a:endParaRPr lang="en-US" sz="2800" dirty="0"/>
          </a:p>
        </p:txBody>
      </p:sp>
      <p:sp>
        <p:nvSpPr>
          <p:cNvPr id="3" name="Ai được ghi"/>
          <p:cNvSpPr/>
          <p:nvPr/>
        </p:nvSpPr>
        <p:spPr>
          <a:xfrm>
            <a:off x="457200" y="1097280"/>
            <a:ext cx="261518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được ghi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Học viên thuộc cụm của Thầy/Cô và lớp được gắn (gồm học viên đổi buổi vào lớp)</a:t>
            </a:r>
            <a:endParaRPr lang="en-US" sz="1300" dirty="0"/>
          </a:p>
        </p:txBody>
      </p:sp>
      <p:sp>
        <p:nvSpPr>
          <p:cNvPr id="6" name="Ghi trạng thái gì"/>
          <p:cNvSpPr/>
          <p:nvPr/>
        </p:nvSpPr>
        <p:spPr>
          <a:xfrm>
            <a:off x="3264408" y="1097280"/>
            <a:ext cx="261518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01568" y="12070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Ghi trạng thái gì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0020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Chỉ “Có mặt” hoặc “Vắng có phép” – không ghi “Vắng”</a:t>
            </a:r>
            <a:endParaRPr lang="en-US" sz="1300" dirty="0"/>
          </a:p>
        </p:txBody>
      </p:sp>
      <p:sp>
        <p:nvSpPr>
          <p:cNvPr id="9" name="Khi nào"/>
          <p:cNvSpPr/>
          <p:nvPr/>
        </p:nvSpPr>
        <p:spPr>
          <a:xfrm>
            <a:off x="6071616" y="1097280"/>
            <a:ext cx="261518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08776" y="12070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Khi nào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08776" y="160020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Buổi đã bắt đầu; không giới hạn số ngày sau buổi học</a:t>
            </a:r>
            <a:endParaRPr lang="en-US" sz="1300" dirty="0"/>
          </a:p>
        </p:txBody>
      </p:sp>
      <p:sp>
        <p:nvSpPr>
          <p:cNvPr id="12" name="Lý do"/>
          <p:cNvSpPr/>
          <p:nvPr/>
        </p:nvSpPr>
        <p:spPr>
          <a:xfrm>
            <a:off x="457200" y="2834640"/>
            <a:ext cx="261518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9443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Lý do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3756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Bắt buộc, tối đa 500 ký tự – nêu rõ minh chứng</a:t>
            </a:r>
            <a:endParaRPr lang="en-US" sz="1300" dirty="0"/>
          </a:p>
        </p:txBody>
      </p:sp>
      <p:sp>
        <p:nvSpPr>
          <p:cNvPr id="15" name="Truy vết"/>
          <p:cNvSpPr/>
          <p:nvPr/>
        </p:nvSpPr>
        <p:spPr>
          <a:xfrm>
            <a:off x="3264408" y="2834640"/>
            <a:ext cx="261518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01568" y="29443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Truy vết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01568" y="333756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Lưu người sửa, thời điểm, lý do và nhật ký hoạt động</a:t>
            </a:r>
            <a:endParaRPr lang="en-US" sz="1300" dirty="0"/>
          </a:p>
        </p:txBody>
      </p:sp>
      <p:sp>
        <p:nvSpPr>
          <p:cNvPr id="18" name="Quản trị"/>
          <p:cNvSpPr/>
          <p:nvPr/>
        </p:nvSpPr>
        <p:spPr>
          <a:xfrm>
            <a:off x="6071616" y="2834640"/>
            <a:ext cx="2615184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08776" y="29443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Quản trị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08776" y="333756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Sửa được mọi trạng thái, kể cả “Vắng”, cho mọi học viên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Quy trình xử lý một yêu cầu</a:t>
            </a:r>
            <a:endParaRPr lang="en-US" sz="2800" dirty="0"/>
          </a:p>
        </p:txBody>
      </p:sp>
      <p:sp>
        <p:nvSpPr>
          <p:cNvPr id="3" name="Buoc 1"/>
          <p:cNvSpPr/>
          <p:nvPr/>
        </p:nvSpPr>
        <p:spPr>
          <a:xfrm>
            <a:off x="457200" y="1234440"/>
            <a:ext cx="1517904" cy="23774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4" name="So 1"/>
          <p:cNvSpPr/>
          <p:nvPr/>
        </p:nvSpPr>
        <p:spPr>
          <a:xfrm>
            <a:off x="594360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745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Nhận yêu cầu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1460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Zalo hoặc yêu cầu hỗ trợ trên cổng</a:t>
            </a:r>
            <a:endParaRPr lang="en-US" sz="1200" dirty="0"/>
          </a:p>
        </p:txBody>
      </p:sp>
      <p:sp>
        <p:nvSpPr>
          <p:cNvPr id="8" name="Buoc 2"/>
          <p:cNvSpPr/>
          <p:nvPr/>
        </p:nvSpPr>
        <p:spPr>
          <a:xfrm>
            <a:off x="2130552" y="1234440"/>
            <a:ext cx="1517904" cy="23774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9" name="So 2"/>
          <p:cNvSpPr/>
          <p:nvPr/>
        </p:nvSpPr>
        <p:spPr>
          <a:xfrm>
            <a:off x="2267712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6771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18745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Kiểm tra minh chứng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51460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Ảnh Zoom có tên + giờ, DS ký tên, xác nhận GV</a:t>
            </a:r>
            <a:endParaRPr lang="en-US" sz="1200" dirty="0"/>
          </a:p>
        </p:txBody>
      </p:sp>
      <p:sp>
        <p:nvSpPr>
          <p:cNvPr id="13" name="Buoc 3"/>
          <p:cNvSpPr/>
          <p:nvPr/>
        </p:nvSpPr>
        <p:spPr>
          <a:xfrm>
            <a:off x="3803904" y="1234440"/>
            <a:ext cx="1517904" cy="23774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4" name="So 3"/>
          <p:cNvSpPr/>
          <p:nvPr/>
        </p:nvSpPr>
        <p:spPr>
          <a:xfrm>
            <a:off x="3941064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41064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18745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 cứu học viên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251460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Tình hình đi học → tìm theo họ tên / mã MOET</a:t>
            </a:r>
            <a:endParaRPr lang="en-US" sz="1200" dirty="0"/>
          </a:p>
        </p:txBody>
      </p:sp>
      <p:sp>
        <p:nvSpPr>
          <p:cNvPr id="18" name="Buoc 4"/>
          <p:cNvSpPr/>
          <p:nvPr/>
        </p:nvSpPr>
        <p:spPr>
          <a:xfrm>
            <a:off x="5477256" y="1234440"/>
            <a:ext cx="1517904" cy="23774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9" name="So 4"/>
          <p:cNvSpPr/>
          <p:nvPr/>
        </p:nvSpPr>
        <p:spPr>
          <a:xfrm>
            <a:off x="5614416" y="1371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1441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86984" y="18745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Ghi bổ sung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86984" y="251460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Chọn buổi → trạng thái → lý do → Xác nhận</a:t>
            </a:r>
            <a:endParaRPr lang="en-US" sz="1200" dirty="0"/>
          </a:p>
        </p:txBody>
      </p:sp>
      <p:sp>
        <p:nvSpPr>
          <p:cNvPr id="23" name="Buoc 5"/>
          <p:cNvSpPr/>
          <p:nvPr/>
        </p:nvSpPr>
        <p:spPr>
          <a:xfrm>
            <a:off x="7150608" y="1234440"/>
            <a:ext cx="1517904" cy="23774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4" name="So 5"/>
          <p:cNvSpPr/>
          <p:nvPr/>
        </p:nvSpPr>
        <p:spPr>
          <a:xfrm>
            <a:off x="7287768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8776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260336" y="18745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Phản hồi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60336" y="251460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Báo học viên kiểm tra lại; giữ minh chứng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Rà soát chủ động: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bật lọc “Có buổi vắng” hoặc “Có buổi chưa điểm danh” để thấy ngay học viên cần nhắc hoặc cần kiểm tra.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Kiểm tra minh chứng trước khi ghi</a:t>
            </a:r>
            <a:endParaRPr lang="en-US" sz="2800" dirty="0"/>
          </a:p>
        </p:txBody>
      </p:sp>
      <p:sp>
        <p:nvSpPr>
          <p:cNvPr id="3" name="Minh chứng hợp lệ"/>
          <p:cNvSpPr/>
          <p:nvPr/>
        </p:nvSpPr>
        <p:spPr>
          <a:xfrm>
            <a:off x="457200" y="1097280"/>
            <a:ext cx="39776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370332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Minh chứng hợp lệ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Ảnh thấy rõ tên học viên + ngày giờ khớp buổi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Danh sách ký tên, hoặc xác nhận của giảng viên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Xin “Vắng có phép”: có giấy tờ lý do</a:t>
            </a:r>
            <a:endParaRPr lang="en-US" sz="1600" dirty="0"/>
          </a:p>
        </p:txBody>
      </p:sp>
      <p:sp>
        <p:nvSpPr>
          <p:cNvPr id="5" name="Link Google Drive từ mục Hỗ trợ"/>
          <p:cNvSpPr/>
          <p:nvPr/>
        </p:nvSpPr>
        <p:spPr>
          <a:xfrm>
            <a:off x="4709160" y="1097280"/>
            <a:ext cx="39776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46320" y="1207008"/>
            <a:ext cx="370332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Link Google Drive từ mục Hỗ trợ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Link hiện dạng chữ – chạm giữ để sao chép rồi mở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Báo “cần quyền truy cập” → nhắn học viên đổi sang “Bất kỳ ai có đường liên kết” (không bấm Yêu cầu quyền bằng Gmail cá nhân)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Chưa xem được ảnh thì chưa ghi</a:t>
            </a:r>
            <a:endParaRPr lang="en-US" sz="1600" dirty="0"/>
          </a:p>
        </p:txBody>
      </p:sp>
      <p:sp>
        <p:nvSpPr>
          <p:cNvPr id="7" name="Goi y ly do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6118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Ghi nguồn vào Lý do: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loại minh chứng + giờ trong ảnh + nơi nhận (Zalo / yêu cầu hỗ trợ ngày …).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Tra cứu học viên – menu Tình hình đi học</a:t>
            </a:r>
            <a:endParaRPr lang="en-US" sz="2800" dirty="0"/>
          </a:p>
        </p:txBody>
      </p:sp>
      <p:sp>
        <p:nvSpPr>
          <p:cNvPr id="3" name="So 1"/>
          <p:cNvSpPr/>
          <p:nvPr/>
        </p:nvSpPr>
        <p:spPr>
          <a:xfrm>
            <a:off x="457200" y="11430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06424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Chọn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Khóa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(bắt buộc)</a:t>
            </a:r>
            <a:endParaRPr lang="en-US" sz="1400" dirty="0"/>
          </a:p>
        </p:txBody>
      </p:sp>
      <p:sp>
        <p:nvSpPr>
          <p:cNvPr id="6" name="So 2"/>
          <p:cNvSpPr/>
          <p:nvPr/>
        </p:nvSpPr>
        <p:spPr>
          <a:xfrm>
            <a:off x="457200" y="18013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64792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Gõ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họ tên hoặc mã MOET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– thiếu số 0 đầu vẫn tìm được</a:t>
            </a:r>
            <a:endParaRPr lang="en-US" sz="1400" dirty="0"/>
          </a:p>
        </p:txBody>
      </p:sp>
      <p:sp>
        <p:nvSpPr>
          <p:cNvPr id="9" name="So 3"/>
          <p:cNvSpPr/>
          <p:nvPr/>
        </p:nvSpPr>
        <p:spPr>
          <a:xfrm>
            <a:off x="457200" y="24597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423160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Lọc thêm: phạm vi, trường, cụm, lớp;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Có buổi vắng / chưa điểm danh</a:t>
            </a:r>
            <a:endParaRPr lang="en-US" sz="1400" dirty="0"/>
          </a:p>
        </p:txBody>
      </p:sp>
      <p:sp>
        <p:nvSpPr>
          <p:cNvPr id="12" name="So 4"/>
          <p:cNvSpPr/>
          <p:nvPr/>
        </p:nvSpPr>
        <p:spPr>
          <a:xfrm>
            <a:off x="457200" y="3118104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081528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Bấm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tên học viên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để mở chi tiết từng buổi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Xuất Excel: đủ mọi dòng khớp bộ lọc; có họ tên – chỉ dùng nội bộ.</a:t>
            </a:r>
            <a:endParaRPr lang="en-US" sz="1200" dirty="0"/>
          </a:p>
        </p:txBody>
      </p:sp>
      <p:sp>
        <p:nvSpPr>
          <p:cNvPr id="16" name="Khung ht-danh-sach"/>
          <p:cNvSpPr/>
          <p:nvPr/>
        </p:nvSpPr>
        <p:spPr>
          <a:xfrm>
            <a:off x="6656832" y="987552"/>
            <a:ext cx="1865376" cy="3602736"/>
          </a:xfrm>
          <a:prstGeom prst="roundRect">
            <a:avLst>
              <a:gd name="adj" fmla="val 5882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1B2A2F">
                <a:alpha val="25000"/>
              </a:srgbClr>
            </a:outerShdw>
          </a:effectLst>
        </p:spPr>
      </p:sp>
      <p:pic>
        <p:nvPicPr>
          <p:cNvPr id="17" name="Anh ht-danh-sach" descr="Màn Tình hình đi học: chọn khóa, lọc Có buổi vắng, danh sách học viê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051560"/>
            <a:ext cx="1737360" cy="3474720"/>
          </a:xfrm>
          <a:prstGeom prst="rect">
            <a:avLst/>
          </a:prstGeom>
        </p:spPr>
      </p:pic>
      <p:sp>
        <p:nvSpPr>
          <p:cNvPr id="18" name="So 1"/>
          <p:cNvSpPr/>
          <p:nvPr/>
        </p:nvSpPr>
        <p:spPr>
          <a:xfrm>
            <a:off x="6300216" y="1982419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300216" y="198241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So 2"/>
          <p:cNvSpPr/>
          <p:nvPr/>
        </p:nvSpPr>
        <p:spPr>
          <a:xfrm>
            <a:off x="6300216" y="2260397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00216" y="226039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So 3"/>
          <p:cNvSpPr/>
          <p:nvPr/>
        </p:nvSpPr>
        <p:spPr>
          <a:xfrm>
            <a:off x="6300216" y="3198571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300216" y="31985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So 4"/>
          <p:cNvSpPr/>
          <p:nvPr/>
        </p:nvSpPr>
        <p:spPr>
          <a:xfrm>
            <a:off x="6300216" y="4067251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300216" y="40672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Ghi điểm danh bổ sung</a:t>
            </a:r>
            <a:endParaRPr lang="en-US" sz="2800" dirty="0"/>
          </a:p>
        </p:txBody>
      </p:sp>
      <p:sp>
        <p:nvSpPr>
          <p:cNvPr id="3" name="So 1"/>
          <p:cNvSpPr/>
          <p:nvPr/>
        </p:nvSpPr>
        <p:spPr>
          <a:xfrm>
            <a:off x="457200" y="11430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0642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Tìm đúng buổi: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GĐ · Buổi · Lớp · giờ</a:t>
            </a:r>
            <a:endParaRPr lang="en-US" sz="1400" dirty="0"/>
          </a:p>
        </p:txBody>
      </p:sp>
      <p:sp>
        <p:nvSpPr>
          <p:cNvPr id="6" name="So 2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4650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Bấm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Điểm danh bổ sung</a:t>
            </a:r>
            <a:endParaRPr lang="en-US" sz="1400" dirty="0"/>
          </a:p>
        </p:txBody>
      </p:sp>
      <p:sp>
        <p:nvSpPr>
          <p:cNvPr id="9" name="So 3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38658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Chọn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Có mặt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hoặc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Vắng có phép</a:t>
            </a:r>
            <a:endParaRPr lang="en-US" sz="1400" dirty="0"/>
          </a:p>
        </p:txBody>
      </p:sp>
      <p:sp>
        <p:nvSpPr>
          <p:cNvPr id="12" name="So 4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02666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Nhập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Lý do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– minh chứng gì, nhận ở đâu</a:t>
            </a:r>
            <a:endParaRPr lang="en-US" sz="1400" dirty="0"/>
          </a:p>
        </p:txBody>
      </p:sp>
      <p:sp>
        <p:nvSpPr>
          <p:cNvPr id="15" name="So 5"/>
          <p:cNvSpPr/>
          <p:nvPr/>
        </p:nvSpPr>
        <p:spPr>
          <a:xfrm>
            <a:off x="457200" y="370332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66674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Bấm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Xác nhận</a:t>
            </a:r>
            <a:endParaRPr lang="en-US" sz="1400" dirty="0"/>
          </a:p>
        </p:txBody>
      </p:sp>
      <p:sp>
        <p:nvSpPr>
          <p:cNvPr id="18" name="Khung ht-chi-tiet"/>
          <p:cNvSpPr/>
          <p:nvPr/>
        </p:nvSpPr>
        <p:spPr>
          <a:xfrm>
            <a:off x="4782312" y="1033272"/>
            <a:ext cx="1911096" cy="3008376"/>
          </a:xfrm>
          <a:prstGeom prst="roundRect">
            <a:avLst>
              <a:gd name="adj" fmla="val 5742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1B2A2F">
                <a:alpha val="25000"/>
              </a:srgbClr>
            </a:outerShdw>
          </a:effectLst>
        </p:spPr>
      </p:sp>
      <p:pic>
        <p:nvPicPr>
          <p:cNvPr id="19" name="Anh ht-chi-tiet" descr="Chi tiết từng buổi của học viên, mỗi buổi có nút Điểm danh bổ su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097280"/>
            <a:ext cx="1783080" cy="2880360"/>
          </a:xfrm>
          <a:prstGeom prst="rect">
            <a:avLst/>
          </a:prstGeom>
        </p:spPr>
      </p:pic>
      <p:sp>
        <p:nvSpPr>
          <p:cNvPr id="20" name="So 1"/>
          <p:cNvSpPr/>
          <p:nvPr/>
        </p:nvSpPr>
        <p:spPr>
          <a:xfrm>
            <a:off x="4425696" y="2131924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425696" y="21319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So 2"/>
          <p:cNvSpPr/>
          <p:nvPr/>
        </p:nvSpPr>
        <p:spPr>
          <a:xfrm>
            <a:off x="4425696" y="256397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425696" y="25639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Mui ten"/>
          <p:cNvSpPr/>
          <p:nvPr/>
        </p:nvSpPr>
        <p:spPr>
          <a:xfrm>
            <a:off x="6739128" y="2377440"/>
            <a:ext cx="22860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5" name="Khung ht-modal"/>
          <p:cNvSpPr/>
          <p:nvPr/>
        </p:nvSpPr>
        <p:spPr>
          <a:xfrm>
            <a:off x="7022592" y="1536192"/>
            <a:ext cx="1591056" cy="1729452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1B2A2F">
                <a:alpha val="25000"/>
              </a:srgbClr>
            </a:outerShdw>
          </a:effectLst>
        </p:spPr>
      </p:sp>
      <p:pic>
        <p:nvPicPr>
          <p:cNvPr id="26" name="Anh ht-modal" descr="Hộp thoại Điểm danh bổ sung: chọn trạng thái, nhập lý do, Xác nhậ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600200"/>
            <a:ext cx="1463040" cy="1601436"/>
          </a:xfrm>
          <a:prstGeom prst="rect">
            <a:avLst/>
          </a:prstGeom>
        </p:spPr>
      </p:pic>
      <p:sp>
        <p:nvSpPr>
          <p:cNvPr id="27" name="So 3"/>
          <p:cNvSpPr/>
          <p:nvPr/>
        </p:nvSpPr>
        <p:spPr>
          <a:xfrm>
            <a:off x="8677656" y="198237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8677656" y="198237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So 4"/>
          <p:cNvSpPr/>
          <p:nvPr/>
        </p:nvSpPr>
        <p:spPr>
          <a:xfrm>
            <a:off x="8677656" y="2334686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8677656" y="23346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So 5"/>
          <p:cNvSpPr/>
          <p:nvPr/>
        </p:nvSpPr>
        <p:spPr>
          <a:xfrm>
            <a:off x="8677656" y="289518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677656" y="28951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Sau khi ghi – kiểm tra và phản hồi</a:t>
            </a:r>
            <a:endParaRPr lang="en-US" sz="2800" dirty="0"/>
          </a:p>
        </p:txBody>
      </p:sp>
      <p:sp>
        <p:nvSpPr>
          <p:cNvPr id="3" name="Trên màn của Thầy/Cô"/>
          <p:cNvSpPr/>
          <p:nvPr/>
        </p:nvSpPr>
        <p:spPr>
          <a:xfrm>
            <a:off x="457200" y="1097280"/>
            <a:ext cx="4937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4663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Trên màn của Thầy/Cô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Nhãn đổi thành “Có mặt (Thủ công)”, tổng có mặt cập nhật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Dòng “Sửa bởi … lúc … · Lý do …” để đối chiếu sau này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Học viên thấy trên trang Lớp học:</a:t>
            </a:r>
            <a:endParaRPr lang="en-US" sz="1400" dirty="0"/>
          </a:p>
        </p:txBody>
      </p:sp>
      <p:sp>
        <p:nvSpPr>
          <p:cNvPr id="6" name="Khung hv-buoi2-sau"/>
          <p:cNvSpPr/>
          <p:nvPr/>
        </p:nvSpPr>
        <p:spPr>
          <a:xfrm>
            <a:off x="466344" y="3118104"/>
            <a:ext cx="2816352" cy="1003050"/>
          </a:xfrm>
          <a:prstGeom prst="roundRect">
            <a:avLst>
              <a:gd name="adj" fmla="val 547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Anh hv-buoi2-sau" descr="Học viên thấy Buổi 2 có mặ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54680"/>
            <a:ext cx="2743200" cy="92989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474720" y="3154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Nhắn học viên kiểm tra lại (Zalo hoặc trả lời yêu cầu hỗ trợ).</a:t>
            </a:r>
            <a:endParaRPr lang="en-US" sz="1300" dirty="0"/>
          </a:p>
        </p:txBody>
      </p:sp>
      <p:sp>
        <p:nvSpPr>
          <p:cNvPr id="9" name="Khung ht-sau-khi-ghi"/>
          <p:cNvSpPr/>
          <p:nvPr/>
        </p:nvSpPr>
        <p:spPr>
          <a:xfrm>
            <a:off x="6611112" y="987552"/>
            <a:ext cx="1956816" cy="3363585"/>
          </a:xfrm>
          <a:prstGeom prst="roundRect">
            <a:avLst>
              <a:gd name="adj" fmla="val 5607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1B2A2F">
                <a:alpha val="25000"/>
              </a:srgbClr>
            </a:outerShdw>
          </a:effectLst>
        </p:spPr>
      </p:sp>
      <p:pic>
        <p:nvPicPr>
          <p:cNvPr id="10" name="Anh ht-sau-khi-ghi" descr="Buổi 2 hiện Có mặt (Thủ công), người sửa, thời điểm và lý 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51560"/>
            <a:ext cx="1828800" cy="3235569"/>
          </a:xfrm>
          <a:prstGeom prst="rect">
            <a:avLst/>
          </a:prstGeom>
        </p:spPr>
      </p:pic>
      <p:sp>
        <p:nvSpPr>
          <p:cNvPr id="11" name="So ✓"/>
          <p:cNvSpPr/>
          <p:nvPr/>
        </p:nvSpPr>
        <p:spPr>
          <a:xfrm>
            <a:off x="6254496" y="2458329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254496" y="245832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Không thấy nút hoặc bị từ chối?</a:t>
            </a:r>
            <a:endParaRPr lang="en-US" sz="2800" dirty="0"/>
          </a:p>
        </p:txBody>
      </p:sp>
      <p:graphicFrame>
        <p:nvGraphicFramePr>
          <p:cNvPr id="9" name="Bang tinh huo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3949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Tình huống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Cách xử lý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Buổi chưa bắt đầu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Chưa bổ sung được – chờ sau giờ học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Nhãn “Có mặt – ở lớp X”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Đã tính có mặt nhờ học bù / lớp cũ – không cần bổ sung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Không tìm thấy học viên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Học viên ngoài cụm/lớp của Thầy/Cô – chuyển người hỗ trợ cụm/lớp đó hoặc Quản trị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Thẻ buổi có nhãn “Đổi buổi”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Ghi ngay trên thẻ đó – hệ thống đã hiển thị đúng buổi được chốt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Ghi nhầm, cần trả về “Vắng”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Tự đổi được giữa Có mặt và Vắng có phép; trả về “Vắng” thì báo Quản trị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Lưu ý quan trọng</a:t>
            </a:r>
            <a:endParaRPr lang="en-US" sz="2800" dirty="0"/>
          </a:p>
        </p:txBody>
      </p:sp>
      <p:sp>
        <p:nvSpPr>
          <p:cNvPr id="3" name="So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70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Nạp lại file Excel sẽ ghi đè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00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Báo Quản trị các buổi đã bổ sung để không nạp lại file điểm danh của buổi đó</a:t>
            </a:r>
            <a:endParaRPr lang="en-US" sz="1400" dirty="0"/>
          </a:p>
        </p:txBody>
      </p:sp>
      <p:sp>
        <p:nvSpPr>
          <p:cNvPr id="7" name="So 2"/>
          <p:cNvSpPr/>
          <p:nvPr/>
        </p:nvSpPr>
        <p:spPr>
          <a:xfrm>
            <a:off x="4663440" y="118872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170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Chỉ ghi khi đã xem minh chứng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600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Giữ ảnh/tin nhắn trên Zalo hoặc link trong yêu cầu hỗ trợ để đối chiếu</a:t>
            </a:r>
            <a:endParaRPr lang="en-US" sz="1400" dirty="0"/>
          </a:p>
        </p:txBody>
      </p:sp>
      <p:sp>
        <p:nvSpPr>
          <p:cNvPr id="11" name="So 3"/>
          <p:cNvSpPr/>
          <p:nvPr/>
        </p:nvSpPr>
        <p:spPr>
          <a:xfrm>
            <a:off x="457200" y="288036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862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Lý do đủ để người khác kiểm tra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918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Ghi loại minh chứng, giờ trong ảnh, nơi nhận</a:t>
            </a:r>
            <a:endParaRPr lang="en-US" sz="1400" dirty="0"/>
          </a:p>
        </p:txBody>
      </p:sp>
      <p:sp>
        <p:nvSpPr>
          <p:cNvPr id="15" name="So 4"/>
          <p:cNvSpPr/>
          <p:nvPr/>
        </p:nvSpPr>
        <p:spPr>
          <a:xfrm>
            <a:off x="4663440" y="288036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862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Bảo mật dữ liệu học viên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2918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Không tải ảnh về máy cá nhân, không chuyển tiếp; file Excel chỉ dùng nội bộ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em danh bo sung">
  <a:themeElements>
    <a:clrScheme name="Diem danh bo sung">
      <a:dk1>
        <a:srgbClr val="1B2A2F"/>
      </a:dk1>
      <a:lt1>
        <a:srgbClr val="FFFFFF"/>
      </a:lt1>
      <a:dk2>
        <a:srgbClr val="0F4C5C"/>
      </a:dk2>
      <a:lt2>
        <a:srgbClr val="EAF3F3"/>
      </a:lt2>
      <a:accent1>
        <a:srgbClr val="1F8A70"/>
      </a:accent1>
      <a:accent2>
        <a:srgbClr val="D9922E"/>
      </a:accent2>
      <a:accent3>
        <a:srgbClr val="C8473C"/>
      </a:accent3>
      <a:accent4>
        <a:srgbClr val="0F4C5C"/>
      </a:accent4>
      <a:accent5>
        <a:srgbClr val="5B7C85"/>
      </a:accent5>
      <a:accent6>
        <a:srgbClr val="9DC9C0"/>
      </a:accent6>
      <a:hlink>
        <a:srgbClr val="1F6F8B"/>
      </a:hlink>
      <a:folHlink>
        <a:srgbClr val="5B7C85"/>
      </a:folHlink>
    </a:clrScheme>
    <a:fontScheme name="Diem danh bo su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Điểm danh bổ sung – Hướng dẫn người hỗ trợ</dc:title>
  <dc:subject>PptxGenJS Presentation</dc:subject>
  <dc:creator>HCMUE</dc:creator>
  <cp:lastModifiedBy>HCMUE</cp:lastModifiedBy>
  <cp:revision>1</cp:revision>
  <dcterms:created xsi:type="dcterms:W3CDTF">2026-10-19T07:42:01Z</dcterms:created>
  <dcterms:modified xsi:type="dcterms:W3CDTF">2026-10-19T07:42:01Z</dcterms:modified>
</cp:coreProperties>
</file>