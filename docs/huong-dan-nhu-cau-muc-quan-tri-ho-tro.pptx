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06b3fc15-03f0-d0be-8474-d0dc1da244ca}">
          <p14:sldIdLst>
            <p14:sldId id="256"/>
          </p14:sldIdLst>
        </p14:section>
        <p14:section name="Điều kiện" id="{025657ef-64ff-6b7a-fe1f-82b0e182c2e9}">
          <p14:sldIdLst>
            <p14:sldId id="257"/>
          </p14:sldIdLst>
        </p14:section>
        <p14:section name="Đăng ký" id="{92eb5b89-b7af-1901-c68c-aafad3d01f98}">
          <p14:sldIdLst>
            <p14:sldId id="258"/>
            <p14:sldId id="259"/>
            <p14:sldId id="260"/>
            <p14:sldId id="261"/>
          </p14:sldIdLst>
        </p14:section>
        <p14:section name="Sau khi duyệt" id="{702edb5e-06ff-b667-dca7-e0c11e11c92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Bồi dưỡng năng lực số · HCMUE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_DU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T_THUC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HƯỚNG DẪN DÀNH CHO QUẢN TRỊ VÀ NGƯỜI HỖ TRỢ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Đợt nhu cầu mức học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Mở đợt để học viên tự chọn mức muốn bồi dưỡng, theo dõi số liệu và xuất Excel</a:t>
            </a:r>
          </a:p>
        </p:txBody>
      </p:sp>
      <p:sp>
        <p:nvSpPr>
          <p:cNvPr id="5" name="Nhan Tạo đợt"/>
          <p:cNvSpPr/>
          <p:nvPr/>
        </p:nvSpPr>
        <p:spPr>
          <a:xfrm>
            <a:off x="548640" y="3749039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Tạo đợt</a:t>
            </a:r>
          </a:p>
        </p:txBody>
      </p:sp>
      <p:sp>
        <p:nvSpPr>
          <p:cNvPr id="6" name="Nhan Theo dõi"/>
          <p:cNvSpPr/>
          <p:nvPr/>
        </p:nvSpPr>
        <p:spPr>
          <a:xfrm>
            <a:off x="2020824" y="3749039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Theo dõi</a:t>
            </a:r>
          </a:p>
        </p:txBody>
      </p:sp>
      <p:sp>
        <p:nvSpPr>
          <p:cNvPr id="7" name="Nhan Xuất Excel"/>
          <p:cNvSpPr/>
          <p:nvPr/>
        </p:nvSpPr>
        <p:spPr>
          <a:xfrm>
            <a:off x="3611880" y="3749039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5B7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Xuất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Quy tắc cần nắm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2</a:t>
            </a:fld>
          </a:p>
        </p:txBody>
      </p:sp>
      <p:sp>
        <p:nvSpPr>
          <p:cNvPr id="4" name="Quy tac Ai được chọn"/>
          <p:cNvSpPr/>
          <p:nvPr/>
        </p:nvSpPr>
        <p:spPr>
          <a:xfrm>
            <a:off x="457200" y="1005840"/>
            <a:ext cx="4023360" cy="896112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Ai được chọn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71600"/>
            <a:ext cx="37033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Học viên đã duyệt hoặc đã phân lớp, có mức/lớp. Nhân viên không tham gia</a:t>
            </a:r>
          </a:p>
        </p:txBody>
      </p:sp>
      <p:sp>
        <p:nvSpPr>
          <p:cNvPr id="7" name="Quy tac Mức hiện tại (mốc)"/>
          <p:cNvSpPr/>
          <p:nvPr/>
        </p:nvSpPr>
        <p:spPr>
          <a:xfrm>
            <a:off x="4663440" y="1005840"/>
            <a:ext cx="4023360" cy="896112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1" y="10789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Mức hiện tại (mốc)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1" y="1371600"/>
            <a:ext cx="37033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Mức của lớp đang phân công; lớp chưa gắn mức thì lấy mức chính thức (chốt)</a:t>
            </a:r>
          </a:p>
        </p:txBody>
      </p:sp>
      <p:sp>
        <p:nvSpPr>
          <p:cNvPr id="10" name="Quy tac Được chọn"/>
          <p:cNvSpPr/>
          <p:nvPr/>
        </p:nvSpPr>
        <p:spPr>
          <a:xfrm>
            <a:off x="457200" y="2029968"/>
            <a:ext cx="4023360" cy="896112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0312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Được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95728"/>
            <a:ext cx="37033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Bằng hoặc thấp hơn mốc, kể cả Nâng cao → Cơ bản. Không chọn lên mức cao hơn</a:t>
            </a:r>
          </a:p>
        </p:txBody>
      </p:sp>
      <p:sp>
        <p:nvSpPr>
          <p:cNvPr id="13" name="Quy tac Thời gian"/>
          <p:cNvSpPr/>
          <p:nvPr/>
        </p:nvSpPr>
        <p:spPr>
          <a:xfrm>
            <a:off x="4663440" y="2029968"/>
            <a:ext cx="4023360" cy="896112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210312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Thời gian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2395728"/>
            <a:ext cx="37033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Theo giờ mở – đóng của đợt. Các đợt trong cùng khóa không được chồng giờ</a:t>
            </a:r>
          </a:p>
        </p:txBody>
      </p:sp>
      <p:sp>
        <p:nvSpPr>
          <p:cNvPr id="16" name="Quy tac Không cần duyệt"/>
          <p:cNvSpPr/>
          <p:nvPr/>
        </p:nvSpPr>
        <p:spPr>
          <a:xfrm>
            <a:off x="457200" y="3054096"/>
            <a:ext cx="4023360" cy="896112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27248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Không cần duyệt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419856"/>
            <a:ext cx="37033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Lựa chọn ghi nhận ngay; học viên đổi được tới hạn chót, lấy lần lưu cuối</a:t>
            </a:r>
          </a:p>
        </p:txBody>
      </p:sp>
      <p:sp>
        <p:nvSpPr>
          <p:cNvPr id="19" name="Quy tac Dữ liệu riêng"/>
          <p:cNvSpPr/>
          <p:nvPr/>
        </p:nvSpPr>
        <p:spPr>
          <a:xfrm>
            <a:off x="4663440" y="3054096"/>
            <a:ext cx="4023360" cy="896112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1" y="3127248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Dữ liệu riêng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3419856"/>
            <a:ext cx="37033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Lưu riêng từng đợt. Không ghi đè nhu cầu lần 1, không đổi mức chốt, không đổi lớp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Bước 1 – Tạo đợt cho khóa học (Quản trị)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3</a:t>
            </a:fld>
          </a:p>
        </p:txBody>
      </p:sp>
      <p:sp>
        <p:nvSpPr>
          <p:cNvPr id="4" name="Khung qt-1-bangdot.jpg"/>
          <p:cNvSpPr/>
          <p:nvPr/>
        </p:nvSpPr>
        <p:spPr>
          <a:xfrm>
            <a:off x="475488" y="1179576"/>
            <a:ext cx="4946903" cy="12196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qt-1-bangdot.jpg" descr="qt-1-bangd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4892040" cy="1164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932688"/>
            <a:ext cx="544067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CHI TIẾT KHÓA → MỤC ĐỢT NHU CẦU MỨC HỌC</a:t>
            </a:r>
          </a:p>
        </p:txBody>
      </p:sp>
      <p:sp>
        <p:nvSpPr>
          <p:cNvPr id="7" name="To dam"/>
          <p:cNvSpPr/>
          <p:nvPr/>
        </p:nvSpPr>
        <p:spPr>
          <a:xfrm>
            <a:off x="565041" y="1307954"/>
            <a:ext cx="1102650" cy="139772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 1"/>
          <p:cNvSpPr/>
          <p:nvPr/>
        </p:nvSpPr>
        <p:spPr>
          <a:xfrm>
            <a:off x="1539675" y="1179938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o dam"/>
          <p:cNvSpPr/>
          <p:nvPr/>
        </p:nvSpPr>
        <p:spPr>
          <a:xfrm>
            <a:off x="4897990" y="1339015"/>
            <a:ext cx="403787" cy="147537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o 2"/>
          <p:cNvSpPr/>
          <p:nvPr/>
        </p:nvSpPr>
        <p:spPr>
          <a:xfrm>
            <a:off x="4769974" y="1210999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Khung qt-2-taodot.jpg"/>
          <p:cNvSpPr/>
          <p:nvPr/>
        </p:nvSpPr>
        <p:spPr>
          <a:xfrm>
            <a:off x="5733288" y="1179576"/>
            <a:ext cx="2974107" cy="2615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Anh qt-2-taodot.jpg" descr="qt-2-taod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07008"/>
            <a:ext cx="2919243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33288" y="932688"/>
            <a:ext cx="3467883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HỘP TẠO ĐỢT</a:t>
            </a:r>
          </a:p>
        </p:txBody>
      </p:sp>
      <p:sp>
        <p:nvSpPr>
          <p:cNvPr id="14" name="To dam"/>
          <p:cNvSpPr/>
          <p:nvPr/>
        </p:nvSpPr>
        <p:spPr>
          <a:xfrm>
            <a:off x="5832504" y="1601823"/>
            <a:ext cx="2775674" cy="1483549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o 3"/>
          <p:cNvSpPr/>
          <p:nvPr/>
        </p:nvSpPr>
        <p:spPr>
          <a:xfrm>
            <a:off x="8480162" y="1473807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o 4"/>
          <p:cNvSpPr/>
          <p:nvPr/>
        </p:nvSpPr>
        <p:spPr>
          <a:xfrm>
            <a:off x="8480162" y="3388065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Buoc 1"/>
          <p:cNvSpPr/>
          <p:nvPr/>
        </p:nvSpPr>
        <p:spPr>
          <a:xfrm>
            <a:off x="457200" y="4114800"/>
            <a:ext cx="195453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42417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Khóa bồi dưỡng → mở khóa → mục </a:t>
            </a:r>
            <a:r>
              <a:rPr sz="1200" b="1">
                <a:solidFill>
                  <a:srgbClr val="1B2A2F"/>
                </a:solidFill>
              </a:rPr>
              <a:t>Đợt nhu cầu mức học</a:t>
            </a:r>
          </a:p>
        </p:txBody>
      </p:sp>
      <p:sp>
        <p:nvSpPr>
          <p:cNvPr id="20" name="Buoc 2"/>
          <p:cNvSpPr/>
          <p:nvPr/>
        </p:nvSpPr>
        <p:spPr>
          <a:xfrm>
            <a:off x="2548890" y="4114800"/>
            <a:ext cx="195453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o 2"/>
          <p:cNvSpPr/>
          <p:nvPr/>
        </p:nvSpPr>
        <p:spPr>
          <a:xfrm>
            <a:off x="264033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6090" y="4114800"/>
            <a:ext cx="142417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Bấm </a:t>
            </a:r>
            <a:r>
              <a:rPr sz="1200" b="1">
                <a:solidFill>
                  <a:srgbClr val="1B2A2F"/>
                </a:solidFill>
              </a:rPr>
              <a:t>+ Tạo đợt</a:t>
            </a:r>
          </a:p>
        </p:txBody>
      </p:sp>
      <p:sp>
        <p:nvSpPr>
          <p:cNvPr id="23" name="Buoc 3"/>
          <p:cNvSpPr/>
          <p:nvPr/>
        </p:nvSpPr>
        <p:spPr>
          <a:xfrm>
            <a:off x="4640580" y="4114800"/>
            <a:ext cx="195453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o 3"/>
          <p:cNvSpPr/>
          <p:nvPr/>
        </p:nvSpPr>
        <p:spPr>
          <a:xfrm>
            <a:off x="473202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7780" y="4114800"/>
            <a:ext cx="142417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Nhập </a:t>
            </a:r>
            <a:r>
              <a:rPr sz="1200" b="1">
                <a:solidFill>
                  <a:srgbClr val="1B2A2F"/>
                </a:solidFill>
              </a:rPr>
              <a:t>Tên đợt</a:t>
            </a:r>
            <a:r>
              <a:rPr sz="1200" b="0">
                <a:solidFill>
                  <a:srgbClr val="1B2A2F"/>
                </a:solidFill>
              </a:rPr>
              <a:t>, </a:t>
            </a:r>
            <a:r>
              <a:rPr sz="1200" b="1">
                <a:solidFill>
                  <a:srgbClr val="1B2A2F"/>
                </a:solidFill>
              </a:rPr>
              <a:t>Mở lúc</a:t>
            </a:r>
            <a:r>
              <a:rPr sz="1200" b="0">
                <a:solidFill>
                  <a:srgbClr val="1B2A2F"/>
                </a:solidFill>
              </a:rPr>
              <a:t>, </a:t>
            </a:r>
            <a:r>
              <a:rPr sz="1200" b="1">
                <a:solidFill>
                  <a:srgbClr val="1B2A2F"/>
                </a:solidFill>
              </a:rPr>
              <a:t>Đóng lúc</a:t>
            </a:r>
          </a:p>
        </p:txBody>
      </p:sp>
      <p:sp>
        <p:nvSpPr>
          <p:cNvPr id="26" name="Buoc 4"/>
          <p:cNvSpPr/>
          <p:nvPr/>
        </p:nvSpPr>
        <p:spPr>
          <a:xfrm>
            <a:off x="6732270" y="4114800"/>
            <a:ext cx="1954530" cy="5669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o 4"/>
          <p:cNvSpPr/>
          <p:nvPr/>
        </p:nvSpPr>
        <p:spPr>
          <a:xfrm>
            <a:off x="6823710" y="4251960"/>
            <a:ext cx="292608" cy="292608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9470" y="4114800"/>
            <a:ext cx="142417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Bấm </a:t>
            </a:r>
            <a:r>
              <a:rPr sz="1200" b="1">
                <a:solidFill>
                  <a:srgbClr val="1B2A2F"/>
                </a:solidFill>
              </a:rPr>
              <a:t>Tạo đợt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Quản lý đợt: sửa giờ, đóng sớm, xóa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4</a:t>
            </a:fld>
          </a:p>
        </p:txBody>
      </p:sp>
      <p:sp>
        <p:nvSpPr>
          <p:cNvPr id="4" name="Khung qt-3-bangdot.jpg"/>
          <p:cNvSpPr/>
          <p:nvPr/>
        </p:nvSpPr>
        <p:spPr>
          <a:xfrm>
            <a:off x="521207" y="1069848"/>
            <a:ext cx="8101584" cy="20665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qt-3-bangdot.jpg" descr="qt-3-bangd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7" y="822959"/>
            <a:ext cx="8595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BẢNG ĐỢT TRONG CHI TIẾT KHÓA</a:t>
            </a:r>
          </a:p>
        </p:txBody>
      </p:sp>
      <p:sp>
        <p:nvSpPr>
          <p:cNvPr id="7" name="So 1"/>
          <p:cNvSpPr/>
          <p:nvPr/>
        </p:nvSpPr>
        <p:spPr>
          <a:xfrm>
            <a:off x="4842485" y="2860302"/>
            <a:ext cx="237744" cy="237744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o 2"/>
          <p:cNvSpPr/>
          <p:nvPr/>
        </p:nvSpPr>
        <p:spPr>
          <a:xfrm>
            <a:off x="6231193" y="2860302"/>
            <a:ext cx="237744" cy="237744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So 3"/>
          <p:cNvSpPr/>
          <p:nvPr/>
        </p:nvSpPr>
        <p:spPr>
          <a:xfrm>
            <a:off x="6854165" y="2860302"/>
            <a:ext cx="237744" cy="237744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So 4"/>
          <p:cNvSpPr/>
          <p:nvPr/>
        </p:nvSpPr>
        <p:spPr>
          <a:xfrm>
            <a:off x="7762666" y="2860302"/>
            <a:ext cx="237744" cy="237744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he Trạng thái"/>
          <p:cNvSpPr/>
          <p:nvPr/>
        </p:nvSpPr>
        <p:spPr>
          <a:xfrm>
            <a:off x="457200" y="32918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 1"/>
          <p:cNvSpPr/>
          <p:nvPr/>
        </p:nvSpPr>
        <p:spPr>
          <a:xfrm>
            <a:off x="566928" y="338328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Trạng thái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3"/>
            <a:ext cx="175564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A2F"/>
                </a:solidFill>
              </a:rPr>
              <a:t>Chưa mở → Đang mở → Đã đóng, tự chuyển theo giờ. Học viên chỉ thấy đợt Đang mở</a:t>
            </a:r>
          </a:p>
        </p:txBody>
      </p:sp>
      <p:sp>
        <p:nvSpPr>
          <p:cNvPr id="15" name="The Sửa"/>
          <p:cNvSpPr/>
          <p:nvPr/>
        </p:nvSpPr>
        <p:spPr>
          <a:xfrm>
            <a:off x="2551176" y="32918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o 2"/>
          <p:cNvSpPr/>
          <p:nvPr/>
        </p:nvSpPr>
        <p:spPr>
          <a:xfrm>
            <a:off x="2660904" y="338328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3364992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Sửa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0904" y="3712463"/>
            <a:ext cx="175564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A2F"/>
                </a:solidFill>
              </a:rPr>
              <a:t>Đổi tên, giờ mở/đóng (gia hạn được). Giờ mới không được chồng đợt khác</a:t>
            </a:r>
          </a:p>
        </p:txBody>
      </p:sp>
      <p:sp>
        <p:nvSpPr>
          <p:cNvPr id="19" name="The Đóng ngay"/>
          <p:cNvSpPr/>
          <p:nvPr/>
        </p:nvSpPr>
        <p:spPr>
          <a:xfrm>
            <a:off x="4645152" y="32918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 3"/>
          <p:cNvSpPr/>
          <p:nvPr/>
        </p:nvSpPr>
        <p:spPr>
          <a:xfrm>
            <a:off x="4754880" y="338328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364992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Đóng ngay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12463"/>
            <a:ext cx="175564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A2F"/>
                </a:solidFill>
              </a:rPr>
              <a:t>Kết thúc đợt sớm ngay lúc bấm. Học viên không chọn tiếp được</a:t>
            </a:r>
          </a:p>
        </p:txBody>
      </p:sp>
      <p:sp>
        <p:nvSpPr>
          <p:cNvPr id="23" name="The Xóa"/>
          <p:cNvSpPr/>
          <p:nvPr/>
        </p:nvSpPr>
        <p:spPr>
          <a:xfrm>
            <a:off x="6739128" y="32918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o 4"/>
          <p:cNvSpPr/>
          <p:nvPr/>
        </p:nvSpPr>
        <p:spPr>
          <a:xfrm>
            <a:off x="6848856" y="338328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3364992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</a:rPr>
              <a:t>Xóa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6" y="3712463"/>
            <a:ext cx="175564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A2F"/>
                </a:solidFill>
              </a:rPr>
              <a:t>Chỉ khi đợt chưa có lượt chọn. Có dữ liệu rồi thì chỉ đóng, không xóa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Bước 2 – Theo dõi trong Thống kê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5</a:t>
            </a:fld>
          </a:p>
        </p:txBody>
      </p:sp>
      <p:sp>
        <p:nvSpPr>
          <p:cNvPr id="4" name="Khung qt-4-thongke.jpg"/>
          <p:cNvSpPr/>
          <p:nvPr/>
        </p:nvSpPr>
        <p:spPr>
          <a:xfrm>
            <a:off x="521207" y="1115568"/>
            <a:ext cx="3889444" cy="27980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qt-4-thongke.jpg" descr="qt-4-thong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8345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7" y="868680"/>
            <a:ext cx="43832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TỔNG QUAN → THỐNG KÊ</a:t>
            </a:r>
          </a:p>
        </p:txBody>
      </p:sp>
      <p:sp>
        <p:nvSpPr>
          <p:cNvPr id="7" name="To dam"/>
          <p:cNvSpPr/>
          <p:nvPr/>
        </p:nvSpPr>
        <p:spPr>
          <a:xfrm>
            <a:off x="584036" y="1432068"/>
            <a:ext cx="831809" cy="153383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 1"/>
          <p:cNvSpPr/>
          <p:nvPr/>
        </p:nvSpPr>
        <p:spPr>
          <a:xfrm>
            <a:off x="1287829" y="1304052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o dam"/>
          <p:cNvSpPr/>
          <p:nvPr/>
        </p:nvSpPr>
        <p:spPr>
          <a:xfrm>
            <a:off x="2507225" y="1597250"/>
            <a:ext cx="495545" cy="123886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o 2"/>
          <p:cNvSpPr/>
          <p:nvPr/>
        </p:nvSpPr>
        <p:spPr>
          <a:xfrm>
            <a:off x="2874755" y="1469234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o dam"/>
          <p:cNvSpPr/>
          <p:nvPr/>
        </p:nvSpPr>
        <p:spPr>
          <a:xfrm>
            <a:off x="643029" y="2027903"/>
            <a:ext cx="3645801" cy="147483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 3"/>
          <p:cNvSpPr/>
          <p:nvPr/>
        </p:nvSpPr>
        <p:spPr>
          <a:xfrm>
            <a:off x="3960236" y="1970679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o dam"/>
          <p:cNvSpPr/>
          <p:nvPr/>
        </p:nvSpPr>
        <p:spPr>
          <a:xfrm>
            <a:off x="643029" y="2541147"/>
            <a:ext cx="3645801" cy="259571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 4"/>
          <p:cNvSpPr/>
          <p:nvPr/>
        </p:nvSpPr>
        <p:spPr>
          <a:xfrm>
            <a:off x="4160814" y="2460325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o dam"/>
          <p:cNvSpPr/>
          <p:nvPr/>
        </p:nvSpPr>
        <p:spPr>
          <a:xfrm>
            <a:off x="643029" y="2842014"/>
            <a:ext cx="3645801" cy="525042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o 5"/>
          <p:cNvSpPr/>
          <p:nvPr/>
        </p:nvSpPr>
        <p:spPr>
          <a:xfrm>
            <a:off x="4160814" y="2772991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So 1"/>
          <p:cNvSpPr/>
          <p:nvPr/>
        </p:nvSpPr>
        <p:spPr>
          <a:xfrm>
            <a:off x="4703260" y="118872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9020" y="1161288"/>
            <a:ext cx="352633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Chọn </a:t>
            </a:r>
            <a:r>
              <a:rPr sz="1200" b="1">
                <a:solidFill>
                  <a:srgbClr val="1B2A2F"/>
                </a:solidFill>
              </a:rPr>
              <a:t>Khóa</a:t>
            </a:r>
          </a:p>
        </p:txBody>
      </p:sp>
      <p:sp>
        <p:nvSpPr>
          <p:cNvPr id="19" name="So 2"/>
          <p:cNvSpPr/>
          <p:nvPr/>
        </p:nvSpPr>
        <p:spPr>
          <a:xfrm>
            <a:off x="4703260" y="173736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9020" y="1709928"/>
            <a:ext cx="352633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Mở tab </a:t>
            </a:r>
            <a:r>
              <a:rPr sz="1200" b="1">
                <a:solidFill>
                  <a:srgbClr val="1B2A2F"/>
                </a:solidFill>
              </a:rPr>
              <a:t>Nhu cầu theo đợt</a:t>
            </a:r>
          </a:p>
        </p:txBody>
      </p:sp>
      <p:sp>
        <p:nvSpPr>
          <p:cNvPr id="21" name="So 3"/>
          <p:cNvSpPr/>
          <p:nvPr/>
        </p:nvSpPr>
        <p:spPr>
          <a:xfrm>
            <a:off x="4703260" y="228600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9020" y="2258568"/>
            <a:ext cx="352633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Chọn </a:t>
            </a:r>
            <a:r>
              <a:rPr sz="1200" b="1">
                <a:solidFill>
                  <a:srgbClr val="1B2A2F"/>
                </a:solidFill>
              </a:rPr>
              <a:t>Đợt</a:t>
            </a:r>
            <a:r>
              <a:rPr sz="1200" b="0">
                <a:solidFill>
                  <a:srgbClr val="1B2A2F"/>
                </a:solidFill>
              </a:rPr>
              <a:t> (mặc định đợt mới nhất)</a:t>
            </a:r>
          </a:p>
        </p:txBody>
      </p:sp>
      <p:sp>
        <p:nvSpPr>
          <p:cNvPr id="23" name="So 4"/>
          <p:cNvSpPr/>
          <p:nvPr/>
        </p:nvSpPr>
        <p:spPr>
          <a:xfrm>
            <a:off x="4703260" y="2834639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9020" y="2807208"/>
            <a:ext cx="352633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A2F"/>
                </a:solidFill>
              </a:rPr>
              <a:t>Đủ điều kiện, đã chọn, chưa chọn, tỷ lệ</a:t>
            </a:r>
          </a:p>
        </p:txBody>
      </p:sp>
      <p:sp>
        <p:nvSpPr>
          <p:cNvPr id="25" name="So 5"/>
          <p:cNvSpPr/>
          <p:nvPr/>
        </p:nvSpPr>
        <p:spPr>
          <a:xfrm>
            <a:off x="4703260" y="3383280"/>
            <a:ext cx="274320" cy="274320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9020" y="3355848"/>
            <a:ext cx="352633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B2A2F"/>
                </a:solidFill>
              </a:rPr>
              <a:t>Hàng</a:t>
            </a:r>
            <a:r>
              <a:rPr sz="1200" b="0">
                <a:solidFill>
                  <a:srgbClr val="1B2A2F"/>
                </a:solidFill>
              </a:rPr>
              <a:t> = mức hiện tại, </a:t>
            </a:r>
            <a:r>
              <a:rPr sz="1200" b="1">
                <a:solidFill>
                  <a:srgbClr val="1B2A2F"/>
                </a:solidFill>
              </a:rPr>
              <a:t>cột</a:t>
            </a:r>
            <a:r>
              <a:rPr sz="1200" b="0">
                <a:solidFill>
                  <a:srgbClr val="1B2A2F"/>
                </a:solidFill>
              </a:rPr>
              <a:t> = mức đã chọn. Ô "–" là không được chọn</a:t>
            </a:r>
          </a:p>
        </p:txBody>
      </p:sp>
      <p:sp>
        <p:nvSpPr>
          <p:cNvPr id="27" name="Ghi chu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Bảng theo trường có cột </a:t>
            </a:r>
            <a:r>
              <a:rPr sz="1300" b="1">
                <a:solidFill>
                  <a:srgbClr val="9DC9C0"/>
                </a:solidFill>
              </a:rPr>
              <a:t>Chọn hạ mức</a:t>
            </a:r>
            <a:r>
              <a:rPr sz="1300" b="0">
                <a:solidFill>
                  <a:srgbClr val="FFFFFF"/>
                </a:solidFill>
              </a:rPr>
              <a:t>: số học viên muốn học thấp hơn mức hiện tại.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Bước 3 – Xuất Excel danh sách từng người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6</a:t>
            </a:fld>
          </a:p>
        </p:txBody>
      </p:sp>
      <p:sp>
        <p:nvSpPr>
          <p:cNvPr id="4" name="Khung qt-5-xuatexcel.jpg"/>
          <p:cNvSpPr/>
          <p:nvPr/>
        </p:nvSpPr>
        <p:spPr>
          <a:xfrm>
            <a:off x="521207" y="1115568"/>
            <a:ext cx="4261103" cy="1223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9D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h qt-5-xuatexcel.jpg" descr="qt-5-xuatexc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420624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7" y="868680"/>
            <a:ext cx="475487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7C85"/>
                </a:solidFill>
              </a:rPr>
              <a:t>PHẠM VI TRƯỜNG KHI XUẤT</a:t>
            </a:r>
          </a:p>
        </p:txBody>
      </p:sp>
      <p:sp>
        <p:nvSpPr>
          <p:cNvPr id="7" name="To dam"/>
          <p:cNvSpPr/>
          <p:nvPr/>
        </p:nvSpPr>
        <p:spPr>
          <a:xfrm>
            <a:off x="1456653" y="1703832"/>
            <a:ext cx="894660" cy="100148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 1"/>
          <p:cNvSpPr/>
          <p:nvPr/>
        </p:nvSpPr>
        <p:spPr>
          <a:xfrm>
            <a:off x="2303417" y="1622551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o dam"/>
          <p:cNvSpPr/>
          <p:nvPr/>
        </p:nvSpPr>
        <p:spPr>
          <a:xfrm>
            <a:off x="588699" y="2010954"/>
            <a:ext cx="4126121" cy="113501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o 2"/>
          <p:cNvSpPr/>
          <p:nvPr/>
        </p:nvSpPr>
        <p:spPr>
          <a:xfrm>
            <a:off x="4226269" y="1936350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o dam"/>
          <p:cNvSpPr/>
          <p:nvPr/>
        </p:nvSpPr>
        <p:spPr>
          <a:xfrm>
            <a:off x="588699" y="2184545"/>
            <a:ext cx="347181" cy="106825"/>
          </a:xfrm>
          <a:prstGeom prst="roundRect">
            <a:avLst/>
          </a:prstGeom>
          <a:noFill/>
          <a:ln w="25400">
            <a:solidFill>
              <a:srgbClr val="D99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 3"/>
          <p:cNvSpPr/>
          <p:nvPr/>
        </p:nvSpPr>
        <p:spPr>
          <a:xfrm>
            <a:off x="420623" y="2056529"/>
            <a:ext cx="256032" cy="256032"/>
          </a:xfrm>
          <a:prstGeom prst="ellipse">
            <a:avLst/>
          </a:prstGeom>
          <a:solidFill>
            <a:srgbClr val="D992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42062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D9922E"/>
                </a:solidFill>
              </a:rPr>
              <a:t>1</a:t>
            </a:r>
            <a:r>
              <a:rPr sz="1300" b="0">
                <a:solidFill>
                  <a:srgbClr val="1B2A2F"/>
                </a:solidFill>
              </a:rPr>
              <a:t>  Chọn </a:t>
            </a:r>
            <a:r>
              <a:rPr sz="1300" b="1">
                <a:solidFill>
                  <a:srgbClr val="1B2A2F"/>
                </a:solidFill>
              </a:rPr>
              <a:t>Tất cả trường</a:t>
            </a:r>
            <a:r>
              <a:rPr sz="1300" b="0">
                <a:solidFill>
                  <a:srgbClr val="1B2A2F"/>
                </a:solidFill>
              </a:rPr>
              <a:t> hoặc </a:t>
            </a:r>
            <a:r>
              <a:rPr sz="1300" b="1">
                <a:solidFill>
                  <a:srgbClr val="1B2A2F"/>
                </a:solidFill>
              </a:rPr>
              <a:t>một/nhiều trường</a:t>
            </a:r>
          </a:p>
          <a:p>
            <a:pPr algn="l"/>
            <a:r>
              <a:rPr sz="1300" b="1">
                <a:solidFill>
                  <a:srgbClr val="D9922E"/>
                </a:solidFill>
              </a:rPr>
              <a:t>2</a:t>
            </a:r>
            <a:r>
              <a:rPr sz="1300" b="0">
                <a:solidFill>
                  <a:srgbClr val="1B2A2F"/>
                </a:solidFill>
              </a:rPr>
              <a:t>  Gõ tên trường để tìm (tối đa 100)</a:t>
            </a:r>
          </a:p>
          <a:p>
            <a:pPr algn="l"/>
            <a:r>
              <a:rPr sz="1300" b="1">
                <a:solidFill>
                  <a:srgbClr val="D9922E"/>
                </a:solidFill>
              </a:rPr>
              <a:t>3</a:t>
            </a:r>
            <a:r>
              <a:rPr sz="1300" b="0">
                <a:solidFill>
                  <a:srgbClr val="1B2A2F"/>
                </a:solidFill>
              </a:rPr>
              <a:t>  Bấm </a:t>
            </a:r>
            <a:r>
              <a:rPr sz="1300" b="1">
                <a:solidFill>
                  <a:srgbClr val="1B2A2F"/>
                </a:solidFill>
              </a:rPr>
              <a:t>Xuất Excel</a:t>
            </a:r>
          </a:p>
        </p:txBody>
      </p:sp>
      <p:sp>
        <p:nvSpPr>
          <p:cNvPr id="14" name="The File gồm 2 trang"/>
          <p:cNvSpPr/>
          <p:nvPr/>
        </p:nvSpPr>
        <p:spPr>
          <a:xfrm>
            <a:off x="5029200" y="100584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115568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4C5C"/>
                </a:solidFill>
              </a:rPr>
              <a:t>File gồm 2 trang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508760"/>
            <a:ext cx="3291840" cy="2423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300" b="1">
                <a:solidFill>
                  <a:srgbClr val="1B2A2F"/>
                </a:solidFill>
              </a:rPr>
              <a:t>Tổng hợp</a:t>
            </a:r>
            <a:r>
              <a:rPr sz="1300" b="0">
                <a:solidFill>
                  <a:srgbClr val="1B2A2F"/>
                </a:solidFill>
              </a:rPr>
              <a:t>: số liệu, bảng mức hiện tại × mức chọn, theo trường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1">
                <a:solidFill>
                  <a:srgbClr val="1B2A2F"/>
                </a:solidFill>
              </a:rPr>
              <a:t>Danh sách</a:t>
            </a:r>
            <a:r>
              <a:rPr sz="1300" b="0">
                <a:solidFill>
                  <a:srgbClr val="1B2A2F"/>
                </a:solidFill>
              </a:rPr>
              <a:t>: mỗi học viên 1 dòng – họ tên, mã MOET, SĐT, đơn vị, trường, lớp &amp; mức hiện tại, mức lúc chọn, nhu cầu chọn, thời điểm chọn/cập nhật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0">
                <a:solidFill>
                  <a:srgbClr val="1B2A2F"/>
                </a:solidFill>
              </a:rPr>
              <a:t>Học viên chưa chọn vẫn có dòng, ghi </a:t>
            </a:r>
            <a:r>
              <a:rPr sz="1300" b="1">
                <a:solidFill>
                  <a:srgbClr val="1B2A2F"/>
                </a:solidFill>
              </a:rPr>
              <a:t>Chưa chọn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0">
                <a:solidFill>
                  <a:srgbClr val="1B2A2F"/>
                </a:solidFill>
              </a:rPr>
              <a:t>Cột tham khảo: mức chốt, nhu cầu lần 1</a:t>
            </a:r>
          </a:p>
        </p:txBody>
      </p:sp>
      <p:sp>
        <p:nvSpPr>
          <p:cNvPr id="17" name="Ghi chu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9DC9C0"/>
                </a:solidFill>
              </a:rPr>
              <a:t>File có SĐT và mã MOET</a:t>
            </a:r>
            <a:r>
              <a:rPr sz="1300" b="0">
                <a:solidFill>
                  <a:srgbClr val="FFFFFF"/>
                </a:solidFill>
              </a:rPr>
              <a:t> – chỉ dùng nội bộ. Mỗi lần xuất được ghi vào nhật ký hệ thống.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Dành cho người hỗ trợ học viên</a:t>
            </a:r>
          </a:p>
        </p:txBody>
      </p:sp>
      <p:sp>
        <p:nvSpPr>
          <p:cNvPr id="3" name="So trang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vi-VN" sz="900">
                <a:solidFill>
                  <a:srgbClr val="5B7C85"/>
                </a:solidFill>
              </a:rPr>
              <a:t>7</a:t>
            </a:fld>
          </a:p>
        </p:txBody>
      </p:sp>
      <p:sp>
        <p:nvSpPr>
          <p:cNvPr id="4" name="The Việc cần làm"/>
          <p:cNvSpPr/>
          <p:nvPr/>
        </p:nvSpPr>
        <p:spPr>
          <a:xfrm>
            <a:off x="457200" y="1005840"/>
            <a:ext cx="4023360" cy="29718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8A70"/>
                </a:solidFill>
              </a:rPr>
              <a:t>Việc cần làm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300" b="0">
                <a:solidFill>
                  <a:srgbClr val="1B2A2F"/>
                </a:solidFill>
              </a:rPr>
              <a:t>Khi Quản trị mở đợt: nhắn nhóm Zalo, nêu hạn chót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0">
                <a:solidFill>
                  <a:srgbClr val="1B2A2F"/>
                </a:solidFill>
              </a:rPr>
              <a:t>Hướng dẫn: Trang chủ → thẻ </a:t>
            </a:r>
            <a:r>
              <a:rPr sz="1300" b="1">
                <a:solidFill>
                  <a:srgbClr val="1B2A2F"/>
                </a:solidFill>
              </a:rPr>
              <a:t>Khảo sát nhu cầu mức học</a:t>
            </a:r>
            <a:r>
              <a:rPr sz="1300" b="0">
                <a:solidFill>
                  <a:srgbClr val="1B2A2F"/>
                </a:solidFill>
              </a:rPr>
              <a:t> → Chọn nhu cầu → Lưu → Xác nhận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0">
                <a:solidFill>
                  <a:srgbClr val="1B2A2F"/>
                </a:solidFill>
              </a:rPr>
              <a:t>Gần hạn chót: nhắc học viên chưa chọn (danh sách do Quản trị gửi từ file Excel)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0">
                <a:solidFill>
                  <a:srgbClr val="1B2A2F"/>
                </a:solidFill>
              </a:rPr>
              <a:t>Tài khoản hỗ trợ không có tab thống kê theo đợt – cần số liệu thì đề nghị Quản trị xuất file</a:t>
            </a:r>
          </a:p>
        </p:txBody>
      </p:sp>
      <p:sp>
        <p:nvSpPr>
          <p:cNvPr id="7" name="The Học viên hỏi"/>
          <p:cNvSpPr/>
          <p:nvPr/>
        </p:nvSpPr>
        <p:spPr>
          <a:xfrm>
            <a:off x="4663440" y="1005840"/>
            <a:ext cx="4023360" cy="29718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15568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8473C"/>
                </a:solidFill>
              </a:rPr>
              <a:t>Học viên hỏi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300" b="1">
                <a:solidFill>
                  <a:srgbClr val="1B2A2F"/>
                </a:solidFill>
              </a:rPr>
              <a:t>Không thấy thẻ?</a:t>
            </a:r>
            <a:r>
              <a:rPr sz="1300" b="0">
                <a:solidFill>
                  <a:srgbClr val="1B2A2F"/>
                </a:solidFill>
              </a:rPr>
              <a:t> Khóa chưa mở đợt, đợt chưa tới giờ hoặc đã đóng, đăng ký chưa duyệt, chưa có lớp/mức, hoặc là nhân viên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1">
                <a:solidFill>
                  <a:srgbClr val="1B2A2F"/>
                </a:solidFill>
              </a:rPr>
              <a:t>Muốn chọn mức cao hơn?</a:t>
            </a:r>
            <a:r>
              <a:rPr sz="1300" b="0">
                <a:solidFill>
                  <a:srgbClr val="1B2A2F"/>
                </a:solidFill>
              </a:rPr>
              <a:t> Không được qua chức năng này – ghi nhận và báo Quản trị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1">
                <a:solidFill>
                  <a:srgbClr val="1B2A2F"/>
                </a:solidFill>
              </a:rPr>
              <a:t>Chọn nhầm?</a:t>
            </a:r>
            <a:r>
              <a:rPr sz="1300" b="0">
                <a:solidFill>
                  <a:srgbClr val="1B2A2F"/>
                </a:solidFill>
              </a:rPr>
              <a:t> Bấm Đổi lựa chọn trước hạn chót</a:t>
            </a:r>
          </a:p>
          <a:p>
            <a:pPr marL="164592" indent="-164592">
              <a:spcAft>
                <a:spcPts val="500"/>
              </a:spcAft>
              <a:buChar char="•"/>
            </a:pPr>
            <a:r>
              <a:rPr sz="1300" b="1">
                <a:solidFill>
                  <a:srgbClr val="1B2A2F"/>
                </a:solidFill>
              </a:rPr>
              <a:t>Có đổi lớp không?</a:t>
            </a:r>
            <a:r>
              <a:rPr sz="1300" b="0">
                <a:solidFill>
                  <a:srgbClr val="1B2A2F"/>
                </a:solidFill>
              </a:rPr>
              <a:t> Không, lớp hiện tại giữ nguyên</a:t>
            </a:r>
          </a:p>
        </p:txBody>
      </p:sp>
      <p:sp>
        <p:nvSpPr>
          <p:cNvPr id="10" name="Ghi chu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Lựa chọn của học viên </a:t>
            </a:r>
            <a:r>
              <a:rPr sz="1300" b="1">
                <a:solidFill>
                  <a:srgbClr val="9DC9C0"/>
                </a:solidFill>
              </a:rPr>
              <a:t>không cần duyệt</a:t>
            </a:r>
            <a:r>
              <a:rPr sz="1300" b="0">
                <a:solidFill>
                  <a:srgbClr val="FFFFFF"/>
                </a:solidFill>
              </a:rPr>
              <a:t> – hệ thống ghi nhận ngay khi học viên bấm Xác nhận.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Lưu ý quan trọng</a:t>
            </a:r>
          </a:p>
        </p:txBody>
      </p:sp>
      <p:sp>
        <p:nvSpPr>
          <p:cNvPr id="3" name="So 1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070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Thử trước khi mở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184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Tạo một đợt ngắn trên khóa thử, kiểm tra thẻ và thống kê rồi mới mở cho khóa thật</a:t>
            </a:r>
          </a:p>
        </p:txBody>
      </p:sp>
      <p:sp>
        <p:nvSpPr>
          <p:cNvPr id="6" name="So 2"/>
          <p:cNvSpPr/>
          <p:nvPr/>
        </p:nvSpPr>
        <p:spPr>
          <a:xfrm>
            <a:off x="4663440" y="12344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2070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Hạn chót rõ ràng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9" y="16184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Đặt giờ đóng cụ thể, thông báo qua Zalo; cần thêm thời gian thì Sửa giờ đóng</a:t>
            </a:r>
          </a:p>
        </p:txBody>
      </p:sp>
      <p:sp>
        <p:nvSpPr>
          <p:cNvPr id="9" name="So 3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072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Có dữ liệu thì không xóa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186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Đợt đã có lượt chọn chỉ Đóng ngay. Mỗi lần thu nhu cầu nên tạo đợt mới</a:t>
            </a:r>
          </a:p>
        </p:txBody>
      </p:sp>
      <p:sp>
        <p:nvSpPr>
          <p:cNvPr id="12" name="So 4"/>
          <p:cNvSpPr/>
          <p:nvPr/>
        </p:nvSpPr>
        <p:spPr>
          <a:xfrm>
            <a:off x="4663440" y="2834640"/>
            <a:ext cx="365760" cy="365760"/>
          </a:xfrm>
          <a:prstGeom prst="ellipse">
            <a:avLst/>
          </a:prstGeom>
          <a:solidFill>
            <a:srgbClr val="9DC9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807208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Bảo mật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321868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AF3F3"/>
                </a:solidFill>
              </a:rPr>
              <a:t>File Excel có thông tin cá nhân – không chia sẻ ra ngoài nhóm phụ trách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c bu">
  <a:themeElements>
    <a:clrScheme name="Hoc bu">
      <a:dk1>
        <a:srgbClr val="1B2A2F"/>
      </a:dk1>
      <a:lt1>
        <a:srgbClr val="FFFFFF"/>
      </a:lt1>
      <a:dk2>
        <a:srgbClr val="0F4C5C"/>
      </a:dk2>
      <a:lt2>
        <a:srgbClr val="EAF3F3"/>
      </a:lt2>
      <a:accent1>
        <a:srgbClr val="1F8A70"/>
      </a:accent1>
      <a:accent2>
        <a:srgbClr val="D9922E"/>
      </a:accent2>
      <a:accent3>
        <a:srgbClr val="C8473C"/>
      </a:accent3>
      <a:accent4>
        <a:srgbClr val="0F4C5C"/>
      </a:accent4>
      <a:accent5>
        <a:srgbClr val="5B7C85"/>
      </a:accent5>
      <a:accent6>
        <a:srgbClr val="9DC9C0"/>
      </a:accent6>
      <a:hlink>
        <a:srgbClr val="1F6F8B"/>
      </a:hlink>
      <a:folHlink>
        <a:srgbClr val="5B7C85"/>
      </a:folHlink>
    </a:clrScheme>
    <a:fontScheme name="Hoc b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ký học bù – Hướng dẫn học viên</dc:title>
  <dc:subject>PptxGenJS Presentation</dc:subject>
  <dc:creator>HCMUE</dc:creator>
  <cp:lastModifiedBy>HCMUE</cp:lastModifiedBy>
  <cp:revision>1</cp:revision>
  <dcterms:created xsi:type="dcterms:W3CDTF">2026-10-19T12:57:19Z</dcterms:created>
  <dcterms:modified xsi:type="dcterms:W3CDTF">2026-10-19T12:57:19Z</dcterms:modified>
</cp:coreProperties>
</file>